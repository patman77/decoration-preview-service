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has two parts. First, I will walk through a concrete service I designed for designers: a decoration preview platform that shortens feedback loops from hours to minutes.</a:t>
            </a:r>
            <a:endParaRPr lang="en-US" dirty="0"/>
          </a:p>
          <a:p>
            <a:r>
              <a:rPr lang="en-US" dirty="0"/>
              <a:t>Second, I will step up a level and show how I would consolidate a fragmented creative-tooling landscape into a shared platform over time.</a:t>
            </a:r>
            <a:endParaRPr lang="en-US" dirty="0"/>
          </a:p>
          <a:p>
            <a:r>
              <a:rPr lang="en-US" dirty="0"/>
              <a:t>I will keep the first part to about ten minutes, the second part to about twenty, and leave ten minutes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is deliberate. I start with a real technical problem and a concrete architecture so you can see how I think as an engineer.</a:t>
            </a:r>
            <a:endParaRPr lang="en-US" dirty="0"/>
          </a:p>
          <a:p>
            <a:r>
              <a:rPr lang="en-US" dirty="0"/>
              <a:t>Then I move into platform strategy, migration sequencing, and change management, because the Lead Engineer role is not only about building systems. It is also about choosing what to build first, how to earn trust, and how to move an organization without breaking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problem is not just rendering speed. It is creative interruption.</a:t>
            </a:r>
            <a:endParaRPr lang="en-US" dirty="0"/>
          </a:p>
          <a:p>
            <a:r>
              <a:rPr lang="en-US" dirty="0"/>
              <a:t>When designers wait hours for a preview, the cost is not only elapsed time. It is broken flow, slower iteration, and weaker collaboration because feedback arrives too late.</a:t>
            </a:r>
            <a:endParaRPr lang="en-US" dirty="0"/>
          </a:p>
          <a:p>
            <a:r>
              <a:rPr lang="en-US" dirty="0"/>
              <a:t>So the design goal for this service is to remove waiting from the designer experience, not just to optimize infrastructure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solution vision is an async, cloud-native service that lets designers submit work and immediately continue with the rest of their job.</a:t>
            </a:r>
            <a:endParaRPr lang="en-US" dirty="0"/>
          </a:p>
          <a:p>
            <a:r>
              <a:rPr lang="en-US" dirty="0"/>
              <a:t>That leads to four design constraints: it has to be asynchronous, secure by default because the artwork is sensitive, operationally simple, and able to scale without redesign.</a:t>
            </a:r>
            <a:endParaRPr lang="en-US" dirty="0"/>
          </a:p>
          <a:p>
            <a:r>
              <a:rPr lang="en-US" dirty="0"/>
              <a:t>The point is not technology for its own sake. The point is to preserve creative momentum.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context level, the service sits between people doing creative work and systems that already own adjacent domains.</a:t>
            </a:r>
            <a:endParaRPr lang="en-US" dirty="0"/>
          </a:p>
          <a:p>
            <a:r>
              <a:rPr lang="en-US" dirty="0"/>
              <a:t>Designers and design managers are the primary users. Existing enterprise systems remain the source of truth for templates, 3D models, identity, and notifications.</a:t>
            </a:r>
            <a:endParaRPr lang="en-US" dirty="0"/>
          </a:p>
          <a:p>
            <a:r>
              <a:rPr lang="en-US" dirty="0"/>
              <a:t>That separation matters because it keeps the preview service focused on one job: transforming input artwork into fast, trustworthy visual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container level, I split the architecture into a thin API layer, an asynchronous queue, rendering workers, persistent state, and an edge layer for delivery and protection.</a:t>
            </a:r>
            <a:endParaRPr lang="en-US" dirty="0"/>
          </a:p>
          <a:p>
            <a:r>
              <a:rPr lang="en-US" dirty="0"/>
              <a:t>That decomposition gives clean scaling boundaries: the API scales on request load, workers scale on job backlog, and the storage layers remain independently managed.</a:t>
            </a:r>
            <a:endParaRPr lang="en-US" dirty="0"/>
          </a:p>
          <a:p>
            <a:r>
              <a:rPr lang="en-US" dirty="0"/>
              <a:t>It also means a slow or expensive render never blocks the request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intentionally small. Five endpoints are enough to express the user journey: submit, poll, retrieve, list, and cancel.</a:t>
            </a:r>
            <a:endParaRPr lang="en-US" dirty="0"/>
          </a:p>
          <a:p>
            <a:r>
              <a:rPr lang="en-US" dirty="0"/>
              <a:t>I prefer this submit-and-poll model here because it is resilient, easy to secure, and a good fit for work that can take seconds or minutes.</a:t>
            </a:r>
            <a:endParaRPr lang="en-US" dirty="0"/>
          </a:p>
          <a:p>
            <a:r>
              <a:rPr lang="en-US" dirty="0"/>
              <a:t>Even if the rendering engine changes later, that contract remains stable for clients.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layered because the content is high-value and potentially pre-release.</a:t>
            </a:r>
            <a:endParaRPr lang="en-US" dirty="0"/>
          </a:p>
          <a:p>
            <a:r>
              <a:rPr lang="en-US" dirty="0"/>
              <a:t>I start with encryption, network isolation, WAF protection, application authentication, least-privilege IAM, and auditability. None of those alone is enough.</a:t>
            </a:r>
            <a:endParaRPr lang="en-US" dirty="0"/>
          </a:p>
          <a:p>
            <a:r>
              <a:rPr lang="en-US" dirty="0"/>
              <a:t>In practice, what I want is defense in depth: if one layer is misconfigured or bypassed, the blast radius stays contained.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scalability, I focus on two things: predictable response time at the API edge and elastic throughput in the rendering tier.</a:t>
            </a:r>
            <a:endParaRPr lang="en-US" dirty="0"/>
          </a:p>
          <a:p>
            <a:r>
              <a:rPr lang="en-US" dirty="0"/>
              <a:t>The service should comfortably handle modest early adoption, but the architecture should also survive success. That is why I chose managed services and queue-driven worker scaling.</a:t>
            </a:r>
            <a:endParaRPr lang="en-US" dirty="0"/>
          </a:p>
          <a:p>
            <a:r>
              <a:rPr lang="en-US" dirty="0"/>
              <a:t>The cost model is staged as well, so we do not overbuild before the business case is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design principles show the engineering posture behind the system.</a:t>
            </a:r>
            <a:endParaRPr lang="en-US" dirty="0"/>
          </a:p>
          <a:p>
            <a:r>
              <a:rPr lang="en-US" dirty="0"/>
              <a:t>Async by default protects user experience. Separation of concerns keeps the code maintainable. Fail-fast validation protects downstream systems. Idempotency protects correctness. Designing for failure protects operations.</a:t>
            </a:r>
            <a:endParaRPr lang="en-US" dirty="0"/>
          </a:p>
          <a:p>
            <a:r>
              <a:rPr lang="en-US" dirty="0"/>
              <a:t>I want the architecture to be understandable under pressure, not just elegant on a whiteboard.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where I separate target architecture from current implementation maturity.</a:t>
            </a:r>
            <a:endParaRPr lang="en-US" dirty="0"/>
          </a:p>
          <a:p>
            <a:r>
              <a:rPr lang="en-US" dirty="0"/>
              <a:t>What is already built is the API surface, the main infrastructure definition, and the overall service skeleton. What is still stubbed is the true rendering engine and some full production wiring.</a:t>
            </a:r>
            <a:endParaRPr lang="en-US" dirty="0"/>
          </a:p>
          <a:p>
            <a:r>
              <a:rPr lang="en-US" dirty="0"/>
              <a:t>That is intentional. For a case assignment, I would rather show clear interfaces, disciplined scope, and an upgrade path than pretend every production detail is already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decisions are straightforward. Use async because user experience demands it. Use AWS managed services because they reduce undifferentiated operational work. Treat security as a first-order requirement, not an afterthought.</a:t>
            </a:r>
            <a:endParaRPr lang="en-US" dirty="0"/>
          </a:p>
          <a:p>
            <a:r>
              <a:rPr lang="en-US" dirty="0"/>
              <a:t>More broadly, this part of the presentation is meant to demonstrate how I connect product need, system design, and pragmatic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zooms out from one service to the broader tooling landscape.</a:t>
            </a:r>
            <a:endParaRPr lang="en-US" dirty="0"/>
          </a:p>
          <a:p>
            <a:r>
              <a:rPr lang="en-US" dirty="0"/>
              <a:t>This is the pattern I see often in creative organizations: multiple tools, different stacks, duplicated infrastructure, uneven ownership, and a lot of tacit knowledge living inside a few people.</a:t>
            </a:r>
            <a:endParaRPr lang="en-US" dirty="0"/>
          </a:p>
          <a:p>
            <a:r>
              <a:rPr lang="en-US" dirty="0"/>
              <a:t>The technical problem is fragmentation. The organizational problem is fragility.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proposed end state is not one giant monolith. It is a modular platform with shared services where common capabilities are built once and reused.</a:t>
            </a:r>
            <a:endParaRPr lang="en-US" dirty="0"/>
          </a:p>
          <a:p>
            <a:r>
              <a:rPr lang="en-US" dirty="0"/>
              <a:t>That means tools can remain specialized where they should be, while auth, observability, data access patterns, and UI primitives become consistent.</a:t>
            </a:r>
            <a:endParaRPr lang="en-US" dirty="0"/>
          </a:p>
          <a:p>
            <a:r>
              <a:rPr lang="en-US" dirty="0"/>
              <a:t>The payoff is faster delivery, lower operational overhead, and less bus-factor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Architecturally, the platform separates tool modules from shared services and infrastructure.</a:t>
            </a:r>
            <a:endParaRPr lang="en-US" dirty="0"/>
          </a:p>
          <a:p>
            <a:r>
              <a:rPr lang="en-US" dirty="0"/>
              <a:t>That structure is important because it avoids two common mistakes: letting every tool reinvent the same foundations, or forcing every workflow into a single application that fits none of them well.</a:t>
            </a:r>
            <a:endParaRPr lang="en-US" dirty="0"/>
          </a:p>
          <a:p>
            <a:r>
              <a:rPr lang="en-US" dirty="0"/>
              <a:t>I want modularity at the tool layer and standardization at the service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migration philosophy is as important as the target architecture.</a:t>
            </a:r>
            <a:endParaRPr lang="en-US" dirty="0"/>
          </a:p>
          <a:p>
            <a:r>
              <a:rPr lang="en-US" dirty="0"/>
              <a:t>No big bang, designer first, always an escape hatch. Those are not slogans. They are operating constraints.</a:t>
            </a:r>
            <a:endParaRPr lang="en-US" dirty="0"/>
          </a:p>
          <a:p>
            <a:r>
              <a:rPr lang="en-US" dirty="0"/>
              <a:t>If the people using the tools feel change is being done to them instead of with them, even the right architecture will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is phased because sequencing is strategy.</a:t>
            </a:r>
            <a:endParaRPr lang="en-US" dirty="0"/>
          </a:p>
          <a:p>
            <a:r>
              <a:rPr lang="en-US" dirty="0"/>
              <a:t>You do not start with the hardest legacy tool. You start by building trust, then prove value with a visible win, then consolidate low-risk areas, and only then take on the critical migrations.</a:t>
            </a:r>
            <a:endParaRPr lang="en-US" dirty="0"/>
          </a:p>
          <a:p>
            <a:r>
              <a:rPr lang="en-US" dirty="0"/>
              <a:t>That pacing lowers both technical and social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zero is about trust and foundations. Before asking teams to migrate, I would establish the shared services layer, the delivery model, and the feedback channels.</a:t>
            </a:r>
            <a:endParaRPr lang="en-US" dirty="0"/>
          </a:p>
          <a:p>
            <a:r>
              <a:rPr lang="en-US" dirty="0"/>
              <a:t>Phase one then uses the preview service as a credibility move: something useful, visible, and low-friction that demonstrates the platform approach in practice.</a:t>
            </a:r>
            <a:endParaRPr lang="en-US" dirty="0"/>
          </a:p>
          <a:p>
            <a:r>
              <a:rPr lang="en-US" dirty="0"/>
              <a:t>This is how you earn permission to do the harder work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first win is live, I would consolidate scripts and low-risk utilities to reduce obvious duplication and improve developer productivity.</a:t>
            </a:r>
            <a:endParaRPr lang="en-US" dirty="0"/>
          </a:p>
          <a:p>
            <a:r>
              <a:rPr lang="en-US" dirty="0"/>
              <a:t>Then I would tackle the critical undocumented legacy tool with a very different posture: heavy validation, shadow mode, and rollback at every stage.</a:t>
            </a:r>
            <a:endParaRPr lang="en-US" dirty="0"/>
          </a:p>
          <a:p>
            <a:r>
              <a:rPr lang="en-US" dirty="0"/>
              <a:t>The point is not speed at all costs. The point is progress without loss of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highest-risk legacy replacement, I would treat observed behavior as the specification.</a:t>
            </a:r>
            <a:endParaRPr lang="en-US" dirty="0"/>
          </a:p>
          <a:p>
            <a:r>
              <a:rPr lang="en-US" dirty="0"/>
              <a:t>That means capturing real input-output pairs, running the new system in parallel, measuring divergence, and only increasing traffic when the evidence supports it.</a:t>
            </a:r>
            <a:endParaRPr lang="en-US" dirty="0"/>
          </a:p>
          <a:p>
            <a:r>
              <a:rPr lang="en-US" dirty="0"/>
              <a:t>A disciplined migration here is better than a heroic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Desktop migration is where many transformation programs fail because they underestimate habit and muscle memory.</a:t>
            </a:r>
            <a:endParaRPr lang="en-US" dirty="0"/>
          </a:p>
          <a:p>
            <a:r>
              <a:rPr lang="en-US" dirty="0"/>
              <a:t>My approach would preserve familiar workflows first, then improve around them. I would use designer-led beta programs, phased parity, and strict avoidance of launch-window disruption.</a:t>
            </a:r>
            <a:endParaRPr lang="en-US" dirty="0"/>
          </a:p>
          <a:p>
            <a:r>
              <a:rPr lang="en-US" dirty="0"/>
              <a:t>Adoption should feel chosen, not imposed.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treat AI as a later phase and a product capability, not a branding exercise.</a:t>
            </a:r>
            <a:endParaRPr lang="en-US" dirty="0"/>
          </a:p>
          <a:p>
            <a:r>
              <a:rPr lang="en-US" dirty="0"/>
              <a:t>The ordering matters: start with low-risk, high-value assistance such as smart search or tagging, measure usage and trust, and keep a clear designer veto.</a:t>
            </a:r>
            <a:endParaRPr lang="en-US" dirty="0"/>
          </a:p>
          <a:p>
            <a:r>
              <a:rPr lang="en-US" dirty="0"/>
              <a:t>Only after demand and ROI are proven would I move into more generative or experimental territory.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addresses resistance directly because resistance is usually rational.</a:t>
            </a:r>
            <a:endParaRPr lang="en-US" dirty="0"/>
          </a:p>
          <a:p>
            <a:r>
              <a:rPr lang="en-US" dirty="0"/>
              <a:t>People worry about losing speed, breaking workflows, being excluded from decisions, or being displaced by automation. Those concerns should be answered concretely with rollout design, governance, and rollback, not just optimism.</a:t>
            </a:r>
            <a:endParaRPr lang="en-US" dirty="0"/>
          </a:p>
          <a:p>
            <a:r>
              <a:rPr lang="en-US" dirty="0"/>
              <a:t>Change management is part of engineering leadership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Success metrics need to balance system health, user adoption, and business impact.</a:t>
            </a:r>
            <a:endParaRPr lang="en-US" dirty="0"/>
          </a:p>
          <a:p>
            <a:r>
              <a:rPr lang="en-US" dirty="0"/>
              <a:t>If uptime is good but nobody adopts the tools, the program is failing. If adoption is high but cost or reliability are out of control, the program is still failing.</a:t>
            </a:r>
            <a:endParaRPr lang="en-US" dirty="0"/>
          </a:p>
          <a:p>
            <a:r>
              <a:rPr lang="en-US" dirty="0"/>
              <a:t>So I measure across technical performance, user satisfaction, workflow improvement, and financial efficiency.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I would lead with a concrete product win, use it to establish a platform model, and then scale that model through disciplined migration and designer-centered change management.</a:t>
            </a:r>
            <a:endParaRPr lang="en-US" dirty="0"/>
          </a:p>
          <a:p>
            <a:r>
              <a:rPr lang="en-US" dirty="0"/>
              <a:t>The theme across both halves is the same: build credible systems, keep the user workflow central, and deliver change in a way the organization can absorb.</a:t>
            </a:r>
            <a:endParaRPr lang="en-US" dirty="0"/>
          </a:p>
          <a:p>
            <a:r>
              <a:rPr lang="en-US" dirty="0"/>
              <a:t>I am happy to go deeper on architecture, migration execution, or how I would prioritize the first six months in the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slideLayout" Target="../slideLayouts/slideLayout1.xml"/><Relationship Id="rId1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image" Target="../media/image-18-9.png"/><Relationship Id="rId10" Type="http://schemas.openxmlformats.org/officeDocument/2006/relationships/image" Target="../media/image-18-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4110847" y="1590675"/>
            <a:ext cx="3939826"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CASE ASSIGNMENT PRESENTATION</a:t>
            </a:r>
            <a:endParaRPr lang="en-US" sz="1496" dirty="0"/>
          </a:p>
        </p:txBody>
      </p:sp>
      <p:sp>
        <p:nvSpPr>
          <p:cNvPr id="3" name="Text 1"/>
          <p:cNvSpPr txBox="1"/>
          <p:nvPr/>
        </p:nvSpPr>
        <p:spPr>
          <a:xfrm>
            <a:off x="2837688" y="1971675"/>
            <a:ext cx="6486144" cy="1016000"/>
          </a:xfrm>
          <a:prstGeom prst="rect">
            <a:avLst/>
          </a:prstGeom>
          <a:noFill/>
          <a:ln/>
        </p:spPr>
        <p:txBody>
          <a:bodyPr wrap="square" lIns="0" tIns="0" rIns="0" bIns="0" rtlCol="0" anchor="ctr"/>
          <a:lstStyle/>
          <a:p>
            <a:pPr algn="ctr" indent="0" marL="0">
              <a:buNone/>
            </a:pPr>
            <a:r>
              <a:rPr lang="en-US" sz="6384" b="1" dirty="0">
                <a:solidFill>
                  <a:srgbClr val="F1F5F9"/>
                </a:solidFill>
                <a:latin typeface="Century Gothic" pitchFamily="34" charset="0"/>
                <a:ea typeface="Century Gothic" pitchFamily="34" charset="-122"/>
                <a:cs typeface="Century Gothic" pitchFamily="34" charset="-120"/>
              </a:rPr>
              <a:t>Creative Tooling</a:t>
            </a:r>
            <a:endParaRPr lang="en-US" sz="6384" dirty="0"/>
          </a:p>
        </p:txBody>
      </p:sp>
      <p:sp>
        <p:nvSpPr>
          <p:cNvPr id="4" name="Text 2"/>
          <p:cNvSpPr txBox="1"/>
          <p:nvPr/>
        </p:nvSpPr>
        <p:spPr>
          <a:xfrm>
            <a:off x="3860649" y="3140075"/>
            <a:ext cx="4440222" cy="762000"/>
          </a:xfrm>
          <a:prstGeom prst="rect">
            <a:avLst/>
          </a:prstGeom>
          <a:noFill/>
          <a:ln/>
        </p:spPr>
        <p:txBody>
          <a:bodyPr wrap="square" lIns="0" tIns="0" rIns="0" bIns="0" rtlCol="0" anchor="ctr"/>
          <a:lstStyle/>
          <a:p>
            <a:pPr algn="ctr" indent="0" marL="0">
              <a:buNone/>
            </a:pPr>
            <a:r>
              <a:rPr lang="en-US" sz="4788" b="1" dirty="0">
                <a:solidFill>
                  <a:srgbClr val="F1F5F9"/>
                </a:solidFill>
                <a:latin typeface="Century Gothic" pitchFamily="34" charset="0"/>
                <a:ea typeface="Century Gothic" pitchFamily="34" charset="-122"/>
                <a:cs typeface="Century Gothic" pitchFamily="34" charset="-120"/>
              </a:rPr>
              <a:t>Patrick Klie</a:t>
            </a:r>
            <a:endParaRPr lang="en-US" sz="4788" dirty="0"/>
          </a:p>
        </p:txBody>
      </p:sp>
      <p:sp>
        <p:nvSpPr>
          <p:cNvPr id="11" name="Text 7"/>
          <p:cNvSpPr txBox="1"/>
          <p:nvPr/>
        </p:nvSpPr>
        <p:spPr>
          <a:xfrm>
            <a:off x="2837688" y="4022075"/>
            <a:ext cx="6486144" cy="254000"/>
          </a:xfrm>
          <a:prstGeom prst="rect">
            <a:avLst/>
          </a:prstGeom>
          <a:noFill/>
          <a:ln/>
        </p:spPr>
        <p:txBody>
          <a:bodyPr wrap="square" lIns="0" tIns="0" rIns="0" bIns="0" rtlCol="0" anchor="ctr"/>
          <a:lstStyle/>
          <a:p>
            <a:pPr algn="ctr" indent="0" marL="0">
              <a:buNone/>
            </a:pPr>
            <a:r>
              <a:rPr lang="en-US" sz="1795" dirty="0">
                <a:solidFill>
                  <a:srgbClr val="94A3B8"/>
                </a:solidFill>
                <a:latin typeface="Century Gothic" pitchFamily="34" charset="0"/>
                <a:ea typeface="Century Gothic" pitchFamily="34" charset="-122"/>
                <a:cs typeface="Century Gothic" pitchFamily="34" charset="-120"/>
              </a:rPr>
              <a:t>Lead Engineer, Creative Tooling interview</a:t>
            </a:r>
            <a:endParaRPr lang="en-US" sz="1795" dirty="0"/>
          </a:p>
        </p:txBody>
      </p:sp>
      <p:sp>
        <p:nvSpPr>
          <p:cNvPr id="12" name="Text 8"/>
          <p:cNvSpPr txBox="1"/>
          <p:nvPr/>
        </p:nvSpPr>
        <p:spPr>
          <a:xfrm>
            <a:off x="4110847" y="4326075"/>
            <a:ext cx="3939826"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8 April 2026</a:t>
            </a:r>
            <a:endParaRPr lang="en-US" sz="1496" dirty="0"/>
          </a:p>
        </p:txBody>
      </p:sp>
      <p:sp>
        <p:nvSpPr>
          <p:cNvPr id="5" name="Shape 3"/>
          <p:cNvSpPr/>
          <p:nvPr/>
        </p:nvSpPr>
        <p:spPr>
          <a:xfrm>
            <a:off x="4813935" y="4706075"/>
            <a:ext cx="2533650" cy="19050"/>
          </a:xfrm>
          <a:prstGeom prst="rect">
            <a:avLst/>
          </a:prstGeom>
          <a:solidFill>
            <a:srgbClr val="6366F1"/>
          </a:solidFill>
          <a:ln/>
        </p:spPr>
      </p:sp>
      <p:sp>
        <p:nvSpPr>
          <p:cNvPr id="6" name="Text 4"/>
          <p:cNvSpPr txBox="1"/>
          <p:nvPr/>
        </p:nvSpPr>
        <p:spPr>
          <a:xfrm>
            <a:off x="2109264" y="5019125"/>
            <a:ext cx="7942993" cy="254000"/>
          </a:xfrm>
          <a:prstGeom prst="rect">
            <a:avLst/>
          </a:prstGeom>
          <a:noFill/>
          <a:ln/>
        </p:spPr>
        <p:txBody>
          <a:bodyPr wrap="square" lIns="0" tIns="0" rIns="0" bIns="0" rtlCol="0" anchor="ctr"/>
          <a:lstStyle/>
          <a:p>
            <a:pPr algn="ctr" indent="0" marL="0">
              <a:buNone/>
            </a:pPr>
            <a:r>
              <a:rPr lang="en-US" sz="1795" dirty="0">
                <a:solidFill>
                  <a:srgbClr val="94A3B8"/>
                </a:solidFill>
                <a:latin typeface="Century Gothic" pitchFamily="34" charset="0"/>
                <a:ea typeface="Century Gothic" pitchFamily="34" charset="-122"/>
                <a:cs typeface="Century Gothic" pitchFamily="34" charset="-120"/>
              </a:rPr>
              <a:t>Part 1: Decoration Preview Service · Part 2: Tool Consolidation Strategy</a:t>
            </a:r>
            <a:endParaRPr lang="en-US" sz="1795" dirty="0"/>
          </a:p>
        </p:txBody>
      </p:sp>
      <p:pic>
        <p:nvPicPr>
          <p:cNvPr id="7" name="Image 0" descr="preencoded.png">    </p:cNvPr>
          <p:cNvPicPr>
            <a:picLocks noChangeAspect="1"/>
          </p:cNvPicPr>
          <p:nvPr/>
        </p:nvPicPr>
        <p:blipFill>
          <a:blip r:embed="rId1"/>
          <a:srcRect l="0" r="0" t="0" b="0"/>
          <a:stretch/>
        </p:blipFill>
        <p:spPr>
          <a:xfrm>
            <a:off x="2619161" y="5334125"/>
            <a:ext cx="177356" cy="177800"/>
          </a:xfrm>
          <a:prstGeom prst="rect">
            <a:avLst/>
          </a:prstGeom>
        </p:spPr>
      </p:pic>
      <p:sp>
        <p:nvSpPr>
          <p:cNvPr id="8" name="Text 5"/>
          <p:cNvSpPr txBox="1"/>
          <p:nvPr/>
        </p:nvSpPr>
        <p:spPr>
          <a:xfrm>
            <a:off x="2872526" y="5308725"/>
            <a:ext cx="224228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30-Minute Presentation</a:t>
            </a:r>
            <a:endParaRPr lang="en-US" sz="1496" dirty="0"/>
          </a:p>
        </p:txBody>
      </p:sp>
      <p:pic>
        <p:nvPicPr>
          <p:cNvPr id="9" name="Image 1" descr="preencoded.png">    </p:cNvPr>
          <p:cNvPicPr>
            <a:picLocks noChangeAspect="1"/>
          </p:cNvPicPr>
          <p:nvPr/>
        </p:nvPicPr>
        <p:blipFill>
          <a:blip r:embed="rId2"/>
          <a:srcRect l="0" r="0" t="0" b="0"/>
          <a:stretch/>
        </p:blipFill>
        <p:spPr>
          <a:xfrm>
            <a:off x="5418844" y="5334125"/>
            <a:ext cx="177356" cy="177800"/>
          </a:xfrm>
          <a:prstGeom prst="rect">
            <a:avLst/>
          </a:prstGeom>
        </p:spPr>
      </p:pic>
      <p:sp>
        <p:nvSpPr>
          <p:cNvPr id="10" name="Text 6"/>
          <p:cNvSpPr txBox="1"/>
          <p:nvPr/>
        </p:nvSpPr>
        <p:spPr>
          <a:xfrm>
            <a:off x="5672209" y="5308725"/>
            <a:ext cx="387015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Engineering · Design · Senior Leadership</a:t>
            </a:r>
            <a:endParaRPr lang="en-US" sz="1496"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405384" y="203200"/>
            <a:ext cx="11350752"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Today's Agenda</a:t>
            </a:r>
            <a:endParaRPr lang="en-US" sz="2993" dirty="0"/>
          </a:p>
        </p:txBody>
      </p:sp>
      <p:sp>
        <p:nvSpPr>
          <p:cNvPr id="3" name="Text 1"/>
          <p:cNvSpPr txBox="1"/>
          <p:nvPr/>
        </p:nvSpPr>
        <p:spPr>
          <a:xfrm>
            <a:off x="405384" y="635000"/>
            <a:ext cx="11350752"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Two-part presentation · 30 minutes total</a:t>
            </a:r>
            <a:endParaRPr lang="en-US" sz="1496" dirty="0"/>
          </a:p>
        </p:txBody>
      </p:sp>
      <p:sp>
        <p:nvSpPr>
          <p:cNvPr id="4" name="Shape 2"/>
          <p:cNvSpPr/>
          <p:nvPr/>
        </p:nvSpPr>
        <p:spPr>
          <a:xfrm>
            <a:off x="405384" y="1016000"/>
            <a:ext cx="5463183" cy="5257800"/>
          </a:xfrm>
          <a:prstGeom prst="roundRect">
            <a:avLst>
              <a:gd name="adj" fmla="val 323"/>
            </a:avLst>
          </a:prstGeom>
          <a:solidFill>
            <a:srgbClr val="1E293B"/>
          </a:solidFill>
          <a:ln/>
        </p:spPr>
      </p:sp>
      <p:sp>
        <p:nvSpPr>
          <p:cNvPr id="5" name="Shape 3"/>
          <p:cNvSpPr/>
          <p:nvPr/>
        </p:nvSpPr>
        <p:spPr>
          <a:xfrm>
            <a:off x="658749" y="1270000"/>
            <a:ext cx="829770" cy="330200"/>
          </a:xfrm>
          <a:prstGeom prst="roundRect">
            <a:avLst>
              <a:gd name="adj" fmla="val 21137052"/>
            </a:avLst>
          </a:prstGeom>
          <a:solidFill>
            <a:srgbClr val="6366F1"/>
          </a:solidFill>
          <a:ln/>
        </p:spPr>
      </p:sp>
      <p:sp>
        <p:nvSpPr>
          <p:cNvPr id="6" name="Text 4"/>
          <p:cNvSpPr txBox="1"/>
          <p:nvPr/>
        </p:nvSpPr>
        <p:spPr>
          <a:xfrm>
            <a:off x="810768" y="1320800"/>
            <a:ext cx="52573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a:t>
            </a:r>
            <a:endParaRPr lang="en-US" sz="1496" dirty="0"/>
          </a:p>
        </p:txBody>
      </p:sp>
      <p:sp>
        <p:nvSpPr>
          <p:cNvPr id="7" name="Text 5"/>
          <p:cNvSpPr txBox="1"/>
          <p:nvPr/>
        </p:nvSpPr>
        <p:spPr>
          <a:xfrm>
            <a:off x="658749" y="1701800"/>
            <a:ext cx="4956453" cy="381000"/>
          </a:xfrm>
          <a:prstGeom prst="rect">
            <a:avLst/>
          </a:prstGeom>
          <a:noFill/>
          <a:ln/>
        </p:spPr>
        <p:txBody>
          <a:bodyPr wrap="square" lIns="0" tIns="0" rIns="0" bIns="0" rtlCol="0" anchor="ctr"/>
          <a:lstStyle/>
          <a:p>
            <a:pPr algn="l" indent="0" marL="0">
              <a:buNone/>
            </a:pPr>
            <a:r>
              <a:rPr lang="en-US" sz="2394" b="1" dirty="0">
                <a:solidFill>
                  <a:srgbClr val="F1F5F9"/>
                </a:solidFill>
                <a:latin typeface="Century Gothic" pitchFamily="34" charset="0"/>
                <a:ea typeface="Century Gothic" pitchFamily="34" charset="-122"/>
                <a:cs typeface="Century Gothic" pitchFamily="34" charset="-120"/>
              </a:rPr>
              <a:t>Decoration Preview Service</a:t>
            </a:r>
            <a:endParaRPr lang="en-US" sz="2394" dirty="0"/>
          </a:p>
        </p:txBody>
      </p:sp>
      <p:pic>
        <p:nvPicPr>
          <p:cNvPr id="8" name="Image 0" descr="preencoded.png">    </p:cNvPr>
          <p:cNvPicPr>
            <a:picLocks noChangeAspect="1"/>
          </p:cNvPicPr>
          <p:nvPr/>
        </p:nvPicPr>
        <p:blipFill>
          <a:blip r:embed="rId1"/>
          <a:srcRect l="0" r="0" t="0" b="0"/>
          <a:stretch/>
        </p:blipFill>
        <p:spPr>
          <a:xfrm>
            <a:off x="658749" y="2222500"/>
            <a:ext cx="152019" cy="152400"/>
          </a:xfrm>
          <a:prstGeom prst="rect">
            <a:avLst/>
          </a:prstGeom>
        </p:spPr>
      </p:pic>
      <p:sp>
        <p:nvSpPr>
          <p:cNvPr id="9" name="Text 6"/>
          <p:cNvSpPr txBox="1"/>
          <p:nvPr/>
        </p:nvSpPr>
        <p:spPr>
          <a:xfrm>
            <a:off x="861441" y="2184400"/>
            <a:ext cx="113380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~10 minutes</a:t>
            </a:r>
            <a:endParaRPr lang="en-US" sz="1496" dirty="0"/>
          </a:p>
        </p:txBody>
      </p:sp>
      <p:pic>
        <p:nvPicPr>
          <p:cNvPr id="10" name="Image 1" descr="preencoded.png">    </p:cNvPr>
          <p:cNvPicPr>
            <a:picLocks noChangeAspect="1"/>
          </p:cNvPicPr>
          <p:nvPr/>
        </p:nvPicPr>
        <p:blipFill>
          <a:blip r:embed="rId2"/>
          <a:srcRect l="0" r="0" t="0" b="0"/>
          <a:stretch/>
        </p:blipFill>
        <p:spPr>
          <a:xfrm>
            <a:off x="658749" y="2616200"/>
            <a:ext cx="126683" cy="127000"/>
          </a:xfrm>
          <a:prstGeom prst="rect">
            <a:avLst/>
          </a:prstGeom>
        </p:spPr>
      </p:pic>
      <p:sp>
        <p:nvSpPr>
          <p:cNvPr id="11" name="Text 7"/>
          <p:cNvSpPr txBox="1"/>
          <p:nvPr/>
        </p:nvSpPr>
        <p:spPr>
          <a:xfrm>
            <a:off x="861441" y="2565400"/>
            <a:ext cx="280601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The problem &amp; solution vision</a:t>
            </a:r>
            <a:endParaRPr lang="en-US" sz="1496" dirty="0"/>
          </a:p>
        </p:txBody>
      </p:sp>
      <p:pic>
        <p:nvPicPr>
          <p:cNvPr id="12" name="Image 2" descr="preencoded.png">    </p:cNvPr>
          <p:cNvPicPr>
            <a:picLocks noChangeAspect="1"/>
          </p:cNvPicPr>
          <p:nvPr/>
        </p:nvPicPr>
        <p:blipFill>
          <a:blip r:embed="rId3"/>
          <a:srcRect l="0" r="0" t="0" b="0"/>
          <a:stretch/>
        </p:blipFill>
        <p:spPr>
          <a:xfrm>
            <a:off x="658749" y="2946400"/>
            <a:ext cx="126683" cy="127000"/>
          </a:xfrm>
          <a:prstGeom prst="rect">
            <a:avLst/>
          </a:prstGeom>
        </p:spPr>
      </p:pic>
      <p:sp>
        <p:nvSpPr>
          <p:cNvPr id="13" name="Text 8"/>
          <p:cNvSpPr txBox="1"/>
          <p:nvPr/>
        </p:nvSpPr>
        <p:spPr>
          <a:xfrm>
            <a:off x="861441" y="2895600"/>
            <a:ext cx="2337292"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System architecture (C4)</a:t>
            </a:r>
            <a:endParaRPr lang="en-US" sz="1496" dirty="0"/>
          </a:p>
        </p:txBody>
      </p:sp>
      <p:pic>
        <p:nvPicPr>
          <p:cNvPr id="14" name="Image 3" descr="preencoded.png">    </p:cNvPr>
          <p:cNvPicPr>
            <a:picLocks noChangeAspect="1"/>
          </p:cNvPicPr>
          <p:nvPr/>
        </p:nvPicPr>
        <p:blipFill>
          <a:blip r:embed="rId4"/>
          <a:srcRect l="0" r="0" t="0" b="0"/>
          <a:stretch/>
        </p:blipFill>
        <p:spPr>
          <a:xfrm>
            <a:off x="658749" y="3276600"/>
            <a:ext cx="126683" cy="127000"/>
          </a:xfrm>
          <a:prstGeom prst="rect">
            <a:avLst/>
          </a:prstGeom>
        </p:spPr>
      </p:pic>
      <p:sp>
        <p:nvSpPr>
          <p:cNvPr id="15" name="Text 9"/>
          <p:cNvSpPr txBox="1"/>
          <p:nvPr/>
        </p:nvSpPr>
        <p:spPr>
          <a:xfrm>
            <a:off x="861441" y="3225800"/>
            <a:ext cx="200158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API design &amp; security</a:t>
            </a:r>
            <a:endParaRPr lang="en-US" sz="1496" dirty="0"/>
          </a:p>
        </p:txBody>
      </p:sp>
      <p:pic>
        <p:nvPicPr>
          <p:cNvPr id="16" name="Image 4" descr="preencoded.png">    </p:cNvPr>
          <p:cNvPicPr>
            <a:picLocks noChangeAspect="1"/>
          </p:cNvPicPr>
          <p:nvPr/>
        </p:nvPicPr>
        <p:blipFill>
          <a:blip r:embed="rId5"/>
          <a:srcRect l="0" r="0" t="0" b="0"/>
          <a:stretch/>
        </p:blipFill>
        <p:spPr>
          <a:xfrm>
            <a:off x="658749" y="3606800"/>
            <a:ext cx="126683" cy="127000"/>
          </a:xfrm>
          <a:prstGeom prst="rect">
            <a:avLst/>
          </a:prstGeom>
        </p:spPr>
      </p:pic>
      <p:sp>
        <p:nvSpPr>
          <p:cNvPr id="17" name="Text 10"/>
          <p:cNvSpPr txBox="1"/>
          <p:nvPr/>
        </p:nvSpPr>
        <p:spPr>
          <a:xfrm>
            <a:off x="861441" y="3556000"/>
            <a:ext cx="279968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Scalability &amp; design principles</a:t>
            </a:r>
            <a:endParaRPr lang="en-US" sz="1496" dirty="0"/>
          </a:p>
        </p:txBody>
      </p:sp>
      <p:pic>
        <p:nvPicPr>
          <p:cNvPr id="18" name="Image 5" descr="preencoded.png">    </p:cNvPr>
          <p:cNvPicPr>
            <a:picLocks noChangeAspect="1"/>
          </p:cNvPicPr>
          <p:nvPr/>
        </p:nvPicPr>
        <p:blipFill>
          <a:blip r:embed="rId6"/>
          <a:srcRect l="0" r="0" t="0" b="0"/>
          <a:stretch/>
        </p:blipFill>
        <p:spPr>
          <a:xfrm>
            <a:off x="658749" y="3937000"/>
            <a:ext cx="126683" cy="127000"/>
          </a:xfrm>
          <a:prstGeom prst="rect">
            <a:avLst/>
          </a:prstGeom>
        </p:spPr>
      </p:pic>
      <p:sp>
        <p:nvSpPr>
          <p:cNvPr id="19" name="Text 11"/>
          <p:cNvSpPr txBox="1"/>
          <p:nvPr/>
        </p:nvSpPr>
        <p:spPr>
          <a:xfrm>
            <a:off x="861441" y="3886200"/>
            <a:ext cx="269833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Implementation &amp; summary</a:t>
            </a:r>
            <a:endParaRPr lang="en-US" sz="1496" dirty="0"/>
          </a:p>
        </p:txBody>
      </p:sp>
      <p:sp>
        <p:nvSpPr>
          <p:cNvPr id="20" name="Shape 12"/>
          <p:cNvSpPr/>
          <p:nvPr/>
        </p:nvSpPr>
        <p:spPr>
          <a:xfrm>
            <a:off x="6071259" y="1016000"/>
            <a:ext cx="19002" cy="5257800"/>
          </a:xfrm>
          <a:prstGeom prst="rect">
            <a:avLst/>
          </a:prstGeom>
          <a:solidFill>
            <a:srgbClr val="6366F1"/>
          </a:solidFill>
          <a:ln/>
        </p:spPr>
      </p:sp>
      <p:sp>
        <p:nvSpPr>
          <p:cNvPr id="21" name="Shape 13"/>
          <p:cNvSpPr/>
          <p:nvPr/>
        </p:nvSpPr>
        <p:spPr>
          <a:xfrm>
            <a:off x="6292953" y="1016000"/>
            <a:ext cx="5463183" cy="5257800"/>
          </a:xfrm>
          <a:prstGeom prst="roundRect">
            <a:avLst>
              <a:gd name="adj" fmla="val 323"/>
            </a:avLst>
          </a:prstGeom>
          <a:solidFill>
            <a:srgbClr val="1E293B"/>
          </a:solidFill>
          <a:ln/>
        </p:spPr>
      </p:sp>
      <p:sp>
        <p:nvSpPr>
          <p:cNvPr id="22" name="Shape 14"/>
          <p:cNvSpPr/>
          <p:nvPr/>
        </p:nvSpPr>
        <p:spPr>
          <a:xfrm>
            <a:off x="6546318" y="1270000"/>
            <a:ext cx="867775" cy="330200"/>
          </a:xfrm>
          <a:prstGeom prst="roundRect">
            <a:avLst>
              <a:gd name="adj" fmla="val 20211342"/>
            </a:avLst>
          </a:prstGeom>
          <a:solidFill>
            <a:srgbClr val="22D3EE"/>
          </a:solidFill>
          <a:ln/>
        </p:spPr>
      </p:sp>
      <p:sp>
        <p:nvSpPr>
          <p:cNvPr id="23" name="Text 15"/>
          <p:cNvSpPr txBox="1"/>
          <p:nvPr/>
        </p:nvSpPr>
        <p:spPr>
          <a:xfrm>
            <a:off x="6698337" y="1320800"/>
            <a:ext cx="563737"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a:t>
            </a:r>
            <a:endParaRPr lang="en-US" sz="1496" dirty="0"/>
          </a:p>
        </p:txBody>
      </p:sp>
      <p:sp>
        <p:nvSpPr>
          <p:cNvPr id="24" name="Text 16"/>
          <p:cNvSpPr txBox="1"/>
          <p:nvPr/>
        </p:nvSpPr>
        <p:spPr>
          <a:xfrm>
            <a:off x="6546318" y="1701800"/>
            <a:ext cx="4956453" cy="381000"/>
          </a:xfrm>
          <a:prstGeom prst="rect">
            <a:avLst/>
          </a:prstGeom>
          <a:noFill/>
          <a:ln/>
        </p:spPr>
        <p:txBody>
          <a:bodyPr wrap="square" lIns="0" tIns="0" rIns="0" bIns="0" rtlCol="0" anchor="ctr"/>
          <a:lstStyle/>
          <a:p>
            <a:pPr algn="l" indent="0" marL="0">
              <a:buNone/>
            </a:pPr>
            <a:r>
              <a:rPr lang="en-US" sz="2394" b="1" dirty="0">
                <a:solidFill>
                  <a:srgbClr val="F1F5F9"/>
                </a:solidFill>
                <a:latin typeface="Century Gothic" pitchFamily="34" charset="0"/>
                <a:ea typeface="Century Gothic" pitchFamily="34" charset="-122"/>
                <a:cs typeface="Century Gothic" pitchFamily="34" charset="-120"/>
              </a:rPr>
              <a:t>Tool Consolidation Strategy</a:t>
            </a:r>
            <a:endParaRPr lang="en-US" sz="2394" dirty="0"/>
          </a:p>
        </p:txBody>
      </p:sp>
      <p:pic>
        <p:nvPicPr>
          <p:cNvPr id="25" name="Image 6" descr="preencoded.png">    </p:cNvPr>
          <p:cNvPicPr>
            <a:picLocks noChangeAspect="1"/>
          </p:cNvPicPr>
          <p:nvPr/>
        </p:nvPicPr>
        <p:blipFill>
          <a:blip r:embed="rId7"/>
          <a:srcRect l="0" r="0" t="0" b="0"/>
          <a:stretch/>
        </p:blipFill>
        <p:spPr>
          <a:xfrm>
            <a:off x="6546318" y="2222500"/>
            <a:ext cx="152019" cy="152400"/>
          </a:xfrm>
          <a:prstGeom prst="rect">
            <a:avLst/>
          </a:prstGeom>
        </p:spPr>
      </p:pic>
      <p:sp>
        <p:nvSpPr>
          <p:cNvPr id="26" name="Text 17"/>
          <p:cNvSpPr txBox="1"/>
          <p:nvPr/>
        </p:nvSpPr>
        <p:spPr>
          <a:xfrm>
            <a:off x="6749010" y="2184400"/>
            <a:ext cx="117814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~20 minutes</a:t>
            </a:r>
            <a:endParaRPr lang="en-US" sz="1496" dirty="0"/>
          </a:p>
        </p:txBody>
      </p:sp>
      <p:pic>
        <p:nvPicPr>
          <p:cNvPr id="27" name="Image 7" descr="preencoded.png">    </p:cNvPr>
          <p:cNvPicPr>
            <a:picLocks noChangeAspect="1"/>
          </p:cNvPicPr>
          <p:nvPr/>
        </p:nvPicPr>
        <p:blipFill>
          <a:blip r:embed="rId8"/>
          <a:srcRect l="0" r="0" t="0" b="0"/>
          <a:stretch/>
        </p:blipFill>
        <p:spPr>
          <a:xfrm>
            <a:off x="6546318" y="2616200"/>
            <a:ext cx="126683" cy="127000"/>
          </a:xfrm>
          <a:prstGeom prst="rect">
            <a:avLst/>
          </a:prstGeom>
        </p:spPr>
      </p:pic>
      <p:sp>
        <p:nvSpPr>
          <p:cNvPr id="28" name="Text 18"/>
          <p:cNvSpPr txBox="1"/>
          <p:nvPr/>
        </p:nvSpPr>
        <p:spPr>
          <a:xfrm>
            <a:off x="6749010" y="2565400"/>
            <a:ext cx="210926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The challenge &amp; vision</a:t>
            </a:r>
            <a:endParaRPr lang="en-US" sz="1496" dirty="0"/>
          </a:p>
        </p:txBody>
      </p:sp>
      <p:pic>
        <p:nvPicPr>
          <p:cNvPr id="29" name="Image 8" descr="preencoded.png">    </p:cNvPr>
          <p:cNvPicPr>
            <a:picLocks noChangeAspect="1"/>
          </p:cNvPicPr>
          <p:nvPr/>
        </p:nvPicPr>
        <p:blipFill>
          <a:blip r:embed="rId9"/>
          <a:srcRect l="0" r="0" t="0" b="0"/>
          <a:stretch/>
        </p:blipFill>
        <p:spPr>
          <a:xfrm>
            <a:off x="6546318" y="2946400"/>
            <a:ext cx="126683" cy="127000"/>
          </a:xfrm>
          <a:prstGeom prst="rect">
            <a:avLst/>
          </a:prstGeom>
        </p:spPr>
      </p:pic>
      <p:sp>
        <p:nvSpPr>
          <p:cNvPr id="30" name="Text 19"/>
          <p:cNvSpPr txBox="1"/>
          <p:nvPr/>
        </p:nvSpPr>
        <p:spPr>
          <a:xfrm>
            <a:off x="6749010" y="2895600"/>
            <a:ext cx="182422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Target architecture</a:t>
            </a:r>
            <a:endParaRPr lang="en-US" sz="1496" dirty="0"/>
          </a:p>
        </p:txBody>
      </p:sp>
      <p:pic>
        <p:nvPicPr>
          <p:cNvPr id="31" name="Image 9" descr="preencoded.png">    </p:cNvPr>
          <p:cNvPicPr>
            <a:picLocks noChangeAspect="1"/>
          </p:cNvPicPr>
          <p:nvPr/>
        </p:nvPicPr>
        <p:blipFill>
          <a:blip r:embed="rId10"/>
          <a:srcRect l="0" r="0" t="0" b="0"/>
          <a:stretch/>
        </p:blipFill>
        <p:spPr>
          <a:xfrm>
            <a:off x="6546318" y="3276600"/>
            <a:ext cx="126683" cy="127000"/>
          </a:xfrm>
          <a:prstGeom prst="rect">
            <a:avLst/>
          </a:prstGeom>
        </p:spPr>
      </p:pic>
      <p:sp>
        <p:nvSpPr>
          <p:cNvPr id="32" name="Text 20"/>
          <p:cNvSpPr txBox="1"/>
          <p:nvPr/>
        </p:nvSpPr>
        <p:spPr>
          <a:xfrm>
            <a:off x="6749010" y="3225800"/>
            <a:ext cx="264766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5-phase 18-month roadmap</a:t>
            </a:r>
            <a:endParaRPr lang="en-US" sz="1496" dirty="0"/>
          </a:p>
        </p:txBody>
      </p:sp>
      <p:pic>
        <p:nvPicPr>
          <p:cNvPr id="33" name="Image 10" descr="preencoded.png">    </p:cNvPr>
          <p:cNvPicPr>
            <a:picLocks noChangeAspect="1"/>
          </p:cNvPicPr>
          <p:nvPr/>
        </p:nvPicPr>
        <p:blipFill>
          <a:blip r:embed="rId11"/>
          <a:srcRect l="0" r="0" t="0" b="0"/>
          <a:stretch/>
        </p:blipFill>
        <p:spPr>
          <a:xfrm>
            <a:off x="6546318" y="3606800"/>
            <a:ext cx="126683" cy="127000"/>
          </a:xfrm>
          <a:prstGeom prst="rect">
            <a:avLst/>
          </a:prstGeom>
        </p:spPr>
      </p:pic>
      <p:sp>
        <p:nvSpPr>
          <p:cNvPr id="34" name="Text 21"/>
          <p:cNvSpPr txBox="1"/>
          <p:nvPr/>
        </p:nvSpPr>
        <p:spPr>
          <a:xfrm>
            <a:off x="6749010" y="3556000"/>
            <a:ext cx="3249406"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Handling legacy tools &amp; resistance</a:t>
            </a:r>
            <a:endParaRPr lang="en-US" sz="1496" dirty="0"/>
          </a:p>
        </p:txBody>
      </p:sp>
      <p:pic>
        <p:nvPicPr>
          <p:cNvPr id="35" name="Image 11" descr="preencoded.png">    </p:cNvPr>
          <p:cNvPicPr>
            <a:picLocks noChangeAspect="1"/>
          </p:cNvPicPr>
          <p:nvPr/>
        </p:nvPicPr>
        <p:blipFill>
          <a:blip r:embed="rId12"/>
          <a:srcRect l="0" r="0" t="0" b="0"/>
          <a:stretch/>
        </p:blipFill>
        <p:spPr>
          <a:xfrm>
            <a:off x="6546318" y="3937000"/>
            <a:ext cx="126683" cy="127000"/>
          </a:xfrm>
          <a:prstGeom prst="rect">
            <a:avLst/>
          </a:prstGeom>
        </p:spPr>
      </p:pic>
      <p:sp>
        <p:nvSpPr>
          <p:cNvPr id="36" name="Text 22"/>
          <p:cNvSpPr txBox="1"/>
          <p:nvPr/>
        </p:nvSpPr>
        <p:spPr>
          <a:xfrm>
            <a:off x="6749010" y="3886200"/>
            <a:ext cx="276167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AI strategy &amp; success metrics</a:t>
            </a:r>
            <a:endParaRPr lang="en-US" sz="1496" dirty="0"/>
          </a:p>
        </p:txBody>
      </p:sp>
      <p:sp>
        <p:nvSpPr>
          <p:cNvPr id="37" name="Text 23"/>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8" name="Text 24"/>
          <p:cNvSpPr txBox="1"/>
          <p:nvPr/>
        </p:nvSpPr>
        <p:spPr>
          <a:xfrm>
            <a:off x="10875693" y="6426200"/>
            <a:ext cx="880443"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Overview</a:t>
            </a:r>
            <a:endParaRPr lang="en-US" sz="1496"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3521774" cy="279400"/>
          </a:xfrm>
          <a:prstGeom prst="roundRect">
            <a:avLst>
              <a:gd name="adj" fmla="val 5885612"/>
            </a:avLst>
          </a:prstGeom>
          <a:solidFill>
            <a:srgbClr val="6366F1"/>
          </a:solidFill>
          <a:ln/>
        </p:spPr>
      </p:sp>
      <p:sp>
        <p:nvSpPr>
          <p:cNvPr id="3" name="Text 1"/>
          <p:cNvSpPr txBox="1"/>
          <p:nvPr/>
        </p:nvSpPr>
        <p:spPr>
          <a:xfrm>
            <a:off x="532067" y="279400"/>
            <a:ext cx="326840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Decoration Preview Service</a:t>
            </a:r>
            <a:endParaRPr lang="en-US" sz="1496" dirty="0"/>
          </a:p>
        </p:txBody>
      </p:sp>
      <p:sp>
        <p:nvSpPr>
          <p:cNvPr id="4" name="Text 2"/>
          <p:cNvSpPr txBox="1"/>
          <p:nvPr/>
        </p:nvSpPr>
        <p:spPr>
          <a:xfrm>
            <a:off x="4028503" y="203200"/>
            <a:ext cx="2451306"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The Problem</a:t>
            </a:r>
            <a:endParaRPr lang="en-US" sz="2993" dirty="0"/>
          </a:p>
        </p:txBody>
      </p:sp>
      <p:sp>
        <p:nvSpPr>
          <p:cNvPr id="5" name="Text 3"/>
          <p:cNvSpPr txBox="1"/>
          <p:nvPr/>
        </p:nvSpPr>
        <p:spPr>
          <a:xfrm>
            <a:off x="405384" y="736600"/>
            <a:ext cx="7556710" cy="762000"/>
          </a:xfrm>
          <a:prstGeom prst="rect">
            <a:avLst/>
          </a:prstGeom>
          <a:noFill/>
          <a:ln/>
        </p:spPr>
        <p:txBody>
          <a:bodyPr wrap="square" lIns="0" tIns="0" rIns="0" bIns="0" rtlCol="0" anchor="ctr"/>
          <a:lstStyle/>
          <a:p>
            <a:pPr algn="l" indent="0" marL="0">
              <a:buNone/>
            </a:pPr>
            <a:r>
              <a:rPr lang="en-US" sz="2394" b="1" dirty="0">
                <a:solidFill>
                  <a:srgbClr val="F1F5F9"/>
                </a:solidFill>
                <a:latin typeface="Century Gothic" pitchFamily="34" charset="0"/>
                <a:ea typeface="Century Gothic" pitchFamily="34" charset="-122"/>
                <a:cs typeface="Century Gothic" pitchFamily="34" charset="-120"/>
              </a:rPr>
              <a:t>Designers wait hours for 3D previews of their 2D artwork</a:t>
            </a:r>
            <a:endParaRPr lang="en-US" sz="2394" dirty="0"/>
          </a:p>
        </p:txBody>
      </p:sp>
      <p:sp>
        <p:nvSpPr>
          <p:cNvPr id="6" name="Text 4"/>
          <p:cNvSpPr txBox="1"/>
          <p:nvPr/>
        </p:nvSpPr>
        <p:spPr>
          <a:xfrm>
            <a:off x="405384" y="1574800"/>
            <a:ext cx="7556710"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Every preview request blocks the creative iteration cycle</a:t>
            </a:r>
            <a:endParaRPr lang="en-US" sz="1496" dirty="0"/>
          </a:p>
        </p:txBody>
      </p:sp>
      <p:sp>
        <p:nvSpPr>
          <p:cNvPr id="7" name="Shape 5"/>
          <p:cNvSpPr/>
          <p:nvPr/>
        </p:nvSpPr>
        <p:spPr>
          <a:xfrm>
            <a:off x="405384" y="2006600"/>
            <a:ext cx="2417557" cy="4267200"/>
          </a:xfrm>
          <a:prstGeom prst="roundRect">
            <a:avLst>
              <a:gd name="adj" fmla="val 675"/>
            </a:avLst>
          </a:prstGeom>
          <a:solidFill>
            <a:srgbClr val="1E293B"/>
          </a:solidFill>
          <a:ln/>
        </p:spPr>
      </p:sp>
      <p:pic>
        <p:nvPicPr>
          <p:cNvPr id="8" name="Image 0" descr="preencoded.png">    </p:cNvPr>
          <p:cNvPicPr>
            <a:picLocks noChangeAspect="1"/>
          </p:cNvPicPr>
          <p:nvPr/>
        </p:nvPicPr>
        <p:blipFill>
          <a:blip r:embed="rId1"/>
          <a:srcRect l="0" r="0" t="0" b="0"/>
          <a:stretch/>
        </p:blipFill>
        <p:spPr>
          <a:xfrm>
            <a:off x="1462094" y="3670300"/>
            <a:ext cx="304038" cy="304800"/>
          </a:xfrm>
          <a:prstGeom prst="rect">
            <a:avLst/>
          </a:prstGeom>
        </p:spPr>
      </p:pic>
      <p:sp>
        <p:nvSpPr>
          <p:cNvPr id="9" name="Text 6"/>
          <p:cNvSpPr txBox="1"/>
          <p:nvPr/>
        </p:nvSpPr>
        <p:spPr>
          <a:xfrm>
            <a:off x="673496" y="4076700"/>
            <a:ext cx="1881235"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Hours of waiting</a:t>
            </a:r>
            <a:endParaRPr lang="en-US" sz="1795" dirty="0"/>
          </a:p>
        </p:txBody>
      </p:sp>
      <p:sp>
        <p:nvSpPr>
          <p:cNvPr id="10" name="Text 7"/>
          <p:cNvSpPr txBox="1"/>
          <p:nvPr/>
        </p:nvSpPr>
        <p:spPr>
          <a:xfrm>
            <a:off x="660827" y="4381500"/>
            <a:ext cx="1906572" cy="2286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Per preview request</a:t>
            </a:r>
            <a:endParaRPr lang="en-US" sz="1496" dirty="0"/>
          </a:p>
        </p:txBody>
      </p:sp>
      <p:sp>
        <p:nvSpPr>
          <p:cNvPr id="11" name="Shape 8"/>
          <p:cNvSpPr/>
          <p:nvPr/>
        </p:nvSpPr>
        <p:spPr>
          <a:xfrm>
            <a:off x="2974960" y="2006600"/>
            <a:ext cx="2417557" cy="4267200"/>
          </a:xfrm>
          <a:prstGeom prst="roundRect">
            <a:avLst>
              <a:gd name="adj" fmla="val 675"/>
            </a:avLst>
          </a:prstGeom>
          <a:solidFill>
            <a:srgbClr val="1E293B"/>
          </a:solidFill>
          <a:ln/>
        </p:spPr>
      </p:sp>
      <p:pic>
        <p:nvPicPr>
          <p:cNvPr id="12" name="Image 1" descr="preencoded.png">    </p:cNvPr>
          <p:cNvPicPr>
            <a:picLocks noChangeAspect="1"/>
          </p:cNvPicPr>
          <p:nvPr/>
        </p:nvPicPr>
        <p:blipFill>
          <a:blip r:embed="rId2"/>
          <a:srcRect l="0" r="0" t="0" b="0"/>
          <a:stretch/>
        </p:blipFill>
        <p:spPr>
          <a:xfrm>
            <a:off x="4031671" y="3556000"/>
            <a:ext cx="304038" cy="304800"/>
          </a:xfrm>
          <a:prstGeom prst="rect">
            <a:avLst/>
          </a:prstGeom>
        </p:spPr>
      </p:pic>
      <p:sp>
        <p:nvSpPr>
          <p:cNvPr id="13" name="Text 9"/>
          <p:cNvSpPr txBox="1"/>
          <p:nvPr/>
        </p:nvSpPr>
        <p:spPr>
          <a:xfrm>
            <a:off x="3401425" y="3962400"/>
            <a:ext cx="1564529"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Slow iteration</a:t>
            </a:r>
            <a:endParaRPr lang="en-US" sz="1795" dirty="0"/>
          </a:p>
        </p:txBody>
      </p:sp>
      <p:sp>
        <p:nvSpPr>
          <p:cNvPr id="14" name="Text 10"/>
          <p:cNvSpPr txBox="1"/>
          <p:nvPr/>
        </p:nvSpPr>
        <p:spPr>
          <a:xfrm>
            <a:off x="3126979" y="4267200"/>
            <a:ext cx="2113519"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Feedback loops broken</a:t>
            </a:r>
            <a:endParaRPr lang="en-US" sz="1496" dirty="0"/>
          </a:p>
        </p:txBody>
      </p:sp>
      <p:sp>
        <p:nvSpPr>
          <p:cNvPr id="15" name="Shape 11"/>
          <p:cNvSpPr/>
          <p:nvPr/>
        </p:nvSpPr>
        <p:spPr>
          <a:xfrm>
            <a:off x="5544537" y="2006600"/>
            <a:ext cx="2417557" cy="4267200"/>
          </a:xfrm>
          <a:prstGeom prst="roundRect">
            <a:avLst>
              <a:gd name="adj" fmla="val 675"/>
            </a:avLst>
          </a:prstGeom>
          <a:solidFill>
            <a:srgbClr val="1E293B"/>
          </a:solidFill>
          <a:ln/>
        </p:spPr>
      </p:sp>
      <p:pic>
        <p:nvPicPr>
          <p:cNvPr id="16" name="Image 2" descr="preencoded.png">    </p:cNvPr>
          <p:cNvPicPr>
            <a:picLocks noChangeAspect="1"/>
          </p:cNvPicPr>
          <p:nvPr/>
        </p:nvPicPr>
        <p:blipFill>
          <a:blip r:embed="rId3"/>
          <a:srcRect l="0" r="0" t="0" b="0"/>
          <a:stretch/>
        </p:blipFill>
        <p:spPr>
          <a:xfrm>
            <a:off x="6601247" y="3429000"/>
            <a:ext cx="304038" cy="304800"/>
          </a:xfrm>
          <a:prstGeom prst="rect">
            <a:avLst/>
          </a:prstGeom>
        </p:spPr>
      </p:pic>
      <p:sp>
        <p:nvSpPr>
          <p:cNvPr id="17" name="Text 12"/>
          <p:cNvSpPr txBox="1"/>
          <p:nvPr/>
        </p:nvSpPr>
        <p:spPr>
          <a:xfrm>
            <a:off x="5696556" y="3835400"/>
            <a:ext cx="2113519" cy="508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Designer frustration</a:t>
            </a:r>
            <a:endParaRPr lang="en-US" sz="1795" dirty="0"/>
          </a:p>
        </p:txBody>
      </p:sp>
      <p:sp>
        <p:nvSpPr>
          <p:cNvPr id="18" name="Text 13"/>
          <p:cNvSpPr txBox="1"/>
          <p:nvPr/>
        </p:nvSpPr>
        <p:spPr>
          <a:xfrm>
            <a:off x="5696556" y="4394200"/>
            <a:ext cx="2113519"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Creative momentum lost</a:t>
            </a:r>
            <a:endParaRPr lang="en-US" sz="1496" dirty="0"/>
          </a:p>
        </p:txBody>
      </p:sp>
      <p:sp>
        <p:nvSpPr>
          <p:cNvPr id="19" name="Shape 14"/>
          <p:cNvSpPr/>
          <p:nvPr/>
        </p:nvSpPr>
        <p:spPr>
          <a:xfrm>
            <a:off x="8215459" y="2019300"/>
            <a:ext cx="3540677" cy="2971800"/>
          </a:xfrm>
          <a:prstGeom prst="roundRect">
            <a:avLst>
              <a:gd name="adj" fmla="val 881"/>
            </a:avLst>
          </a:prstGeom>
          <a:solidFill>
            <a:srgbClr val="1E293B"/>
          </a:solidFill>
          <a:ln w="12668">
            <a:solidFill>
              <a:srgbClr val="6366F1"/>
            </a:solidFill>
            <a:prstDash val="solid"/>
          </a:ln>
        </p:spPr>
      </p:sp>
      <p:pic>
        <p:nvPicPr>
          <p:cNvPr id="20" name="Image 3" descr="preencoded.png">    </p:cNvPr>
          <p:cNvPicPr>
            <a:picLocks noChangeAspect="1"/>
          </p:cNvPicPr>
          <p:nvPr/>
        </p:nvPicPr>
        <p:blipFill>
          <a:blip r:embed="rId4"/>
          <a:srcRect l="0" r="0" t="0" b="0"/>
          <a:stretch/>
        </p:blipFill>
        <p:spPr>
          <a:xfrm>
            <a:off x="9783056" y="2286000"/>
            <a:ext cx="405384" cy="406400"/>
          </a:xfrm>
          <a:prstGeom prst="rect">
            <a:avLst/>
          </a:prstGeom>
        </p:spPr>
      </p:pic>
      <p:sp>
        <p:nvSpPr>
          <p:cNvPr id="21" name="Text 15"/>
          <p:cNvSpPr txBox="1"/>
          <p:nvPr/>
        </p:nvSpPr>
        <p:spPr>
          <a:xfrm>
            <a:off x="8772763" y="2794000"/>
            <a:ext cx="2425970" cy="812800"/>
          </a:xfrm>
          <a:prstGeom prst="rect">
            <a:avLst/>
          </a:prstGeom>
          <a:noFill/>
          <a:ln/>
        </p:spPr>
        <p:txBody>
          <a:bodyPr wrap="square" lIns="0" tIns="0" rIns="0" bIns="0" rtlCol="0" anchor="ctr"/>
          <a:lstStyle/>
          <a:p>
            <a:pPr algn="l" indent="0" marL="0">
              <a:buNone/>
            </a:pPr>
            <a:r>
              <a:rPr lang="en-US" sz="6384" b="1" dirty="0">
                <a:solidFill>
                  <a:srgbClr val="6366F1"/>
                </a:solidFill>
                <a:latin typeface="Century Gothic" pitchFamily="34" charset="0"/>
                <a:ea typeface="Century Gothic" pitchFamily="34" charset="-122"/>
                <a:cs typeface="Century Gothic" pitchFamily="34" charset="-120"/>
              </a:rPr>
              <a:t>Hours</a:t>
            </a:r>
            <a:endParaRPr lang="en-US" sz="6384" dirty="0"/>
          </a:p>
        </p:txBody>
      </p:sp>
      <p:sp>
        <p:nvSpPr>
          <p:cNvPr id="22" name="Text 16"/>
          <p:cNvSpPr txBox="1"/>
          <p:nvPr/>
        </p:nvSpPr>
        <p:spPr>
          <a:xfrm>
            <a:off x="8481492" y="3708400"/>
            <a:ext cx="3008610" cy="508000"/>
          </a:xfrm>
          <a:prstGeom prst="rect">
            <a:avLst/>
          </a:prstGeom>
          <a:noFill/>
          <a:ln/>
        </p:spPr>
        <p:txBody>
          <a:bodyPr wrap="square" lIns="0" tIns="0" rIns="0" bIns="0" rtlCol="0" anchor="ctr"/>
          <a:lstStyle/>
          <a:p>
            <a:pPr algn="l" indent="0" marL="0">
              <a:buNone/>
            </a:pPr>
            <a:r>
              <a:rPr lang="en-US" sz="1795" dirty="0">
                <a:solidFill>
                  <a:srgbClr val="F1F5F9"/>
                </a:solidFill>
                <a:latin typeface="Century Gothic" pitchFamily="34" charset="0"/>
                <a:ea typeface="Century Gothic" pitchFamily="34" charset="-122"/>
                <a:cs typeface="Century Gothic" pitchFamily="34" charset="-120"/>
              </a:rPr>
              <a:t>Average wait time per preview</a:t>
            </a:r>
            <a:endParaRPr lang="en-US" sz="1795" dirty="0"/>
          </a:p>
        </p:txBody>
      </p:sp>
      <p:sp>
        <p:nvSpPr>
          <p:cNvPr id="23" name="Text 17"/>
          <p:cNvSpPr txBox="1"/>
          <p:nvPr/>
        </p:nvSpPr>
        <p:spPr>
          <a:xfrm>
            <a:off x="8481492" y="4267200"/>
            <a:ext cx="3008610" cy="4572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vs. seconds needed to stay in flow</a:t>
            </a:r>
            <a:endParaRPr lang="en-US" sz="1496" dirty="0"/>
          </a:p>
        </p:txBody>
      </p:sp>
      <p:sp>
        <p:nvSpPr>
          <p:cNvPr id="24" name="Text 18"/>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25" name="Text 19"/>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3521774" cy="279400"/>
          </a:xfrm>
          <a:prstGeom prst="roundRect">
            <a:avLst>
              <a:gd name="adj" fmla="val 5885612"/>
            </a:avLst>
          </a:prstGeom>
          <a:solidFill>
            <a:srgbClr val="6366F1"/>
          </a:solidFill>
          <a:ln/>
        </p:spPr>
      </p:sp>
      <p:sp>
        <p:nvSpPr>
          <p:cNvPr id="3" name="Text 1"/>
          <p:cNvSpPr txBox="1"/>
          <p:nvPr/>
        </p:nvSpPr>
        <p:spPr>
          <a:xfrm>
            <a:off x="532067" y="279400"/>
            <a:ext cx="326840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Decoration Preview Service</a:t>
            </a:r>
            <a:endParaRPr lang="en-US" sz="1496" dirty="0"/>
          </a:p>
        </p:txBody>
      </p:sp>
      <p:sp>
        <p:nvSpPr>
          <p:cNvPr id="4" name="Text 2"/>
          <p:cNvSpPr txBox="1"/>
          <p:nvPr/>
        </p:nvSpPr>
        <p:spPr>
          <a:xfrm>
            <a:off x="4028503" y="203200"/>
            <a:ext cx="2831354"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Solution Vision</a:t>
            </a:r>
            <a:endParaRPr lang="en-US" sz="2993" dirty="0"/>
          </a:p>
        </p:txBody>
      </p:sp>
      <p:sp>
        <p:nvSpPr>
          <p:cNvPr id="5" name="Text 3"/>
          <p:cNvSpPr txBox="1"/>
          <p:nvPr/>
        </p:nvSpPr>
        <p:spPr>
          <a:xfrm>
            <a:off x="608076" y="736600"/>
            <a:ext cx="10945368" cy="304800"/>
          </a:xfrm>
          <a:prstGeom prst="rect">
            <a:avLst/>
          </a:prstGeom>
          <a:noFill/>
          <a:ln/>
        </p:spPr>
        <p:txBody>
          <a:bodyPr wrap="square" lIns="0" tIns="0" rIns="0" bIns="0" rtlCol="0" anchor="ctr"/>
          <a:lstStyle/>
          <a:p>
            <a:pPr algn="ctr" indent="0" marL="0">
              <a:buNone/>
            </a:pPr>
            <a:r>
              <a:rPr lang="en-US" sz="2394" b="1" dirty="0">
                <a:solidFill>
                  <a:srgbClr val="F1F5F9"/>
                </a:solidFill>
                <a:latin typeface="Century Gothic" pitchFamily="34" charset="0"/>
                <a:ea typeface="Century Gothic" pitchFamily="34" charset="-122"/>
                <a:cs typeface="Century Gothic" pitchFamily="34" charset="-120"/>
              </a:rPr>
              <a:t>An async, cloud-native rendering service that never blocks the designer</a:t>
            </a:r>
            <a:endParaRPr lang="en-US" sz="2394" dirty="0"/>
          </a:p>
        </p:txBody>
      </p:sp>
      <p:sp>
        <p:nvSpPr>
          <p:cNvPr id="6" name="Shape 4"/>
          <p:cNvSpPr/>
          <p:nvPr/>
        </p:nvSpPr>
        <p:spPr>
          <a:xfrm>
            <a:off x="5130641" y="1117600"/>
            <a:ext cx="1900238" cy="19050"/>
          </a:xfrm>
          <a:prstGeom prst="rect">
            <a:avLst/>
          </a:prstGeom>
          <a:solidFill>
            <a:srgbClr val="22D3EE"/>
          </a:solidFill>
          <a:ln/>
        </p:spPr>
      </p:sp>
      <p:sp>
        <p:nvSpPr>
          <p:cNvPr id="7" name="Text 5"/>
          <p:cNvSpPr txBox="1"/>
          <p:nvPr/>
        </p:nvSpPr>
        <p:spPr>
          <a:xfrm>
            <a:off x="608076" y="1238250"/>
            <a:ext cx="10945368" cy="2286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Designers submit → system processes → result delivered — no waiting required</a:t>
            </a:r>
            <a:endParaRPr lang="en-US" sz="1496" dirty="0"/>
          </a:p>
        </p:txBody>
      </p:sp>
      <p:sp>
        <p:nvSpPr>
          <p:cNvPr id="8" name="Shape 6"/>
          <p:cNvSpPr/>
          <p:nvPr/>
        </p:nvSpPr>
        <p:spPr>
          <a:xfrm>
            <a:off x="405384" y="1670050"/>
            <a:ext cx="2723674" cy="4603750"/>
          </a:xfrm>
          <a:prstGeom prst="roundRect">
            <a:avLst>
              <a:gd name="adj" fmla="val 556"/>
            </a:avLst>
          </a:prstGeom>
          <a:solidFill>
            <a:srgbClr val="1E293B"/>
          </a:solidFill>
          <a:ln w="25337">
            <a:solidFill>
              <a:srgbClr val="6366F1"/>
            </a:solidFill>
            <a:prstDash val="solid"/>
          </a:ln>
        </p:spPr>
      </p:sp>
      <p:pic>
        <p:nvPicPr>
          <p:cNvPr id="9" name="Image 0" descr="preencoded.png">    </p:cNvPr>
          <p:cNvPicPr>
            <a:picLocks noChangeAspect="1"/>
          </p:cNvPicPr>
          <p:nvPr/>
        </p:nvPicPr>
        <p:blipFill>
          <a:blip r:embed="rId1"/>
          <a:srcRect l="0" r="0" t="0" b="0"/>
          <a:stretch/>
        </p:blipFill>
        <p:spPr>
          <a:xfrm>
            <a:off x="1589865" y="3362325"/>
            <a:ext cx="354711" cy="355600"/>
          </a:xfrm>
          <a:prstGeom prst="rect">
            <a:avLst/>
          </a:prstGeom>
        </p:spPr>
      </p:pic>
      <p:sp>
        <p:nvSpPr>
          <p:cNvPr id="10" name="Text 7"/>
          <p:cNvSpPr txBox="1"/>
          <p:nvPr/>
        </p:nvSpPr>
        <p:spPr>
          <a:xfrm>
            <a:off x="1143310" y="3819525"/>
            <a:ext cx="1247823"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Async First</a:t>
            </a:r>
            <a:endParaRPr lang="en-US" sz="1795" dirty="0"/>
          </a:p>
        </p:txBody>
      </p:sp>
      <p:sp>
        <p:nvSpPr>
          <p:cNvPr id="11" name="Text 8"/>
          <p:cNvSpPr txBox="1"/>
          <p:nvPr/>
        </p:nvSpPr>
        <p:spPr>
          <a:xfrm>
            <a:off x="608076" y="4149725"/>
            <a:ext cx="2318290"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Submit &amp; continue working. No blocking.</a:t>
            </a:r>
            <a:endParaRPr lang="en-US" sz="1496" dirty="0"/>
          </a:p>
        </p:txBody>
      </p:sp>
      <p:sp>
        <p:nvSpPr>
          <p:cNvPr id="12" name="Shape 9"/>
          <p:cNvSpPr/>
          <p:nvPr/>
        </p:nvSpPr>
        <p:spPr>
          <a:xfrm>
            <a:off x="3281077" y="1670050"/>
            <a:ext cx="2723674" cy="4603750"/>
          </a:xfrm>
          <a:prstGeom prst="roundRect">
            <a:avLst>
              <a:gd name="adj" fmla="val 556"/>
            </a:avLst>
          </a:prstGeom>
          <a:solidFill>
            <a:srgbClr val="1E293B"/>
          </a:solidFill>
          <a:ln w="25337">
            <a:solidFill>
              <a:srgbClr val="6366F1"/>
            </a:solidFill>
            <a:prstDash val="solid"/>
          </a:ln>
        </p:spPr>
      </p:sp>
      <p:pic>
        <p:nvPicPr>
          <p:cNvPr id="13" name="Image 1" descr="preencoded.png">    </p:cNvPr>
          <p:cNvPicPr>
            <a:picLocks noChangeAspect="1"/>
          </p:cNvPicPr>
          <p:nvPr/>
        </p:nvPicPr>
        <p:blipFill>
          <a:blip r:embed="rId2"/>
          <a:srcRect l="0" r="0" t="0" b="0"/>
          <a:stretch/>
        </p:blipFill>
        <p:spPr>
          <a:xfrm>
            <a:off x="4465558" y="3362325"/>
            <a:ext cx="354711" cy="355600"/>
          </a:xfrm>
          <a:prstGeom prst="rect">
            <a:avLst/>
          </a:prstGeom>
        </p:spPr>
      </p:pic>
      <p:sp>
        <p:nvSpPr>
          <p:cNvPr id="14" name="Text 10"/>
          <p:cNvSpPr txBox="1"/>
          <p:nvPr/>
        </p:nvSpPr>
        <p:spPr>
          <a:xfrm>
            <a:off x="3908155" y="3819525"/>
            <a:ext cx="1469517"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Cloud Native</a:t>
            </a:r>
            <a:endParaRPr lang="en-US" sz="1795" dirty="0"/>
          </a:p>
        </p:txBody>
      </p:sp>
      <p:sp>
        <p:nvSpPr>
          <p:cNvPr id="15" name="Text 11"/>
          <p:cNvSpPr txBox="1"/>
          <p:nvPr/>
        </p:nvSpPr>
        <p:spPr>
          <a:xfrm>
            <a:off x="3483769" y="4149725"/>
            <a:ext cx="2318290"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AWS-native — scalable, resilient, managed.</a:t>
            </a:r>
            <a:endParaRPr lang="en-US" sz="1496" dirty="0"/>
          </a:p>
        </p:txBody>
      </p:sp>
      <p:sp>
        <p:nvSpPr>
          <p:cNvPr id="16" name="Shape 12"/>
          <p:cNvSpPr/>
          <p:nvPr/>
        </p:nvSpPr>
        <p:spPr>
          <a:xfrm>
            <a:off x="6156770" y="1670050"/>
            <a:ext cx="2723674" cy="4603750"/>
          </a:xfrm>
          <a:prstGeom prst="roundRect">
            <a:avLst>
              <a:gd name="adj" fmla="val 556"/>
            </a:avLst>
          </a:prstGeom>
          <a:solidFill>
            <a:srgbClr val="1E293B"/>
          </a:solidFill>
          <a:ln w="25337">
            <a:solidFill>
              <a:srgbClr val="6366F1"/>
            </a:solidFill>
            <a:prstDash val="solid"/>
          </a:ln>
        </p:spPr>
      </p:sp>
      <p:pic>
        <p:nvPicPr>
          <p:cNvPr id="17" name="Image 2" descr="preencoded.png">    </p:cNvPr>
          <p:cNvPicPr>
            <a:picLocks noChangeAspect="1"/>
          </p:cNvPicPr>
          <p:nvPr/>
        </p:nvPicPr>
        <p:blipFill>
          <a:blip r:embed="rId3"/>
          <a:srcRect l="0" r="0" t="0" b="0"/>
          <a:stretch/>
        </p:blipFill>
        <p:spPr>
          <a:xfrm>
            <a:off x="7341251" y="3248025"/>
            <a:ext cx="354711" cy="355600"/>
          </a:xfrm>
          <a:prstGeom prst="rect">
            <a:avLst/>
          </a:prstGeom>
        </p:spPr>
      </p:pic>
      <p:sp>
        <p:nvSpPr>
          <p:cNvPr id="18" name="Text 13"/>
          <p:cNvSpPr txBox="1"/>
          <p:nvPr/>
        </p:nvSpPr>
        <p:spPr>
          <a:xfrm>
            <a:off x="6508313" y="3705225"/>
            <a:ext cx="2020586"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Secure by Default</a:t>
            </a:r>
            <a:endParaRPr lang="en-US" sz="1795" dirty="0"/>
          </a:p>
        </p:txBody>
      </p:sp>
      <p:sp>
        <p:nvSpPr>
          <p:cNvPr id="19" name="Text 14"/>
          <p:cNvSpPr txBox="1"/>
          <p:nvPr/>
        </p:nvSpPr>
        <p:spPr>
          <a:xfrm>
            <a:off x="6359462" y="4035425"/>
            <a:ext cx="2318290"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KMS encryption, pre-signed URLs, VPC isolation.</a:t>
            </a:r>
            <a:endParaRPr lang="en-US" sz="1496" dirty="0"/>
          </a:p>
        </p:txBody>
      </p:sp>
      <p:sp>
        <p:nvSpPr>
          <p:cNvPr id="20" name="Shape 15"/>
          <p:cNvSpPr/>
          <p:nvPr/>
        </p:nvSpPr>
        <p:spPr>
          <a:xfrm>
            <a:off x="9032462" y="1670050"/>
            <a:ext cx="2723674" cy="4603750"/>
          </a:xfrm>
          <a:prstGeom prst="roundRect">
            <a:avLst>
              <a:gd name="adj" fmla="val 556"/>
            </a:avLst>
          </a:prstGeom>
          <a:solidFill>
            <a:srgbClr val="1E293B"/>
          </a:solidFill>
          <a:ln w="25337">
            <a:solidFill>
              <a:srgbClr val="6366F1"/>
            </a:solidFill>
            <a:prstDash val="solid"/>
          </a:ln>
        </p:spPr>
      </p:sp>
      <p:pic>
        <p:nvPicPr>
          <p:cNvPr id="21" name="Image 3" descr="preencoded.png">    </p:cNvPr>
          <p:cNvPicPr>
            <a:picLocks noChangeAspect="1"/>
          </p:cNvPicPr>
          <p:nvPr/>
        </p:nvPicPr>
        <p:blipFill>
          <a:blip r:embed="rId4"/>
          <a:srcRect l="0" r="0" t="0" b="0"/>
          <a:stretch/>
        </p:blipFill>
        <p:spPr>
          <a:xfrm>
            <a:off x="10216944" y="3248025"/>
            <a:ext cx="354711" cy="355600"/>
          </a:xfrm>
          <a:prstGeom prst="rect">
            <a:avLst/>
          </a:prstGeom>
        </p:spPr>
      </p:pic>
      <p:sp>
        <p:nvSpPr>
          <p:cNvPr id="22" name="Text 16"/>
          <p:cNvSpPr txBox="1"/>
          <p:nvPr/>
        </p:nvSpPr>
        <p:spPr>
          <a:xfrm>
            <a:off x="9631037" y="3705225"/>
            <a:ext cx="1526524"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100× Scalable</a:t>
            </a:r>
            <a:endParaRPr lang="en-US" sz="1795" dirty="0"/>
          </a:p>
        </p:txBody>
      </p:sp>
      <p:sp>
        <p:nvSpPr>
          <p:cNvPr id="23" name="Text 17"/>
          <p:cNvSpPr txBox="1"/>
          <p:nvPr/>
        </p:nvSpPr>
        <p:spPr>
          <a:xfrm>
            <a:off x="9235154" y="4035425"/>
            <a:ext cx="2318290"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100 to 10,000+ renders/day with auto-scaling.</a:t>
            </a:r>
            <a:endParaRPr lang="en-US" sz="1496" dirty="0"/>
          </a:p>
        </p:txBody>
      </p:sp>
      <p:sp>
        <p:nvSpPr>
          <p:cNvPr id="24" name="Text 18"/>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25" name="Text 19"/>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15598" cy="279400"/>
          </a:xfrm>
          <a:prstGeom prst="roundRect">
            <a:avLst>
              <a:gd name="adj" fmla="val 9797605"/>
            </a:avLst>
          </a:prstGeom>
          <a:solidFill>
            <a:srgbClr val="6366F1"/>
          </a:solidFill>
          <a:ln/>
        </p:spPr>
      </p:sp>
      <p:sp>
        <p:nvSpPr>
          <p:cNvPr id="3" name="Text 1"/>
          <p:cNvSpPr txBox="1"/>
          <p:nvPr/>
        </p:nvSpPr>
        <p:spPr>
          <a:xfrm>
            <a:off x="532067" y="279400"/>
            <a:ext cx="186223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Architecture</a:t>
            </a:r>
            <a:endParaRPr lang="en-US" sz="1496" dirty="0"/>
          </a:p>
        </p:txBody>
      </p:sp>
      <p:sp>
        <p:nvSpPr>
          <p:cNvPr id="4" name="Text 2"/>
          <p:cNvSpPr txBox="1"/>
          <p:nvPr/>
        </p:nvSpPr>
        <p:spPr>
          <a:xfrm>
            <a:off x="2622328" y="203200"/>
            <a:ext cx="3870150"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C4 Context Diagram</a:t>
            </a:r>
            <a:endParaRPr lang="en-US" sz="2993" dirty="0"/>
          </a:p>
        </p:txBody>
      </p:sp>
      <p:sp>
        <p:nvSpPr>
          <p:cNvPr id="5" name="Text 3"/>
          <p:cNvSpPr txBox="1"/>
          <p:nvPr/>
        </p:nvSpPr>
        <p:spPr>
          <a:xfrm>
            <a:off x="405384" y="1885950"/>
            <a:ext cx="5046615" cy="5715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System Context — Who uses it and what does it connect to?</a:t>
            </a:r>
            <a:endParaRPr lang="en-US" sz="1795" dirty="0"/>
          </a:p>
        </p:txBody>
      </p:sp>
      <p:sp>
        <p:nvSpPr>
          <p:cNvPr id="6" name="Text 4"/>
          <p:cNvSpPr txBox="1"/>
          <p:nvPr/>
        </p:nvSpPr>
        <p:spPr>
          <a:xfrm>
            <a:off x="405384" y="2609850"/>
            <a:ext cx="5046615"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Primary Actors</a:t>
            </a:r>
            <a:endParaRPr lang="en-US" sz="1496" dirty="0"/>
          </a:p>
        </p:txBody>
      </p:sp>
      <p:pic>
        <p:nvPicPr>
          <p:cNvPr id="7" name="Image 0" descr="preencoded.png">    </p:cNvPr>
          <p:cNvPicPr>
            <a:picLocks noChangeAspect="1"/>
          </p:cNvPicPr>
          <p:nvPr/>
        </p:nvPicPr>
        <p:blipFill>
          <a:blip r:embed="rId1"/>
          <a:srcRect l="1189" r="1189" t="0" b="0"/>
          <a:stretch/>
        </p:blipFill>
        <p:spPr>
          <a:xfrm>
            <a:off x="405384" y="3041650"/>
            <a:ext cx="142221" cy="152400"/>
          </a:xfrm>
          <a:prstGeom prst="rect">
            <a:avLst/>
          </a:prstGeom>
        </p:spPr>
      </p:pic>
      <p:sp>
        <p:nvSpPr>
          <p:cNvPr id="8" name="Text 5"/>
          <p:cNvSpPr txBox="1"/>
          <p:nvPr/>
        </p:nvSpPr>
        <p:spPr>
          <a:xfrm>
            <a:off x="623614" y="2889250"/>
            <a:ext cx="164142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Graphic Designers</a:t>
            </a:r>
            <a:endParaRPr lang="en-US" sz="1496" dirty="0"/>
          </a:p>
        </p:txBody>
      </p:sp>
      <p:sp>
        <p:nvSpPr>
          <p:cNvPr id="9" name="Text 6"/>
          <p:cNvSpPr txBox="1"/>
          <p:nvPr/>
        </p:nvSpPr>
        <p:spPr>
          <a:xfrm>
            <a:off x="2341053" y="2889250"/>
            <a:ext cx="3110946" cy="4572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Upload artwork, review previews</a:t>
            </a:r>
            <a:endParaRPr lang="en-US" sz="1496" dirty="0"/>
          </a:p>
        </p:txBody>
      </p:sp>
      <p:pic>
        <p:nvPicPr>
          <p:cNvPr id="10" name="Image 1" descr="preencoded.png">    </p:cNvPr>
          <p:cNvPicPr>
            <a:picLocks noChangeAspect="1"/>
          </p:cNvPicPr>
          <p:nvPr/>
        </p:nvPicPr>
        <p:blipFill>
          <a:blip r:embed="rId2"/>
          <a:srcRect l="0" r="0" t="0" b="0"/>
          <a:stretch/>
        </p:blipFill>
        <p:spPr>
          <a:xfrm>
            <a:off x="405384" y="3435350"/>
            <a:ext cx="152019" cy="152400"/>
          </a:xfrm>
          <a:prstGeom prst="rect">
            <a:avLst/>
          </a:prstGeom>
        </p:spPr>
      </p:pic>
      <p:sp>
        <p:nvSpPr>
          <p:cNvPr id="11" name="Text 7"/>
          <p:cNvSpPr txBox="1"/>
          <p:nvPr/>
        </p:nvSpPr>
        <p:spPr>
          <a:xfrm>
            <a:off x="633413" y="3397250"/>
            <a:ext cx="168487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 Managers</a:t>
            </a:r>
            <a:endParaRPr lang="en-US" sz="1496" dirty="0"/>
          </a:p>
        </p:txBody>
      </p:sp>
      <p:sp>
        <p:nvSpPr>
          <p:cNvPr id="12" name="Text 8"/>
          <p:cNvSpPr txBox="1"/>
          <p:nvPr/>
        </p:nvSpPr>
        <p:spPr>
          <a:xfrm>
            <a:off x="2394299" y="3397250"/>
            <a:ext cx="2723674"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Review &amp; approve designs</a:t>
            </a:r>
            <a:endParaRPr lang="en-US" sz="1496" dirty="0"/>
          </a:p>
        </p:txBody>
      </p:sp>
      <p:sp>
        <p:nvSpPr>
          <p:cNvPr id="13" name="Text 9"/>
          <p:cNvSpPr txBox="1"/>
          <p:nvPr/>
        </p:nvSpPr>
        <p:spPr>
          <a:xfrm>
            <a:off x="405384" y="3778250"/>
            <a:ext cx="5046615"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External Systems</a:t>
            </a:r>
            <a:endParaRPr lang="en-US" sz="1496" dirty="0"/>
          </a:p>
        </p:txBody>
      </p:sp>
      <p:pic>
        <p:nvPicPr>
          <p:cNvPr id="14" name="Image 2" descr="preencoded.png">    </p:cNvPr>
          <p:cNvPicPr>
            <a:picLocks noChangeAspect="1"/>
          </p:cNvPicPr>
          <p:nvPr/>
        </p:nvPicPr>
        <p:blipFill>
          <a:blip r:embed="rId3"/>
          <a:srcRect l="0" r="0" t="0" b="0"/>
          <a:stretch/>
        </p:blipFill>
        <p:spPr>
          <a:xfrm>
            <a:off x="405384" y="4095750"/>
            <a:ext cx="152019" cy="152400"/>
          </a:xfrm>
          <a:prstGeom prst="rect">
            <a:avLst/>
          </a:prstGeom>
        </p:spPr>
      </p:pic>
      <p:sp>
        <p:nvSpPr>
          <p:cNvPr id="15" name="Text 10"/>
          <p:cNvSpPr txBox="1"/>
          <p:nvPr/>
        </p:nvSpPr>
        <p:spPr>
          <a:xfrm>
            <a:off x="633413" y="4057650"/>
            <a:ext cx="184323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Digital Asset Mgmt</a:t>
            </a:r>
            <a:endParaRPr lang="en-US" sz="1496" dirty="0"/>
          </a:p>
        </p:txBody>
      </p:sp>
      <p:sp>
        <p:nvSpPr>
          <p:cNvPr id="16" name="Text 11"/>
          <p:cNvSpPr txBox="1"/>
          <p:nvPr/>
        </p:nvSpPr>
        <p:spPr>
          <a:xfrm>
            <a:off x="2552652" y="4057650"/>
            <a:ext cx="2014252"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Artwork templates</a:t>
            </a:r>
            <a:endParaRPr lang="en-US" sz="1496" dirty="0"/>
          </a:p>
        </p:txBody>
      </p:sp>
      <p:pic>
        <p:nvPicPr>
          <p:cNvPr id="17" name="Image 3" descr="preencoded.png">    </p:cNvPr>
          <p:cNvPicPr>
            <a:picLocks noChangeAspect="1"/>
          </p:cNvPicPr>
          <p:nvPr/>
        </p:nvPicPr>
        <p:blipFill>
          <a:blip r:embed="rId4"/>
          <a:srcRect l="0" r="0" t="0" b="0"/>
          <a:stretch/>
        </p:blipFill>
        <p:spPr>
          <a:xfrm>
            <a:off x="405384" y="4375150"/>
            <a:ext cx="152019" cy="152400"/>
          </a:xfrm>
          <a:prstGeom prst="rect">
            <a:avLst/>
          </a:prstGeom>
        </p:spPr>
      </p:pic>
      <p:sp>
        <p:nvSpPr>
          <p:cNvPr id="18" name="Text 12"/>
          <p:cNvSpPr txBox="1"/>
          <p:nvPr/>
        </p:nvSpPr>
        <p:spPr>
          <a:xfrm>
            <a:off x="633413" y="4337050"/>
            <a:ext cx="228661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Product Lifecycle Mgmt</a:t>
            </a:r>
            <a:endParaRPr lang="en-US" sz="1496" dirty="0"/>
          </a:p>
        </p:txBody>
      </p:sp>
      <p:sp>
        <p:nvSpPr>
          <p:cNvPr id="19" name="Text 13"/>
          <p:cNvSpPr txBox="1"/>
          <p:nvPr/>
        </p:nvSpPr>
        <p:spPr>
          <a:xfrm>
            <a:off x="2996041" y="4337050"/>
            <a:ext cx="2115598"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3D element models</a:t>
            </a:r>
            <a:endParaRPr lang="en-US" sz="1496" dirty="0"/>
          </a:p>
        </p:txBody>
      </p:sp>
      <p:pic>
        <p:nvPicPr>
          <p:cNvPr id="20" name="Image 4" descr="preencoded.png">    </p:cNvPr>
          <p:cNvPicPr>
            <a:picLocks noChangeAspect="1"/>
          </p:cNvPicPr>
          <p:nvPr/>
        </p:nvPicPr>
        <p:blipFill>
          <a:blip r:embed="rId5"/>
          <a:srcRect l="0" r="0" t="0" b="0"/>
          <a:stretch/>
        </p:blipFill>
        <p:spPr>
          <a:xfrm>
            <a:off x="405384" y="4654550"/>
            <a:ext cx="152019" cy="152400"/>
          </a:xfrm>
          <a:prstGeom prst="rect">
            <a:avLst/>
          </a:prstGeom>
        </p:spPr>
      </p:pic>
      <p:sp>
        <p:nvSpPr>
          <p:cNvPr id="21" name="Text 14"/>
          <p:cNvSpPr txBox="1"/>
          <p:nvPr/>
        </p:nvSpPr>
        <p:spPr>
          <a:xfrm>
            <a:off x="633413" y="4616450"/>
            <a:ext cx="131116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Corporate IdP</a:t>
            </a:r>
            <a:endParaRPr lang="en-US" sz="1496" dirty="0"/>
          </a:p>
        </p:txBody>
      </p:sp>
      <p:sp>
        <p:nvSpPr>
          <p:cNvPr id="22" name="Text 15"/>
          <p:cNvSpPr txBox="1"/>
          <p:nvPr/>
        </p:nvSpPr>
        <p:spPr>
          <a:xfrm>
            <a:off x="2020586" y="4616450"/>
            <a:ext cx="2083927"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SSO authentication</a:t>
            </a:r>
            <a:endParaRPr lang="en-US" sz="1496" dirty="0"/>
          </a:p>
        </p:txBody>
      </p:sp>
      <p:pic>
        <p:nvPicPr>
          <p:cNvPr id="23" name="Image 5" descr="preencoded.png">    </p:cNvPr>
          <p:cNvPicPr>
            <a:picLocks noChangeAspect="1"/>
          </p:cNvPicPr>
          <p:nvPr/>
        </p:nvPicPr>
        <p:blipFill>
          <a:blip r:embed="rId6"/>
          <a:srcRect l="0" r="0" t="0" b="0"/>
          <a:stretch/>
        </p:blipFill>
        <p:spPr>
          <a:xfrm>
            <a:off x="405384" y="4933950"/>
            <a:ext cx="152019" cy="152400"/>
          </a:xfrm>
          <a:prstGeom prst="rect">
            <a:avLst/>
          </a:prstGeom>
        </p:spPr>
      </p:pic>
      <p:sp>
        <p:nvSpPr>
          <p:cNvPr id="24" name="Text 16"/>
          <p:cNvSpPr txBox="1"/>
          <p:nvPr/>
        </p:nvSpPr>
        <p:spPr>
          <a:xfrm>
            <a:off x="633413" y="4895850"/>
            <a:ext cx="1836896"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Notification Service</a:t>
            </a:r>
            <a:endParaRPr lang="en-US" sz="1496" dirty="0"/>
          </a:p>
        </p:txBody>
      </p:sp>
      <p:sp>
        <p:nvSpPr>
          <p:cNvPr id="25" name="Text 17"/>
          <p:cNvSpPr txBox="1"/>
          <p:nvPr/>
        </p:nvSpPr>
        <p:spPr>
          <a:xfrm>
            <a:off x="2546318" y="4895850"/>
            <a:ext cx="2083927"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 Render completion</a:t>
            </a:r>
            <a:endParaRPr lang="en-US" sz="1496" dirty="0"/>
          </a:p>
        </p:txBody>
      </p:sp>
      <p:sp>
        <p:nvSpPr>
          <p:cNvPr id="26" name="Shape 18"/>
          <p:cNvSpPr/>
          <p:nvPr/>
        </p:nvSpPr>
        <p:spPr>
          <a:xfrm>
            <a:off x="5654691" y="685800"/>
            <a:ext cx="6101445" cy="5638800"/>
          </a:xfrm>
          <a:prstGeom prst="roundRect">
            <a:avLst>
              <a:gd name="adj" fmla="val 269"/>
            </a:avLst>
          </a:prstGeom>
          <a:solidFill>
            <a:srgbClr val="1E293B"/>
          </a:solidFill>
          <a:ln/>
        </p:spPr>
      </p:sp>
      <p:pic>
        <p:nvPicPr>
          <p:cNvPr id="27" name="Image 6" descr="preencoded.png">    </p:cNvPr>
          <p:cNvPicPr>
            <a:picLocks noChangeAspect="1"/>
          </p:cNvPicPr>
          <p:nvPr/>
        </p:nvPicPr>
        <p:blipFill>
          <a:blip r:embed="rId7"/>
          <a:srcRect l="0" r="0" t="-17778" b="-17778"/>
          <a:stretch/>
        </p:blipFill>
        <p:spPr>
          <a:xfrm>
            <a:off x="5756037" y="787400"/>
            <a:ext cx="5898753" cy="5435600"/>
          </a:xfrm>
          <a:prstGeom prst="rect">
            <a:avLst/>
          </a:prstGeom>
        </p:spPr>
      </p:pic>
      <p:sp>
        <p:nvSpPr>
          <p:cNvPr id="28" name="Text 19"/>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29" name="Text 20"/>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15598" cy="279400"/>
          </a:xfrm>
          <a:prstGeom prst="roundRect">
            <a:avLst>
              <a:gd name="adj" fmla="val 9797605"/>
            </a:avLst>
          </a:prstGeom>
          <a:solidFill>
            <a:srgbClr val="6366F1"/>
          </a:solidFill>
          <a:ln/>
        </p:spPr>
      </p:sp>
      <p:sp>
        <p:nvSpPr>
          <p:cNvPr id="3" name="Text 1"/>
          <p:cNvSpPr txBox="1"/>
          <p:nvPr/>
        </p:nvSpPr>
        <p:spPr>
          <a:xfrm>
            <a:off x="532067" y="279400"/>
            <a:ext cx="186223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Architecture</a:t>
            </a:r>
            <a:endParaRPr lang="en-US" sz="1496" dirty="0"/>
          </a:p>
        </p:txBody>
      </p:sp>
      <p:sp>
        <p:nvSpPr>
          <p:cNvPr id="4" name="Text 2"/>
          <p:cNvSpPr txBox="1"/>
          <p:nvPr/>
        </p:nvSpPr>
        <p:spPr>
          <a:xfrm>
            <a:off x="2622328" y="203200"/>
            <a:ext cx="4256532"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C4 Container Diagram</a:t>
            </a:r>
            <a:endParaRPr lang="en-US" sz="2993" dirty="0"/>
          </a:p>
        </p:txBody>
      </p:sp>
      <p:sp>
        <p:nvSpPr>
          <p:cNvPr id="5" name="Text 3"/>
          <p:cNvSpPr txBox="1"/>
          <p:nvPr/>
        </p:nvSpPr>
        <p:spPr>
          <a:xfrm>
            <a:off x="405384" y="1485900"/>
            <a:ext cx="5039489"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AWS Infrastructure</a:t>
            </a:r>
            <a:endParaRPr lang="en-US" sz="1795" dirty="0"/>
          </a:p>
        </p:txBody>
      </p:sp>
      <p:pic>
        <p:nvPicPr>
          <p:cNvPr id="6" name="Image 0" descr="preencoded.png">    </p:cNvPr>
          <p:cNvPicPr>
            <a:picLocks noChangeAspect="1"/>
          </p:cNvPicPr>
          <p:nvPr/>
        </p:nvPicPr>
        <p:blipFill>
          <a:blip r:embed="rId1"/>
          <a:srcRect l="0" r="0" t="0" b="0"/>
          <a:stretch/>
        </p:blipFill>
        <p:spPr>
          <a:xfrm>
            <a:off x="405384" y="1866900"/>
            <a:ext cx="152019" cy="152400"/>
          </a:xfrm>
          <a:prstGeom prst="rect">
            <a:avLst/>
          </a:prstGeom>
        </p:spPr>
      </p:pic>
      <p:sp>
        <p:nvSpPr>
          <p:cNvPr id="7" name="Text 4"/>
          <p:cNvSpPr txBox="1"/>
          <p:nvPr/>
        </p:nvSpPr>
        <p:spPr>
          <a:xfrm>
            <a:off x="633413" y="1866900"/>
            <a:ext cx="366112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CloudFront + WAF</a:t>
            </a:r>
            <a:endParaRPr lang="en-US" sz="1496" dirty="0"/>
          </a:p>
        </p:txBody>
      </p:sp>
      <p:sp>
        <p:nvSpPr>
          <p:cNvPr id="8" name="Text 5"/>
          <p:cNvSpPr txBox="1"/>
          <p:nvPr/>
        </p:nvSpPr>
        <p:spPr>
          <a:xfrm>
            <a:off x="633413" y="2095500"/>
            <a:ext cx="3661124"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Edge caching, DDoS protection, 1h TTL</a:t>
            </a:r>
            <a:endParaRPr lang="en-US" sz="1496" dirty="0"/>
          </a:p>
        </p:txBody>
      </p:sp>
      <p:pic>
        <p:nvPicPr>
          <p:cNvPr id="9" name="Image 1" descr="preencoded.png">    </p:cNvPr>
          <p:cNvPicPr>
            <a:picLocks noChangeAspect="1"/>
          </p:cNvPicPr>
          <p:nvPr/>
        </p:nvPicPr>
        <p:blipFill>
          <a:blip r:embed="rId2"/>
          <a:srcRect l="0" r="0" t="0" b="0"/>
          <a:stretch/>
        </p:blipFill>
        <p:spPr>
          <a:xfrm>
            <a:off x="405384" y="2400300"/>
            <a:ext cx="152019" cy="152400"/>
          </a:xfrm>
          <a:prstGeom prst="rect">
            <a:avLst/>
          </a:prstGeom>
        </p:spPr>
      </p:pic>
      <p:sp>
        <p:nvSpPr>
          <p:cNvPr id="10" name="Text 6"/>
          <p:cNvSpPr txBox="1"/>
          <p:nvPr/>
        </p:nvSpPr>
        <p:spPr>
          <a:xfrm>
            <a:off x="633413" y="2400300"/>
            <a:ext cx="331908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API Service</a:t>
            </a:r>
            <a:endParaRPr lang="en-US" sz="1496" dirty="0"/>
          </a:p>
        </p:txBody>
      </p:sp>
      <p:sp>
        <p:nvSpPr>
          <p:cNvPr id="11" name="Text 7"/>
          <p:cNvSpPr txBox="1"/>
          <p:nvPr/>
        </p:nvSpPr>
        <p:spPr>
          <a:xfrm>
            <a:off x="633413" y="2628900"/>
            <a:ext cx="3319081"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FastAPI on ECS Fargate (2-10 tasks)</a:t>
            </a:r>
            <a:endParaRPr lang="en-US" sz="1496" dirty="0"/>
          </a:p>
        </p:txBody>
      </p:sp>
      <p:pic>
        <p:nvPicPr>
          <p:cNvPr id="12" name="Image 2" descr="preencoded.png">    </p:cNvPr>
          <p:cNvPicPr>
            <a:picLocks noChangeAspect="1"/>
          </p:cNvPicPr>
          <p:nvPr/>
        </p:nvPicPr>
        <p:blipFill>
          <a:blip r:embed="rId3"/>
          <a:srcRect l="0" r="0" t="0" b="0"/>
          <a:stretch/>
        </p:blipFill>
        <p:spPr>
          <a:xfrm>
            <a:off x="405384" y="2933700"/>
            <a:ext cx="152019" cy="152400"/>
          </a:xfrm>
          <a:prstGeom prst="rect">
            <a:avLst/>
          </a:prstGeom>
        </p:spPr>
      </p:pic>
      <p:sp>
        <p:nvSpPr>
          <p:cNvPr id="13" name="Text 8"/>
          <p:cNvSpPr txBox="1"/>
          <p:nvPr/>
        </p:nvSpPr>
        <p:spPr>
          <a:xfrm>
            <a:off x="633413" y="2933700"/>
            <a:ext cx="290736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SQS Queue + DLQ</a:t>
            </a:r>
            <a:endParaRPr lang="en-US" sz="1496" dirty="0"/>
          </a:p>
        </p:txBody>
      </p:sp>
      <p:sp>
        <p:nvSpPr>
          <p:cNvPr id="14" name="Text 9"/>
          <p:cNvSpPr txBox="1"/>
          <p:nvPr/>
        </p:nvSpPr>
        <p:spPr>
          <a:xfrm>
            <a:off x="633413" y="3162300"/>
            <a:ext cx="2907363"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KMS encrypted, 10min visibility</a:t>
            </a:r>
            <a:endParaRPr lang="en-US" sz="1496" dirty="0"/>
          </a:p>
        </p:txBody>
      </p:sp>
      <p:pic>
        <p:nvPicPr>
          <p:cNvPr id="15" name="Image 3" descr="preencoded.png">    </p:cNvPr>
          <p:cNvPicPr>
            <a:picLocks noChangeAspect="1"/>
          </p:cNvPicPr>
          <p:nvPr/>
        </p:nvPicPr>
        <p:blipFill>
          <a:blip r:embed="rId4"/>
          <a:srcRect l="0" r="0" t="0" b="0"/>
          <a:stretch/>
        </p:blipFill>
        <p:spPr>
          <a:xfrm>
            <a:off x="405384" y="3467100"/>
            <a:ext cx="152019" cy="152400"/>
          </a:xfrm>
          <a:prstGeom prst="rect">
            <a:avLst/>
          </a:prstGeom>
        </p:spPr>
      </p:pic>
      <p:sp>
        <p:nvSpPr>
          <p:cNvPr id="16" name="Text 10"/>
          <p:cNvSpPr txBox="1"/>
          <p:nvPr/>
        </p:nvSpPr>
        <p:spPr>
          <a:xfrm>
            <a:off x="633413" y="3467100"/>
            <a:ext cx="348376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Render Workers</a:t>
            </a:r>
            <a:endParaRPr lang="en-US" sz="1496" dirty="0"/>
          </a:p>
        </p:txBody>
      </p:sp>
      <p:sp>
        <p:nvSpPr>
          <p:cNvPr id="17" name="Text 11"/>
          <p:cNvSpPr txBox="1"/>
          <p:nvPr/>
        </p:nvSpPr>
        <p:spPr>
          <a:xfrm>
            <a:off x="633413" y="3695700"/>
            <a:ext cx="348376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0-50 ECS tasks, queue-driven scaling</a:t>
            </a:r>
            <a:endParaRPr lang="en-US" sz="1496" dirty="0"/>
          </a:p>
        </p:txBody>
      </p:sp>
      <p:pic>
        <p:nvPicPr>
          <p:cNvPr id="18" name="Image 4" descr="preencoded.png">    </p:cNvPr>
          <p:cNvPicPr>
            <a:picLocks noChangeAspect="1"/>
          </p:cNvPicPr>
          <p:nvPr/>
        </p:nvPicPr>
        <p:blipFill>
          <a:blip r:embed="rId5"/>
          <a:srcRect l="0" r="0" t="0" b="0"/>
          <a:stretch/>
        </p:blipFill>
        <p:spPr>
          <a:xfrm>
            <a:off x="405384" y="4000500"/>
            <a:ext cx="152019" cy="152400"/>
          </a:xfrm>
          <a:prstGeom prst="rect">
            <a:avLst/>
          </a:prstGeom>
        </p:spPr>
      </p:pic>
      <p:sp>
        <p:nvSpPr>
          <p:cNvPr id="19" name="Text 12"/>
          <p:cNvSpPr txBox="1"/>
          <p:nvPr/>
        </p:nvSpPr>
        <p:spPr>
          <a:xfrm>
            <a:off x="633413" y="4000500"/>
            <a:ext cx="264133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S3 Buckets (×3)</a:t>
            </a:r>
            <a:endParaRPr lang="en-US" sz="1496" dirty="0"/>
          </a:p>
        </p:txBody>
      </p:sp>
      <p:sp>
        <p:nvSpPr>
          <p:cNvPr id="20" name="Text 13"/>
          <p:cNvSpPr txBox="1"/>
          <p:nvPr/>
        </p:nvSpPr>
        <p:spPr>
          <a:xfrm>
            <a:off x="633413" y="4229100"/>
            <a:ext cx="264133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Artwork, Elements, Renders</a:t>
            </a:r>
            <a:endParaRPr lang="en-US" sz="1496" dirty="0"/>
          </a:p>
        </p:txBody>
      </p:sp>
      <p:pic>
        <p:nvPicPr>
          <p:cNvPr id="21" name="Image 5" descr="preencoded.png">    </p:cNvPr>
          <p:cNvPicPr>
            <a:picLocks noChangeAspect="1"/>
          </p:cNvPicPr>
          <p:nvPr/>
        </p:nvPicPr>
        <p:blipFill>
          <a:blip r:embed="rId6"/>
          <a:srcRect l="0" r="0" t="0" b="0"/>
          <a:stretch/>
        </p:blipFill>
        <p:spPr>
          <a:xfrm>
            <a:off x="405384" y="4533900"/>
            <a:ext cx="152019" cy="152400"/>
          </a:xfrm>
          <a:prstGeom prst="rect">
            <a:avLst/>
          </a:prstGeom>
        </p:spPr>
      </p:pic>
      <p:sp>
        <p:nvSpPr>
          <p:cNvPr id="22" name="Text 14"/>
          <p:cNvSpPr txBox="1"/>
          <p:nvPr/>
        </p:nvSpPr>
        <p:spPr>
          <a:xfrm>
            <a:off x="633413" y="4533900"/>
            <a:ext cx="282502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DynamoDB</a:t>
            </a:r>
            <a:endParaRPr lang="en-US" sz="1496" dirty="0"/>
          </a:p>
        </p:txBody>
      </p:sp>
      <p:sp>
        <p:nvSpPr>
          <p:cNvPr id="23" name="Text 15"/>
          <p:cNvSpPr txBox="1"/>
          <p:nvPr/>
        </p:nvSpPr>
        <p:spPr>
          <a:xfrm>
            <a:off x="633413" y="4762500"/>
            <a:ext cx="282502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Job tracking, GSI, TTL cleanup</a:t>
            </a:r>
            <a:endParaRPr lang="en-US" sz="1496" dirty="0"/>
          </a:p>
        </p:txBody>
      </p:sp>
      <p:pic>
        <p:nvPicPr>
          <p:cNvPr id="24" name="Image 6" descr="preencoded.png">    </p:cNvPr>
          <p:cNvPicPr>
            <a:picLocks noChangeAspect="1"/>
          </p:cNvPicPr>
          <p:nvPr/>
        </p:nvPicPr>
        <p:blipFill>
          <a:blip r:embed="rId7"/>
          <a:srcRect l="0" r="0" t="0" b="0"/>
          <a:stretch/>
        </p:blipFill>
        <p:spPr>
          <a:xfrm>
            <a:off x="405384" y="5067300"/>
            <a:ext cx="152019" cy="152400"/>
          </a:xfrm>
          <a:prstGeom prst="rect">
            <a:avLst/>
          </a:prstGeom>
        </p:spPr>
      </p:pic>
      <p:sp>
        <p:nvSpPr>
          <p:cNvPr id="25" name="Text 16"/>
          <p:cNvSpPr txBox="1"/>
          <p:nvPr/>
        </p:nvSpPr>
        <p:spPr>
          <a:xfrm>
            <a:off x="633413" y="5067300"/>
            <a:ext cx="279334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CloudWatch</a:t>
            </a:r>
            <a:endParaRPr lang="en-US" sz="1496" dirty="0"/>
          </a:p>
        </p:txBody>
      </p:sp>
      <p:sp>
        <p:nvSpPr>
          <p:cNvPr id="26" name="Text 17"/>
          <p:cNvSpPr txBox="1"/>
          <p:nvPr/>
        </p:nvSpPr>
        <p:spPr>
          <a:xfrm>
            <a:off x="633413" y="5295900"/>
            <a:ext cx="279334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Dashboards, alarms, 30d logs</a:t>
            </a:r>
            <a:endParaRPr lang="en-US" sz="1496" dirty="0"/>
          </a:p>
        </p:txBody>
      </p:sp>
      <p:sp>
        <p:nvSpPr>
          <p:cNvPr id="27" name="Shape 18"/>
          <p:cNvSpPr/>
          <p:nvPr/>
        </p:nvSpPr>
        <p:spPr>
          <a:xfrm>
            <a:off x="5596892" y="685800"/>
            <a:ext cx="6159244" cy="5638800"/>
          </a:xfrm>
          <a:prstGeom prst="roundRect">
            <a:avLst>
              <a:gd name="adj" fmla="val 267"/>
            </a:avLst>
          </a:prstGeom>
          <a:solidFill>
            <a:srgbClr val="1E293B"/>
          </a:solidFill>
          <a:ln/>
        </p:spPr>
      </p:sp>
      <p:pic>
        <p:nvPicPr>
          <p:cNvPr id="28" name="Image 7" descr="preencoded.png">    </p:cNvPr>
          <p:cNvPicPr>
            <a:picLocks noChangeAspect="1"/>
          </p:cNvPicPr>
          <p:nvPr/>
        </p:nvPicPr>
        <p:blipFill>
          <a:blip r:embed="rId8"/>
          <a:srcRect l="-31466" r="-31466" t="0" b="0"/>
          <a:stretch/>
        </p:blipFill>
        <p:spPr>
          <a:xfrm>
            <a:off x="5698238" y="787400"/>
            <a:ext cx="5956552" cy="5435600"/>
          </a:xfrm>
          <a:prstGeom prst="rect">
            <a:avLst/>
          </a:prstGeom>
        </p:spPr>
      </p:pic>
      <p:sp>
        <p:nvSpPr>
          <p:cNvPr id="29" name="Text 19"/>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0" name="Text 20"/>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995249" cy="279400"/>
          </a:xfrm>
          <a:prstGeom prst="roundRect">
            <a:avLst>
              <a:gd name="adj" fmla="val 10388571"/>
            </a:avLst>
          </a:prstGeom>
          <a:solidFill>
            <a:srgbClr val="6366F1"/>
          </a:solidFill>
          <a:ln/>
        </p:spPr>
      </p:sp>
      <p:sp>
        <p:nvSpPr>
          <p:cNvPr id="3" name="Text 1"/>
          <p:cNvSpPr txBox="1"/>
          <p:nvPr/>
        </p:nvSpPr>
        <p:spPr>
          <a:xfrm>
            <a:off x="532067" y="279400"/>
            <a:ext cx="174188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API Design</a:t>
            </a:r>
            <a:endParaRPr lang="en-US" sz="1496" dirty="0"/>
          </a:p>
        </p:txBody>
      </p:sp>
      <p:sp>
        <p:nvSpPr>
          <p:cNvPr id="4" name="Text 2"/>
          <p:cNvSpPr txBox="1"/>
          <p:nvPr/>
        </p:nvSpPr>
        <p:spPr>
          <a:xfrm>
            <a:off x="2501979" y="203200"/>
            <a:ext cx="4395883"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Five RESTful Endpoints</a:t>
            </a:r>
            <a:endParaRPr lang="en-US" sz="2993" dirty="0"/>
          </a:p>
        </p:txBody>
      </p:sp>
      <p:sp>
        <p:nvSpPr>
          <p:cNvPr id="5" name="Shape 3"/>
          <p:cNvSpPr/>
          <p:nvPr/>
        </p:nvSpPr>
        <p:spPr>
          <a:xfrm>
            <a:off x="405384" y="685800"/>
            <a:ext cx="5831651" cy="1066800"/>
          </a:xfrm>
          <a:prstGeom prst="roundRect">
            <a:avLst>
              <a:gd name="adj" fmla="val 1117"/>
            </a:avLst>
          </a:prstGeom>
          <a:solidFill>
            <a:srgbClr val="1E293B"/>
          </a:solidFill>
          <a:ln/>
        </p:spPr>
      </p:sp>
      <p:sp>
        <p:nvSpPr>
          <p:cNvPr id="6" name="Shape 4"/>
          <p:cNvSpPr/>
          <p:nvPr/>
        </p:nvSpPr>
        <p:spPr>
          <a:xfrm>
            <a:off x="506730" y="1079500"/>
            <a:ext cx="722090" cy="279400"/>
          </a:xfrm>
          <a:prstGeom prst="roundRect">
            <a:avLst>
              <a:gd name="adj" fmla="val 22967"/>
            </a:avLst>
          </a:prstGeom>
          <a:solidFill>
            <a:srgbClr val="6366F1"/>
          </a:solidFill>
          <a:ln/>
        </p:spPr>
      </p:sp>
      <p:sp>
        <p:nvSpPr>
          <p:cNvPr id="7" name="Text 5"/>
          <p:cNvSpPr txBox="1"/>
          <p:nvPr/>
        </p:nvSpPr>
        <p:spPr>
          <a:xfrm>
            <a:off x="608076" y="1104900"/>
            <a:ext cx="51939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POST</a:t>
            </a:r>
            <a:endParaRPr lang="en-US" sz="1496" dirty="0"/>
          </a:p>
        </p:txBody>
      </p:sp>
      <p:sp>
        <p:nvSpPr>
          <p:cNvPr id="8" name="Text 6"/>
          <p:cNvSpPr txBox="1"/>
          <p:nvPr/>
        </p:nvSpPr>
        <p:spPr>
          <a:xfrm>
            <a:off x="1355503" y="876300"/>
            <a:ext cx="3133017"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ourier New" pitchFamily="34" charset="0"/>
                <a:ea typeface="Courier New" pitchFamily="34" charset="-122"/>
                <a:cs typeface="Courier New" pitchFamily="34" charset="-120"/>
              </a:rPr>
              <a:t>/api/v1/render</a:t>
            </a:r>
            <a:endParaRPr lang="en-US" sz="1496" dirty="0"/>
          </a:p>
        </p:txBody>
      </p:sp>
      <p:sp>
        <p:nvSpPr>
          <p:cNvPr id="9" name="Text 7"/>
          <p:cNvSpPr txBox="1"/>
          <p:nvPr/>
        </p:nvSpPr>
        <p:spPr>
          <a:xfrm>
            <a:off x="1355503" y="1104900"/>
            <a:ext cx="3133017"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Submit artwork + element_id for rendering</a:t>
            </a:r>
            <a:endParaRPr lang="en-US" sz="1496" dirty="0"/>
          </a:p>
        </p:txBody>
      </p:sp>
      <p:sp>
        <p:nvSpPr>
          <p:cNvPr id="10" name="Shape 8"/>
          <p:cNvSpPr/>
          <p:nvPr/>
        </p:nvSpPr>
        <p:spPr>
          <a:xfrm>
            <a:off x="4615202" y="1079500"/>
            <a:ext cx="1520487" cy="279400"/>
          </a:xfrm>
          <a:prstGeom prst="roundRect">
            <a:avLst>
              <a:gd name="adj" fmla="val 10907"/>
            </a:avLst>
          </a:prstGeom>
          <a:solidFill>
            <a:srgbClr val="334155"/>
          </a:solidFill>
          <a:ln/>
        </p:spPr>
      </p:sp>
      <p:sp>
        <p:nvSpPr>
          <p:cNvPr id="11" name="Text 9"/>
          <p:cNvSpPr txBox="1"/>
          <p:nvPr/>
        </p:nvSpPr>
        <p:spPr>
          <a:xfrm>
            <a:off x="4691211" y="1104900"/>
            <a:ext cx="1368468" cy="228600"/>
          </a:xfrm>
          <a:prstGeom prst="rect">
            <a:avLst/>
          </a:prstGeom>
          <a:noFill/>
          <a:ln/>
        </p:spPr>
        <p:txBody>
          <a:bodyPr wrap="square" lIns="0" tIns="0" rIns="0" bIns="0" rtlCol="0" anchor="ctr"/>
          <a:lstStyle/>
          <a:p>
            <a:pPr algn="l" indent="0" marL="0">
              <a:buNone/>
            </a:pPr>
            <a:r>
              <a:rPr lang="en-US" sz="1496" dirty="0">
                <a:solidFill>
                  <a:srgbClr val="22D3EE"/>
                </a:solidFill>
                <a:latin typeface="Courier New" pitchFamily="34" charset="0"/>
                <a:ea typeface="Courier New" pitchFamily="34" charset="-122"/>
                <a:cs typeface="Courier New" pitchFamily="34" charset="-120"/>
              </a:rPr>
              <a:t>202 Accepted</a:t>
            </a:r>
            <a:endParaRPr lang="en-US" sz="1496" dirty="0"/>
          </a:p>
        </p:txBody>
      </p:sp>
      <p:sp>
        <p:nvSpPr>
          <p:cNvPr id="12" name="Shape 10"/>
          <p:cNvSpPr/>
          <p:nvPr/>
        </p:nvSpPr>
        <p:spPr>
          <a:xfrm>
            <a:off x="405384" y="1828800"/>
            <a:ext cx="5831651" cy="1066800"/>
          </a:xfrm>
          <a:prstGeom prst="roundRect">
            <a:avLst>
              <a:gd name="adj" fmla="val 1117"/>
            </a:avLst>
          </a:prstGeom>
          <a:solidFill>
            <a:srgbClr val="1E293B"/>
          </a:solidFill>
          <a:ln/>
        </p:spPr>
      </p:sp>
      <p:sp>
        <p:nvSpPr>
          <p:cNvPr id="13" name="Shape 11"/>
          <p:cNvSpPr/>
          <p:nvPr/>
        </p:nvSpPr>
        <p:spPr>
          <a:xfrm>
            <a:off x="506730" y="2222500"/>
            <a:ext cx="582740" cy="279400"/>
          </a:xfrm>
          <a:prstGeom prst="roundRect">
            <a:avLst>
              <a:gd name="adj" fmla="val 28458"/>
            </a:avLst>
          </a:prstGeom>
          <a:solidFill>
            <a:srgbClr val="22D3EE"/>
          </a:solidFill>
          <a:ln/>
        </p:spPr>
      </p:sp>
      <p:sp>
        <p:nvSpPr>
          <p:cNvPr id="14" name="Text 12"/>
          <p:cNvSpPr txBox="1"/>
          <p:nvPr/>
        </p:nvSpPr>
        <p:spPr>
          <a:xfrm>
            <a:off x="608076" y="2247900"/>
            <a:ext cx="380048"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GET</a:t>
            </a:r>
            <a:endParaRPr lang="en-US" sz="1496" dirty="0"/>
          </a:p>
        </p:txBody>
      </p:sp>
      <p:sp>
        <p:nvSpPr>
          <p:cNvPr id="15" name="Text 13"/>
          <p:cNvSpPr txBox="1"/>
          <p:nvPr/>
        </p:nvSpPr>
        <p:spPr>
          <a:xfrm>
            <a:off x="1216152" y="2133600"/>
            <a:ext cx="395655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ourier New" pitchFamily="34" charset="0"/>
                <a:ea typeface="Courier New" pitchFamily="34" charset="-122"/>
                <a:cs typeface="Courier New" pitchFamily="34" charset="-120"/>
              </a:rPr>
              <a:t>/api/v1/render/{job_id}/status</a:t>
            </a:r>
            <a:endParaRPr lang="en-US" sz="1496" dirty="0"/>
          </a:p>
        </p:txBody>
      </p:sp>
      <p:sp>
        <p:nvSpPr>
          <p:cNvPr id="16" name="Text 14"/>
          <p:cNvSpPr txBox="1"/>
          <p:nvPr/>
        </p:nvSpPr>
        <p:spPr>
          <a:xfrm>
            <a:off x="1216152" y="2362200"/>
            <a:ext cx="3956552"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Poll render progress (0-100%)</a:t>
            </a:r>
            <a:endParaRPr lang="en-US" sz="1496" dirty="0"/>
          </a:p>
        </p:txBody>
      </p:sp>
      <p:sp>
        <p:nvSpPr>
          <p:cNvPr id="17" name="Shape 15"/>
          <p:cNvSpPr/>
          <p:nvPr/>
        </p:nvSpPr>
        <p:spPr>
          <a:xfrm>
            <a:off x="5299386" y="2222500"/>
            <a:ext cx="836302" cy="279400"/>
          </a:xfrm>
          <a:prstGeom prst="roundRect">
            <a:avLst>
              <a:gd name="adj" fmla="val 19830"/>
            </a:avLst>
          </a:prstGeom>
          <a:solidFill>
            <a:srgbClr val="334155"/>
          </a:solidFill>
          <a:ln/>
        </p:spPr>
      </p:sp>
      <p:sp>
        <p:nvSpPr>
          <p:cNvPr id="18" name="Text 16"/>
          <p:cNvSpPr txBox="1"/>
          <p:nvPr/>
        </p:nvSpPr>
        <p:spPr>
          <a:xfrm>
            <a:off x="5375396" y="2247900"/>
            <a:ext cx="684283" cy="228600"/>
          </a:xfrm>
          <a:prstGeom prst="rect">
            <a:avLst/>
          </a:prstGeom>
          <a:noFill/>
          <a:ln/>
        </p:spPr>
        <p:txBody>
          <a:bodyPr wrap="square" lIns="0" tIns="0" rIns="0" bIns="0" rtlCol="0" anchor="ctr"/>
          <a:lstStyle/>
          <a:p>
            <a:pPr algn="l" indent="0" marL="0">
              <a:buNone/>
            </a:pPr>
            <a:r>
              <a:rPr lang="en-US" sz="1496" dirty="0">
                <a:solidFill>
                  <a:srgbClr val="22D3EE"/>
                </a:solidFill>
                <a:latin typeface="Courier New" pitchFamily="34" charset="0"/>
                <a:ea typeface="Courier New" pitchFamily="34" charset="-122"/>
                <a:cs typeface="Courier New" pitchFamily="34" charset="-120"/>
              </a:rPr>
              <a:t>200 OK</a:t>
            </a:r>
            <a:endParaRPr lang="en-US" sz="1496" dirty="0"/>
          </a:p>
        </p:txBody>
      </p:sp>
      <p:sp>
        <p:nvSpPr>
          <p:cNvPr id="19" name="Shape 17"/>
          <p:cNvSpPr/>
          <p:nvPr/>
        </p:nvSpPr>
        <p:spPr>
          <a:xfrm>
            <a:off x="405384" y="2971800"/>
            <a:ext cx="5831651" cy="1066800"/>
          </a:xfrm>
          <a:prstGeom prst="roundRect">
            <a:avLst>
              <a:gd name="adj" fmla="val 1117"/>
            </a:avLst>
          </a:prstGeom>
          <a:solidFill>
            <a:srgbClr val="1E293B"/>
          </a:solidFill>
          <a:ln/>
        </p:spPr>
      </p:sp>
      <p:sp>
        <p:nvSpPr>
          <p:cNvPr id="20" name="Shape 18"/>
          <p:cNvSpPr/>
          <p:nvPr/>
        </p:nvSpPr>
        <p:spPr>
          <a:xfrm>
            <a:off x="506730" y="3365500"/>
            <a:ext cx="582740" cy="279400"/>
          </a:xfrm>
          <a:prstGeom prst="roundRect">
            <a:avLst>
              <a:gd name="adj" fmla="val 28458"/>
            </a:avLst>
          </a:prstGeom>
          <a:solidFill>
            <a:srgbClr val="22D3EE"/>
          </a:solidFill>
          <a:ln/>
        </p:spPr>
      </p:sp>
      <p:sp>
        <p:nvSpPr>
          <p:cNvPr id="21" name="Text 19"/>
          <p:cNvSpPr txBox="1"/>
          <p:nvPr/>
        </p:nvSpPr>
        <p:spPr>
          <a:xfrm>
            <a:off x="608076" y="3390900"/>
            <a:ext cx="380048"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GET</a:t>
            </a:r>
            <a:endParaRPr lang="en-US" sz="1496" dirty="0"/>
          </a:p>
        </p:txBody>
      </p:sp>
      <p:sp>
        <p:nvSpPr>
          <p:cNvPr id="22" name="Text 20"/>
          <p:cNvSpPr txBox="1"/>
          <p:nvPr/>
        </p:nvSpPr>
        <p:spPr>
          <a:xfrm>
            <a:off x="1216152" y="3162300"/>
            <a:ext cx="395655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ourier New" pitchFamily="34" charset="0"/>
                <a:ea typeface="Courier New" pitchFamily="34" charset="-122"/>
                <a:cs typeface="Courier New" pitchFamily="34" charset="-120"/>
              </a:rPr>
              <a:t>/api/v1/render/{job_id}/preview</a:t>
            </a:r>
            <a:endParaRPr lang="en-US" sz="1496" dirty="0"/>
          </a:p>
        </p:txBody>
      </p:sp>
      <p:sp>
        <p:nvSpPr>
          <p:cNvPr id="23" name="Text 21"/>
          <p:cNvSpPr txBox="1"/>
          <p:nvPr/>
        </p:nvSpPr>
        <p:spPr>
          <a:xfrm>
            <a:off x="1216152" y="3390900"/>
            <a:ext cx="3956552"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Retrieve pre-signed S3 URL (1-hour expiry)</a:t>
            </a:r>
            <a:endParaRPr lang="en-US" sz="1496" dirty="0"/>
          </a:p>
        </p:txBody>
      </p:sp>
      <p:sp>
        <p:nvSpPr>
          <p:cNvPr id="24" name="Shape 22"/>
          <p:cNvSpPr/>
          <p:nvPr/>
        </p:nvSpPr>
        <p:spPr>
          <a:xfrm>
            <a:off x="5299386" y="3365500"/>
            <a:ext cx="836302" cy="279400"/>
          </a:xfrm>
          <a:prstGeom prst="roundRect">
            <a:avLst>
              <a:gd name="adj" fmla="val 19830"/>
            </a:avLst>
          </a:prstGeom>
          <a:solidFill>
            <a:srgbClr val="334155"/>
          </a:solidFill>
          <a:ln/>
        </p:spPr>
      </p:sp>
      <p:sp>
        <p:nvSpPr>
          <p:cNvPr id="25" name="Text 23"/>
          <p:cNvSpPr txBox="1"/>
          <p:nvPr/>
        </p:nvSpPr>
        <p:spPr>
          <a:xfrm>
            <a:off x="5375396" y="3390900"/>
            <a:ext cx="684283" cy="228600"/>
          </a:xfrm>
          <a:prstGeom prst="rect">
            <a:avLst/>
          </a:prstGeom>
          <a:noFill/>
          <a:ln/>
        </p:spPr>
        <p:txBody>
          <a:bodyPr wrap="square" lIns="0" tIns="0" rIns="0" bIns="0" rtlCol="0" anchor="ctr"/>
          <a:lstStyle/>
          <a:p>
            <a:pPr algn="l" indent="0" marL="0">
              <a:buNone/>
            </a:pPr>
            <a:r>
              <a:rPr lang="en-US" sz="1496" dirty="0">
                <a:solidFill>
                  <a:srgbClr val="22D3EE"/>
                </a:solidFill>
                <a:latin typeface="Courier New" pitchFamily="34" charset="0"/>
                <a:ea typeface="Courier New" pitchFamily="34" charset="-122"/>
                <a:cs typeface="Courier New" pitchFamily="34" charset="-120"/>
              </a:rPr>
              <a:t>200 OK</a:t>
            </a:r>
            <a:endParaRPr lang="en-US" sz="1496" dirty="0"/>
          </a:p>
        </p:txBody>
      </p:sp>
      <p:sp>
        <p:nvSpPr>
          <p:cNvPr id="26" name="Shape 24"/>
          <p:cNvSpPr/>
          <p:nvPr/>
        </p:nvSpPr>
        <p:spPr>
          <a:xfrm>
            <a:off x="405384" y="4114800"/>
            <a:ext cx="5831651" cy="1066800"/>
          </a:xfrm>
          <a:prstGeom prst="roundRect">
            <a:avLst>
              <a:gd name="adj" fmla="val 1117"/>
            </a:avLst>
          </a:prstGeom>
          <a:solidFill>
            <a:srgbClr val="1E293B"/>
          </a:solidFill>
          <a:ln/>
        </p:spPr>
      </p:sp>
      <p:sp>
        <p:nvSpPr>
          <p:cNvPr id="27" name="Shape 25"/>
          <p:cNvSpPr/>
          <p:nvPr/>
        </p:nvSpPr>
        <p:spPr>
          <a:xfrm>
            <a:off x="506730" y="4508500"/>
            <a:ext cx="582740" cy="279400"/>
          </a:xfrm>
          <a:prstGeom prst="roundRect">
            <a:avLst>
              <a:gd name="adj" fmla="val 28458"/>
            </a:avLst>
          </a:prstGeom>
          <a:solidFill>
            <a:srgbClr val="22D3EE"/>
          </a:solidFill>
          <a:ln/>
        </p:spPr>
      </p:sp>
      <p:sp>
        <p:nvSpPr>
          <p:cNvPr id="28" name="Text 26"/>
          <p:cNvSpPr txBox="1"/>
          <p:nvPr/>
        </p:nvSpPr>
        <p:spPr>
          <a:xfrm>
            <a:off x="608076" y="4533900"/>
            <a:ext cx="380048"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GET</a:t>
            </a:r>
            <a:endParaRPr lang="en-US" sz="1496" dirty="0"/>
          </a:p>
        </p:txBody>
      </p:sp>
      <p:sp>
        <p:nvSpPr>
          <p:cNvPr id="29" name="Text 27"/>
          <p:cNvSpPr txBox="1"/>
          <p:nvPr/>
        </p:nvSpPr>
        <p:spPr>
          <a:xfrm>
            <a:off x="1216152" y="4419600"/>
            <a:ext cx="395655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ourier New" pitchFamily="34" charset="0"/>
                <a:ea typeface="Courier New" pitchFamily="34" charset="-122"/>
                <a:cs typeface="Courier New" pitchFamily="34" charset="-120"/>
              </a:rPr>
              <a:t>/api/v1/elements</a:t>
            </a:r>
            <a:endParaRPr lang="en-US" sz="1496" dirty="0"/>
          </a:p>
        </p:txBody>
      </p:sp>
      <p:sp>
        <p:nvSpPr>
          <p:cNvPr id="30" name="Text 28"/>
          <p:cNvSpPr txBox="1"/>
          <p:nvPr/>
        </p:nvSpPr>
        <p:spPr>
          <a:xfrm>
            <a:off x="1216152" y="4648200"/>
            <a:ext cx="3956552"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List available elements from catalog</a:t>
            </a:r>
            <a:endParaRPr lang="en-US" sz="1496" dirty="0"/>
          </a:p>
        </p:txBody>
      </p:sp>
      <p:sp>
        <p:nvSpPr>
          <p:cNvPr id="31" name="Shape 29"/>
          <p:cNvSpPr/>
          <p:nvPr/>
        </p:nvSpPr>
        <p:spPr>
          <a:xfrm>
            <a:off x="5299386" y="4508500"/>
            <a:ext cx="836302" cy="279400"/>
          </a:xfrm>
          <a:prstGeom prst="roundRect">
            <a:avLst>
              <a:gd name="adj" fmla="val 19830"/>
            </a:avLst>
          </a:prstGeom>
          <a:solidFill>
            <a:srgbClr val="334155"/>
          </a:solidFill>
          <a:ln/>
        </p:spPr>
      </p:sp>
      <p:sp>
        <p:nvSpPr>
          <p:cNvPr id="32" name="Text 30"/>
          <p:cNvSpPr txBox="1"/>
          <p:nvPr/>
        </p:nvSpPr>
        <p:spPr>
          <a:xfrm>
            <a:off x="5375396" y="4533900"/>
            <a:ext cx="684283" cy="228600"/>
          </a:xfrm>
          <a:prstGeom prst="rect">
            <a:avLst/>
          </a:prstGeom>
          <a:noFill/>
          <a:ln/>
        </p:spPr>
        <p:txBody>
          <a:bodyPr wrap="square" lIns="0" tIns="0" rIns="0" bIns="0" rtlCol="0" anchor="ctr"/>
          <a:lstStyle/>
          <a:p>
            <a:pPr algn="l" indent="0" marL="0">
              <a:buNone/>
            </a:pPr>
            <a:r>
              <a:rPr lang="en-US" sz="1496" dirty="0">
                <a:solidFill>
                  <a:srgbClr val="22D3EE"/>
                </a:solidFill>
                <a:latin typeface="Courier New" pitchFamily="34" charset="0"/>
                <a:ea typeface="Courier New" pitchFamily="34" charset="-122"/>
                <a:cs typeface="Courier New" pitchFamily="34" charset="-120"/>
              </a:rPr>
              <a:t>200 OK</a:t>
            </a:r>
            <a:endParaRPr lang="en-US" sz="1496" dirty="0"/>
          </a:p>
        </p:txBody>
      </p:sp>
      <p:sp>
        <p:nvSpPr>
          <p:cNvPr id="33" name="Shape 31"/>
          <p:cNvSpPr/>
          <p:nvPr/>
        </p:nvSpPr>
        <p:spPr>
          <a:xfrm>
            <a:off x="405384" y="5257800"/>
            <a:ext cx="5831651" cy="1066800"/>
          </a:xfrm>
          <a:prstGeom prst="roundRect">
            <a:avLst>
              <a:gd name="adj" fmla="val 1117"/>
            </a:avLst>
          </a:prstGeom>
          <a:solidFill>
            <a:srgbClr val="1E293B"/>
          </a:solidFill>
          <a:ln/>
        </p:spPr>
      </p:sp>
      <p:sp>
        <p:nvSpPr>
          <p:cNvPr id="34" name="Shape 32"/>
          <p:cNvSpPr/>
          <p:nvPr/>
        </p:nvSpPr>
        <p:spPr>
          <a:xfrm>
            <a:off x="506730" y="5651500"/>
            <a:ext cx="962787" cy="279400"/>
          </a:xfrm>
          <a:prstGeom prst="roundRect">
            <a:avLst>
              <a:gd name="adj" fmla="val 17225"/>
            </a:avLst>
          </a:prstGeom>
          <a:solidFill>
            <a:srgbClr val="EF4444"/>
          </a:solidFill>
          <a:ln/>
        </p:spPr>
      </p:sp>
      <p:sp>
        <p:nvSpPr>
          <p:cNvPr id="35" name="Text 33"/>
          <p:cNvSpPr txBox="1"/>
          <p:nvPr/>
        </p:nvSpPr>
        <p:spPr>
          <a:xfrm>
            <a:off x="608076" y="5676900"/>
            <a:ext cx="76009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DELETE</a:t>
            </a:r>
            <a:endParaRPr lang="en-US" sz="1496" dirty="0"/>
          </a:p>
        </p:txBody>
      </p:sp>
      <p:sp>
        <p:nvSpPr>
          <p:cNvPr id="36" name="Text 34"/>
          <p:cNvSpPr txBox="1"/>
          <p:nvPr/>
        </p:nvSpPr>
        <p:spPr>
          <a:xfrm>
            <a:off x="1596200" y="5448300"/>
            <a:ext cx="266429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ourier New" pitchFamily="34" charset="0"/>
                <a:ea typeface="Courier New" pitchFamily="34" charset="-122"/>
                <a:cs typeface="Courier New" pitchFamily="34" charset="-120"/>
              </a:rPr>
              <a:t>/api/v1/render/{job_id}</a:t>
            </a:r>
            <a:endParaRPr lang="en-US" sz="1496" dirty="0"/>
          </a:p>
        </p:txBody>
      </p:sp>
      <p:sp>
        <p:nvSpPr>
          <p:cNvPr id="37" name="Text 35"/>
          <p:cNvSpPr txBox="1"/>
          <p:nvPr/>
        </p:nvSpPr>
        <p:spPr>
          <a:xfrm>
            <a:off x="1596200" y="5676900"/>
            <a:ext cx="2664291"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Cancel or delete a render job</a:t>
            </a:r>
            <a:endParaRPr lang="en-US" sz="1496" dirty="0"/>
          </a:p>
        </p:txBody>
      </p:sp>
      <p:sp>
        <p:nvSpPr>
          <p:cNvPr id="38" name="Shape 36"/>
          <p:cNvSpPr/>
          <p:nvPr/>
        </p:nvSpPr>
        <p:spPr>
          <a:xfrm>
            <a:off x="4387173" y="5651500"/>
            <a:ext cx="1748515" cy="279400"/>
          </a:xfrm>
          <a:prstGeom prst="roundRect">
            <a:avLst>
              <a:gd name="adj" fmla="val 9485"/>
            </a:avLst>
          </a:prstGeom>
          <a:solidFill>
            <a:srgbClr val="334155"/>
          </a:solidFill>
          <a:ln/>
        </p:spPr>
      </p:sp>
      <p:sp>
        <p:nvSpPr>
          <p:cNvPr id="39" name="Text 37"/>
          <p:cNvSpPr txBox="1"/>
          <p:nvPr/>
        </p:nvSpPr>
        <p:spPr>
          <a:xfrm>
            <a:off x="4463183" y="5676900"/>
            <a:ext cx="1596496" cy="228600"/>
          </a:xfrm>
          <a:prstGeom prst="rect">
            <a:avLst/>
          </a:prstGeom>
          <a:noFill/>
          <a:ln/>
        </p:spPr>
        <p:txBody>
          <a:bodyPr wrap="square" lIns="0" tIns="0" rIns="0" bIns="0" rtlCol="0" anchor="ctr"/>
          <a:lstStyle/>
          <a:p>
            <a:pPr algn="l" indent="0" marL="0">
              <a:buNone/>
            </a:pPr>
            <a:r>
              <a:rPr lang="en-US" sz="1496" dirty="0">
                <a:solidFill>
                  <a:srgbClr val="22D3EE"/>
                </a:solidFill>
                <a:latin typeface="Courier New" pitchFamily="34" charset="0"/>
                <a:ea typeface="Courier New" pitchFamily="34" charset="-122"/>
                <a:cs typeface="Courier New" pitchFamily="34" charset="-120"/>
              </a:rPr>
              <a:t>204 No Content</a:t>
            </a:r>
            <a:endParaRPr lang="en-US" sz="1496" dirty="0"/>
          </a:p>
        </p:txBody>
      </p:sp>
      <p:sp>
        <p:nvSpPr>
          <p:cNvPr id="40" name="Shape 38"/>
          <p:cNvSpPr/>
          <p:nvPr/>
        </p:nvSpPr>
        <p:spPr>
          <a:xfrm>
            <a:off x="6389054" y="685800"/>
            <a:ext cx="5367082" cy="5638800"/>
          </a:xfrm>
          <a:prstGeom prst="roundRect">
            <a:avLst>
              <a:gd name="adj" fmla="val 230"/>
            </a:avLst>
          </a:prstGeom>
          <a:solidFill>
            <a:srgbClr val="1E293B"/>
          </a:solidFill>
          <a:ln/>
        </p:spPr>
      </p:sp>
      <p:sp>
        <p:nvSpPr>
          <p:cNvPr id="41" name="Text 39"/>
          <p:cNvSpPr txBox="1"/>
          <p:nvPr/>
        </p:nvSpPr>
        <p:spPr>
          <a:xfrm>
            <a:off x="6541073" y="838200"/>
            <a:ext cx="5063044"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Async Render Lifecycle</a:t>
            </a:r>
            <a:endParaRPr lang="en-US" sz="1795" dirty="0"/>
          </a:p>
        </p:txBody>
      </p:sp>
      <p:sp>
        <p:nvSpPr>
          <p:cNvPr id="42" name="Shape 40"/>
          <p:cNvSpPr/>
          <p:nvPr/>
        </p:nvSpPr>
        <p:spPr>
          <a:xfrm>
            <a:off x="6541073" y="2159000"/>
            <a:ext cx="253365" cy="254000"/>
          </a:xfrm>
          <a:prstGeom prst="roundRect">
            <a:avLst>
              <a:gd name="adj" fmla="val 90216541"/>
            </a:avLst>
          </a:prstGeom>
          <a:solidFill>
            <a:srgbClr val="6366F1"/>
          </a:solidFill>
          <a:ln/>
        </p:spPr>
      </p:sp>
      <p:sp>
        <p:nvSpPr>
          <p:cNvPr id="43" name="Text 41"/>
          <p:cNvSpPr txBox="1"/>
          <p:nvPr/>
        </p:nvSpPr>
        <p:spPr>
          <a:xfrm>
            <a:off x="6632918" y="2171700"/>
            <a:ext cx="6967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1</a:t>
            </a:r>
            <a:endParaRPr lang="en-US" sz="1496" dirty="0"/>
          </a:p>
        </p:txBody>
      </p:sp>
      <p:sp>
        <p:nvSpPr>
          <p:cNvPr id="44" name="Text 42"/>
          <p:cNvSpPr txBox="1"/>
          <p:nvPr/>
        </p:nvSpPr>
        <p:spPr>
          <a:xfrm>
            <a:off x="6870447" y="2171700"/>
            <a:ext cx="4009501"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POST /render → validates file &amp; element_id</a:t>
            </a:r>
            <a:endParaRPr lang="en-US" sz="1496" dirty="0"/>
          </a:p>
        </p:txBody>
      </p:sp>
      <p:sp>
        <p:nvSpPr>
          <p:cNvPr id="45" name="Shape 43"/>
          <p:cNvSpPr/>
          <p:nvPr/>
        </p:nvSpPr>
        <p:spPr>
          <a:xfrm>
            <a:off x="6541073" y="2489200"/>
            <a:ext cx="253365" cy="254000"/>
          </a:xfrm>
          <a:prstGeom prst="roundRect">
            <a:avLst>
              <a:gd name="adj" fmla="val 90216541"/>
            </a:avLst>
          </a:prstGeom>
          <a:solidFill>
            <a:srgbClr val="6366F1"/>
          </a:solidFill>
          <a:ln/>
        </p:spPr>
      </p:sp>
      <p:sp>
        <p:nvSpPr>
          <p:cNvPr id="46" name="Text 44"/>
          <p:cNvSpPr txBox="1"/>
          <p:nvPr/>
        </p:nvSpPr>
        <p:spPr>
          <a:xfrm>
            <a:off x="6613915" y="2501900"/>
            <a:ext cx="10768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2</a:t>
            </a:r>
            <a:endParaRPr lang="en-US" sz="1496" dirty="0"/>
          </a:p>
        </p:txBody>
      </p:sp>
      <p:sp>
        <p:nvSpPr>
          <p:cNvPr id="47" name="Text 45"/>
          <p:cNvSpPr txBox="1"/>
          <p:nvPr/>
        </p:nvSpPr>
        <p:spPr>
          <a:xfrm>
            <a:off x="6870447" y="2501900"/>
            <a:ext cx="3540776"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Artwork stored in S3 (KMS encrypted)</a:t>
            </a:r>
            <a:endParaRPr lang="en-US" sz="1496" dirty="0"/>
          </a:p>
        </p:txBody>
      </p:sp>
      <p:sp>
        <p:nvSpPr>
          <p:cNvPr id="48" name="Shape 46"/>
          <p:cNvSpPr/>
          <p:nvPr/>
        </p:nvSpPr>
        <p:spPr>
          <a:xfrm>
            <a:off x="6541073" y="2819400"/>
            <a:ext cx="253365" cy="254000"/>
          </a:xfrm>
          <a:prstGeom prst="roundRect">
            <a:avLst>
              <a:gd name="adj" fmla="val 90216541"/>
            </a:avLst>
          </a:prstGeom>
          <a:solidFill>
            <a:srgbClr val="6366F1"/>
          </a:solidFill>
          <a:ln/>
        </p:spPr>
      </p:sp>
      <p:sp>
        <p:nvSpPr>
          <p:cNvPr id="49" name="Text 47"/>
          <p:cNvSpPr txBox="1"/>
          <p:nvPr/>
        </p:nvSpPr>
        <p:spPr>
          <a:xfrm>
            <a:off x="6613915" y="2832100"/>
            <a:ext cx="10768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3</a:t>
            </a:r>
            <a:endParaRPr lang="en-US" sz="1496" dirty="0"/>
          </a:p>
        </p:txBody>
      </p:sp>
      <p:sp>
        <p:nvSpPr>
          <p:cNvPr id="50" name="Text 48"/>
          <p:cNvSpPr txBox="1"/>
          <p:nvPr/>
        </p:nvSpPr>
        <p:spPr>
          <a:xfrm>
            <a:off x="6870447" y="2832100"/>
            <a:ext cx="362945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Job created in DynamoDB (PENDING)</a:t>
            </a:r>
            <a:endParaRPr lang="en-US" sz="1496" dirty="0"/>
          </a:p>
        </p:txBody>
      </p:sp>
      <p:sp>
        <p:nvSpPr>
          <p:cNvPr id="51" name="Shape 49"/>
          <p:cNvSpPr/>
          <p:nvPr/>
        </p:nvSpPr>
        <p:spPr>
          <a:xfrm>
            <a:off x="6541073" y="3149600"/>
            <a:ext cx="253365" cy="254000"/>
          </a:xfrm>
          <a:prstGeom prst="roundRect">
            <a:avLst>
              <a:gd name="adj" fmla="val 90216541"/>
            </a:avLst>
          </a:prstGeom>
          <a:solidFill>
            <a:srgbClr val="6366F1"/>
          </a:solidFill>
          <a:ln/>
        </p:spPr>
      </p:sp>
      <p:sp>
        <p:nvSpPr>
          <p:cNvPr id="52" name="Text 50"/>
          <p:cNvSpPr txBox="1"/>
          <p:nvPr/>
        </p:nvSpPr>
        <p:spPr>
          <a:xfrm>
            <a:off x="6604414" y="3162300"/>
            <a:ext cx="12668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4</a:t>
            </a:r>
            <a:endParaRPr lang="en-US" sz="1496" dirty="0"/>
          </a:p>
        </p:txBody>
      </p:sp>
      <p:sp>
        <p:nvSpPr>
          <p:cNvPr id="53" name="Text 51"/>
          <p:cNvSpPr txBox="1"/>
          <p:nvPr/>
        </p:nvSpPr>
        <p:spPr>
          <a:xfrm>
            <a:off x="6870447" y="3162300"/>
            <a:ext cx="4072842"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Message enqueued to SQS → 202 returned</a:t>
            </a:r>
            <a:endParaRPr lang="en-US" sz="1496" dirty="0"/>
          </a:p>
        </p:txBody>
      </p:sp>
      <p:sp>
        <p:nvSpPr>
          <p:cNvPr id="54" name="Shape 52"/>
          <p:cNvSpPr/>
          <p:nvPr/>
        </p:nvSpPr>
        <p:spPr>
          <a:xfrm>
            <a:off x="6541073" y="3479800"/>
            <a:ext cx="5063044" cy="381000"/>
          </a:xfrm>
          <a:prstGeom prst="roundRect">
            <a:avLst>
              <a:gd name="adj" fmla="val 2402"/>
            </a:avLst>
          </a:prstGeom>
          <a:noFill/>
          <a:ln w="12668">
            <a:solidFill>
              <a:srgbClr val="22D3EE"/>
            </a:solidFill>
            <a:prstDash val="solid"/>
          </a:ln>
        </p:spPr>
      </p:sp>
      <p:sp>
        <p:nvSpPr>
          <p:cNvPr id="55" name="Shape 53"/>
          <p:cNvSpPr/>
          <p:nvPr/>
        </p:nvSpPr>
        <p:spPr>
          <a:xfrm>
            <a:off x="6604414" y="3543300"/>
            <a:ext cx="253365" cy="254000"/>
          </a:xfrm>
          <a:prstGeom prst="roundRect">
            <a:avLst>
              <a:gd name="adj" fmla="val 90216541"/>
            </a:avLst>
          </a:prstGeom>
          <a:solidFill>
            <a:srgbClr val="22D3EE"/>
          </a:solidFill>
          <a:ln/>
        </p:spPr>
      </p:sp>
      <p:sp>
        <p:nvSpPr>
          <p:cNvPr id="56" name="Text 54"/>
          <p:cNvSpPr txBox="1"/>
          <p:nvPr/>
        </p:nvSpPr>
        <p:spPr>
          <a:xfrm>
            <a:off x="6677256" y="3556000"/>
            <a:ext cx="107680"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5</a:t>
            </a:r>
            <a:endParaRPr lang="en-US" sz="1496" dirty="0"/>
          </a:p>
        </p:txBody>
      </p:sp>
      <p:sp>
        <p:nvSpPr>
          <p:cNvPr id="57" name="Text 55"/>
          <p:cNvSpPr txBox="1"/>
          <p:nvPr/>
        </p:nvSpPr>
        <p:spPr>
          <a:xfrm>
            <a:off x="6933788" y="3556000"/>
            <a:ext cx="3730800"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Designer keeps working — not blocked</a:t>
            </a:r>
            <a:endParaRPr lang="en-US" sz="1496" dirty="0"/>
          </a:p>
        </p:txBody>
      </p:sp>
      <p:sp>
        <p:nvSpPr>
          <p:cNvPr id="58" name="Shape 56"/>
          <p:cNvSpPr/>
          <p:nvPr/>
        </p:nvSpPr>
        <p:spPr>
          <a:xfrm>
            <a:off x="6541073" y="3937000"/>
            <a:ext cx="253365" cy="254000"/>
          </a:xfrm>
          <a:prstGeom prst="roundRect">
            <a:avLst>
              <a:gd name="adj" fmla="val 90216541"/>
            </a:avLst>
          </a:prstGeom>
          <a:solidFill>
            <a:srgbClr val="6366F1"/>
          </a:solidFill>
          <a:ln/>
        </p:spPr>
      </p:sp>
      <p:sp>
        <p:nvSpPr>
          <p:cNvPr id="59" name="Text 57"/>
          <p:cNvSpPr txBox="1"/>
          <p:nvPr/>
        </p:nvSpPr>
        <p:spPr>
          <a:xfrm>
            <a:off x="6610748" y="3949700"/>
            <a:ext cx="11401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6</a:t>
            </a:r>
            <a:endParaRPr lang="en-US" sz="1496" dirty="0"/>
          </a:p>
        </p:txBody>
      </p:sp>
      <p:sp>
        <p:nvSpPr>
          <p:cNvPr id="60" name="Text 58"/>
          <p:cNvSpPr txBox="1"/>
          <p:nvPr/>
        </p:nvSpPr>
        <p:spPr>
          <a:xfrm>
            <a:off x="6870447" y="3949700"/>
            <a:ext cx="420585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Worker polls SQS → renders → uploads to S3</a:t>
            </a:r>
            <a:endParaRPr lang="en-US" sz="1496" dirty="0"/>
          </a:p>
        </p:txBody>
      </p:sp>
      <p:sp>
        <p:nvSpPr>
          <p:cNvPr id="61" name="Shape 59"/>
          <p:cNvSpPr/>
          <p:nvPr/>
        </p:nvSpPr>
        <p:spPr>
          <a:xfrm>
            <a:off x="6541073" y="4267200"/>
            <a:ext cx="253365" cy="254000"/>
          </a:xfrm>
          <a:prstGeom prst="roundRect">
            <a:avLst>
              <a:gd name="adj" fmla="val 90216541"/>
            </a:avLst>
          </a:prstGeom>
          <a:solidFill>
            <a:srgbClr val="6366F1"/>
          </a:solidFill>
          <a:ln/>
        </p:spPr>
      </p:sp>
      <p:sp>
        <p:nvSpPr>
          <p:cNvPr id="62" name="Text 60"/>
          <p:cNvSpPr txBox="1"/>
          <p:nvPr/>
        </p:nvSpPr>
        <p:spPr>
          <a:xfrm>
            <a:off x="6610748" y="4279900"/>
            <a:ext cx="11401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7</a:t>
            </a:r>
            <a:endParaRPr lang="en-US" sz="1496" dirty="0"/>
          </a:p>
        </p:txBody>
      </p:sp>
      <p:sp>
        <p:nvSpPr>
          <p:cNvPr id="63" name="Text 61"/>
          <p:cNvSpPr txBox="1"/>
          <p:nvPr/>
        </p:nvSpPr>
        <p:spPr>
          <a:xfrm>
            <a:off x="6870447" y="4279900"/>
            <a:ext cx="445289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GET /preview → pre-signed URL via CloudFront</a:t>
            </a:r>
            <a:endParaRPr lang="en-US" sz="1496" dirty="0"/>
          </a:p>
        </p:txBody>
      </p:sp>
      <p:sp>
        <p:nvSpPr>
          <p:cNvPr id="64" name="Shape 62"/>
          <p:cNvSpPr/>
          <p:nvPr/>
        </p:nvSpPr>
        <p:spPr>
          <a:xfrm>
            <a:off x="6541073" y="5562600"/>
            <a:ext cx="5063044" cy="609600"/>
          </a:xfrm>
          <a:prstGeom prst="roundRect">
            <a:avLst>
              <a:gd name="adj" fmla="val 1501"/>
            </a:avLst>
          </a:prstGeom>
          <a:solidFill>
            <a:srgbClr val="334155"/>
          </a:solidFill>
          <a:ln/>
        </p:spPr>
      </p:sp>
      <p:pic>
        <p:nvPicPr>
          <p:cNvPr id="65" name="Image 0" descr="preencoded.png">    </p:cNvPr>
          <p:cNvPicPr>
            <a:picLocks noChangeAspect="1"/>
          </p:cNvPicPr>
          <p:nvPr/>
        </p:nvPicPr>
        <p:blipFill>
          <a:blip r:embed="rId1"/>
          <a:srcRect l="0" r="0" t="0" b="0"/>
          <a:stretch/>
        </p:blipFill>
        <p:spPr>
          <a:xfrm>
            <a:off x="6617082" y="5765800"/>
            <a:ext cx="202692" cy="203200"/>
          </a:xfrm>
          <a:prstGeom prst="rect">
            <a:avLst/>
          </a:prstGeom>
        </p:spPr>
      </p:pic>
      <p:sp>
        <p:nvSpPr>
          <p:cNvPr id="66" name="Text 63"/>
          <p:cNvSpPr txBox="1"/>
          <p:nvPr/>
        </p:nvSpPr>
        <p:spPr>
          <a:xfrm>
            <a:off x="6895784" y="5638800"/>
            <a:ext cx="4632324"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Pydantic validates all requests before reaching the queue</a:t>
            </a:r>
            <a:endParaRPr lang="en-US" sz="1496" dirty="0"/>
          </a:p>
        </p:txBody>
      </p:sp>
      <p:sp>
        <p:nvSpPr>
          <p:cNvPr id="67" name="Text 64"/>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68" name="Text 65"/>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691211" cy="279400"/>
          </a:xfrm>
          <a:prstGeom prst="roundRect">
            <a:avLst>
              <a:gd name="adj" fmla="val 12256180"/>
            </a:avLst>
          </a:prstGeom>
          <a:solidFill>
            <a:srgbClr val="6366F1"/>
          </a:solidFill>
          <a:ln/>
        </p:spPr>
      </p:sp>
      <p:sp>
        <p:nvSpPr>
          <p:cNvPr id="3" name="Text 1"/>
          <p:cNvSpPr txBox="1"/>
          <p:nvPr/>
        </p:nvSpPr>
        <p:spPr>
          <a:xfrm>
            <a:off x="532067" y="279400"/>
            <a:ext cx="143784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Security</a:t>
            </a:r>
            <a:endParaRPr lang="en-US" sz="1496" dirty="0"/>
          </a:p>
        </p:txBody>
      </p:sp>
      <p:sp>
        <p:nvSpPr>
          <p:cNvPr id="4" name="Text 2"/>
          <p:cNvSpPr txBox="1"/>
          <p:nvPr/>
        </p:nvSpPr>
        <p:spPr>
          <a:xfrm>
            <a:off x="2197941" y="203200"/>
            <a:ext cx="5466350"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Defense in Depth — 6 Layers</a:t>
            </a:r>
            <a:endParaRPr lang="en-US" sz="2993" dirty="0"/>
          </a:p>
        </p:txBody>
      </p:sp>
      <p:sp>
        <p:nvSpPr>
          <p:cNvPr id="5" name="Shape 3"/>
          <p:cNvSpPr/>
          <p:nvPr/>
        </p:nvSpPr>
        <p:spPr>
          <a:xfrm>
            <a:off x="405384" y="660400"/>
            <a:ext cx="5612035" cy="1659434"/>
          </a:xfrm>
          <a:prstGeom prst="roundRect">
            <a:avLst>
              <a:gd name="adj" fmla="val 746"/>
            </a:avLst>
          </a:prstGeom>
          <a:solidFill>
            <a:srgbClr val="1E293B"/>
          </a:solidFill>
          <a:ln/>
        </p:spPr>
      </p:sp>
      <p:pic>
        <p:nvPicPr>
          <p:cNvPr id="6" name="Image 0" descr="preencoded.png">    </p:cNvPr>
          <p:cNvPicPr>
            <a:picLocks noChangeAspect="1"/>
          </p:cNvPicPr>
          <p:nvPr/>
        </p:nvPicPr>
        <p:blipFill>
          <a:blip r:embed="rId1"/>
          <a:srcRect l="0" r="0" t="0" b="0"/>
          <a:stretch/>
        </p:blipFill>
        <p:spPr>
          <a:xfrm>
            <a:off x="532067" y="812800"/>
            <a:ext cx="202692" cy="203200"/>
          </a:xfrm>
          <a:prstGeom prst="rect">
            <a:avLst/>
          </a:prstGeom>
        </p:spPr>
      </p:pic>
      <p:sp>
        <p:nvSpPr>
          <p:cNvPr id="7" name="Text 4"/>
          <p:cNvSpPr txBox="1"/>
          <p:nvPr/>
        </p:nvSpPr>
        <p:spPr>
          <a:xfrm>
            <a:off x="810768" y="787400"/>
            <a:ext cx="1982581"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Encryption (KMS)</a:t>
            </a:r>
            <a:endParaRPr lang="en-US" sz="1795" dirty="0"/>
          </a:p>
        </p:txBody>
      </p:sp>
      <p:sp>
        <p:nvSpPr>
          <p:cNvPr id="8" name="Text 5"/>
          <p:cNvSpPr txBox="1"/>
          <p:nvPr/>
        </p:nvSpPr>
        <p:spPr>
          <a:xfrm>
            <a:off x="532067" y="1092200"/>
            <a:ext cx="5358670"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All S3 buckets, DynamoDB, and SQS encrypted with AWS KMS Customer Managed Keys with annual rotation. TLS 1.2+ enforced on all connections. Pre-signed URLs with 1-hour expiry for preview access.</a:t>
            </a:r>
            <a:endParaRPr lang="en-US" sz="1496" dirty="0"/>
          </a:p>
        </p:txBody>
      </p:sp>
      <p:sp>
        <p:nvSpPr>
          <p:cNvPr id="9" name="Shape 6"/>
          <p:cNvSpPr/>
          <p:nvPr/>
        </p:nvSpPr>
        <p:spPr>
          <a:xfrm>
            <a:off x="405384" y="2421434"/>
            <a:ext cx="5612035" cy="1659533"/>
          </a:xfrm>
          <a:prstGeom prst="roundRect">
            <a:avLst>
              <a:gd name="adj" fmla="val 746"/>
            </a:avLst>
          </a:prstGeom>
          <a:solidFill>
            <a:srgbClr val="1E293B"/>
          </a:solidFill>
          <a:ln/>
        </p:spPr>
      </p:sp>
      <p:pic>
        <p:nvPicPr>
          <p:cNvPr id="10" name="Image 1" descr="preencoded.png">    </p:cNvPr>
          <p:cNvPicPr>
            <a:picLocks noChangeAspect="1"/>
          </p:cNvPicPr>
          <p:nvPr/>
        </p:nvPicPr>
        <p:blipFill>
          <a:blip r:embed="rId2"/>
          <a:srcRect l="0" r="0" t="0" b="0"/>
          <a:stretch/>
        </p:blipFill>
        <p:spPr>
          <a:xfrm>
            <a:off x="532067" y="2573834"/>
            <a:ext cx="202692" cy="203200"/>
          </a:xfrm>
          <a:prstGeom prst="rect">
            <a:avLst/>
          </a:prstGeom>
        </p:spPr>
      </p:pic>
      <p:sp>
        <p:nvSpPr>
          <p:cNvPr id="11" name="Text 7"/>
          <p:cNvSpPr txBox="1"/>
          <p:nvPr/>
        </p:nvSpPr>
        <p:spPr>
          <a:xfrm>
            <a:off x="810768" y="2548434"/>
            <a:ext cx="2026920"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Network Isolation</a:t>
            </a:r>
            <a:endParaRPr lang="en-US" sz="1795" dirty="0"/>
          </a:p>
        </p:txBody>
      </p:sp>
      <p:sp>
        <p:nvSpPr>
          <p:cNvPr id="12" name="Text 8"/>
          <p:cNvSpPr txBox="1"/>
          <p:nvPr/>
        </p:nvSpPr>
        <p:spPr>
          <a:xfrm>
            <a:off x="532067" y="2853234"/>
            <a:ext cx="5358670"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Render workers in private subnets with no public IP. VPC endpoints for S3, DynamoDB, SQS, and ECR — traffic never leaves AWS backbone. Security groups restrict API to port 8000 from ALB only.</a:t>
            </a:r>
            <a:endParaRPr lang="en-US" sz="1496" dirty="0"/>
          </a:p>
        </p:txBody>
      </p:sp>
      <p:sp>
        <p:nvSpPr>
          <p:cNvPr id="13" name="Shape 9"/>
          <p:cNvSpPr/>
          <p:nvPr/>
        </p:nvSpPr>
        <p:spPr>
          <a:xfrm>
            <a:off x="405384" y="4182566"/>
            <a:ext cx="5612035" cy="1659434"/>
          </a:xfrm>
          <a:prstGeom prst="roundRect">
            <a:avLst>
              <a:gd name="adj" fmla="val 746"/>
            </a:avLst>
          </a:prstGeom>
          <a:solidFill>
            <a:srgbClr val="1E293B"/>
          </a:solidFill>
          <a:ln/>
        </p:spPr>
      </p:sp>
      <p:pic>
        <p:nvPicPr>
          <p:cNvPr id="14" name="Image 2" descr="preencoded.png">    </p:cNvPr>
          <p:cNvPicPr>
            <a:picLocks noChangeAspect="1"/>
          </p:cNvPicPr>
          <p:nvPr/>
        </p:nvPicPr>
        <p:blipFill>
          <a:blip r:embed="rId3"/>
          <a:srcRect l="0" r="0" t="0" b="0"/>
          <a:stretch/>
        </p:blipFill>
        <p:spPr>
          <a:xfrm>
            <a:off x="532067" y="4334966"/>
            <a:ext cx="202692" cy="203200"/>
          </a:xfrm>
          <a:prstGeom prst="rect">
            <a:avLst/>
          </a:prstGeom>
        </p:spPr>
      </p:pic>
      <p:sp>
        <p:nvSpPr>
          <p:cNvPr id="15" name="Text 10"/>
          <p:cNvSpPr txBox="1"/>
          <p:nvPr/>
        </p:nvSpPr>
        <p:spPr>
          <a:xfrm>
            <a:off x="810768" y="4309566"/>
            <a:ext cx="1817894"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WAF Protection</a:t>
            </a:r>
            <a:endParaRPr lang="en-US" sz="1795" dirty="0"/>
          </a:p>
        </p:txBody>
      </p:sp>
      <p:sp>
        <p:nvSpPr>
          <p:cNvPr id="16" name="Text 11"/>
          <p:cNvSpPr txBox="1"/>
          <p:nvPr/>
        </p:nvSpPr>
        <p:spPr>
          <a:xfrm>
            <a:off x="532067" y="4614366"/>
            <a:ext cx="5358670"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Rate limiting: 1,000 req/IP per 5 min. AWS Managed Rules for SQLi, XSS. Request body size limits. CloudFront absorbs DDoS at edge. Optional geo-blocking for corporate regions only.</a:t>
            </a:r>
            <a:endParaRPr lang="en-US" sz="1496" dirty="0"/>
          </a:p>
        </p:txBody>
      </p:sp>
      <p:sp>
        <p:nvSpPr>
          <p:cNvPr id="17" name="Shape 12"/>
          <p:cNvSpPr/>
          <p:nvPr/>
        </p:nvSpPr>
        <p:spPr>
          <a:xfrm>
            <a:off x="6144101" y="660400"/>
            <a:ext cx="5612035" cy="1659434"/>
          </a:xfrm>
          <a:prstGeom prst="roundRect">
            <a:avLst>
              <a:gd name="adj" fmla="val 746"/>
            </a:avLst>
          </a:prstGeom>
          <a:solidFill>
            <a:srgbClr val="1E293B"/>
          </a:solidFill>
          <a:ln/>
        </p:spPr>
      </p:sp>
      <p:pic>
        <p:nvPicPr>
          <p:cNvPr id="18" name="Image 3" descr="preencoded.png">    </p:cNvPr>
          <p:cNvPicPr>
            <a:picLocks noChangeAspect="1"/>
          </p:cNvPicPr>
          <p:nvPr/>
        </p:nvPicPr>
        <p:blipFill>
          <a:blip r:embed="rId4"/>
          <a:srcRect l="0" r="0" t="0" b="0"/>
          <a:stretch/>
        </p:blipFill>
        <p:spPr>
          <a:xfrm>
            <a:off x="6270784" y="812800"/>
            <a:ext cx="202692" cy="203200"/>
          </a:xfrm>
          <a:prstGeom prst="rect">
            <a:avLst/>
          </a:prstGeom>
        </p:spPr>
      </p:pic>
      <p:sp>
        <p:nvSpPr>
          <p:cNvPr id="19" name="Text 13"/>
          <p:cNvSpPr txBox="1"/>
          <p:nvPr/>
        </p:nvSpPr>
        <p:spPr>
          <a:xfrm>
            <a:off x="6549485" y="787400"/>
            <a:ext cx="1729216"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Authentication</a:t>
            </a:r>
            <a:endParaRPr lang="en-US" sz="1795" dirty="0"/>
          </a:p>
        </p:txBody>
      </p:sp>
      <p:sp>
        <p:nvSpPr>
          <p:cNvPr id="20" name="Text 14"/>
          <p:cNvSpPr txBox="1"/>
          <p:nvPr/>
        </p:nvSpPr>
        <p:spPr>
          <a:xfrm>
            <a:off x="6270784" y="1092200"/>
            <a:ext cx="5358670"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API key auth via X-API-Key header (current). Roadmap: OIDC/SAML SSO with corporate IdP, JWT tokens with short expiry, per-element and per-team RBAC authorization.</a:t>
            </a:r>
            <a:endParaRPr lang="en-US" sz="1496" dirty="0"/>
          </a:p>
        </p:txBody>
      </p:sp>
      <p:sp>
        <p:nvSpPr>
          <p:cNvPr id="21" name="Shape 15"/>
          <p:cNvSpPr/>
          <p:nvPr/>
        </p:nvSpPr>
        <p:spPr>
          <a:xfrm>
            <a:off x="6144101" y="2421434"/>
            <a:ext cx="5612035" cy="1659533"/>
          </a:xfrm>
          <a:prstGeom prst="roundRect">
            <a:avLst>
              <a:gd name="adj" fmla="val 746"/>
            </a:avLst>
          </a:prstGeom>
          <a:solidFill>
            <a:srgbClr val="1E293B"/>
          </a:solidFill>
          <a:ln/>
        </p:spPr>
      </p:sp>
      <p:pic>
        <p:nvPicPr>
          <p:cNvPr id="22" name="Image 4" descr="preencoded.png">    </p:cNvPr>
          <p:cNvPicPr>
            <a:picLocks noChangeAspect="1"/>
          </p:cNvPicPr>
          <p:nvPr/>
        </p:nvPicPr>
        <p:blipFill>
          <a:blip r:embed="rId5"/>
          <a:srcRect l="0" r="0" t="0" b="0"/>
          <a:stretch/>
        </p:blipFill>
        <p:spPr>
          <a:xfrm>
            <a:off x="6270784" y="2573834"/>
            <a:ext cx="202692" cy="203200"/>
          </a:xfrm>
          <a:prstGeom prst="rect">
            <a:avLst/>
          </a:prstGeom>
        </p:spPr>
      </p:pic>
      <p:sp>
        <p:nvSpPr>
          <p:cNvPr id="23" name="Text 16"/>
          <p:cNvSpPr txBox="1"/>
          <p:nvPr/>
        </p:nvSpPr>
        <p:spPr>
          <a:xfrm>
            <a:off x="6549485" y="2548434"/>
            <a:ext cx="2204276"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Least-Privilege IAM</a:t>
            </a:r>
            <a:endParaRPr lang="en-US" sz="1795" dirty="0"/>
          </a:p>
        </p:txBody>
      </p:sp>
      <p:sp>
        <p:nvSpPr>
          <p:cNvPr id="24" name="Text 17"/>
          <p:cNvSpPr txBox="1"/>
          <p:nvPr/>
        </p:nvSpPr>
        <p:spPr>
          <a:xfrm>
            <a:off x="6270784" y="2853234"/>
            <a:ext cx="5358670" cy="6858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API role: S3 read/write artwork, DynamoDB read/write, SQS send. Render role: S3 read artwork, S3 write renders, SQS consume. CI/CD: ECR push and ECS deploy only.</a:t>
            </a:r>
            <a:endParaRPr lang="en-US" sz="1496" dirty="0"/>
          </a:p>
        </p:txBody>
      </p:sp>
      <p:sp>
        <p:nvSpPr>
          <p:cNvPr id="25" name="Shape 18"/>
          <p:cNvSpPr/>
          <p:nvPr/>
        </p:nvSpPr>
        <p:spPr>
          <a:xfrm>
            <a:off x="6144101" y="4182566"/>
            <a:ext cx="5612035" cy="1659434"/>
          </a:xfrm>
          <a:prstGeom prst="roundRect">
            <a:avLst>
              <a:gd name="adj" fmla="val 746"/>
            </a:avLst>
          </a:prstGeom>
          <a:solidFill>
            <a:srgbClr val="1E293B"/>
          </a:solidFill>
          <a:ln/>
        </p:spPr>
      </p:sp>
      <p:pic>
        <p:nvPicPr>
          <p:cNvPr id="26" name="Image 5" descr="preencoded.png">    </p:cNvPr>
          <p:cNvPicPr>
            <a:picLocks noChangeAspect="1"/>
          </p:cNvPicPr>
          <p:nvPr/>
        </p:nvPicPr>
        <p:blipFill>
          <a:blip r:embed="rId6"/>
          <a:srcRect l="0" r="0" t="0" b="0"/>
          <a:stretch/>
        </p:blipFill>
        <p:spPr>
          <a:xfrm>
            <a:off x="6270784" y="4334966"/>
            <a:ext cx="202692" cy="203200"/>
          </a:xfrm>
          <a:prstGeom prst="rect">
            <a:avLst/>
          </a:prstGeom>
        </p:spPr>
      </p:pic>
      <p:sp>
        <p:nvSpPr>
          <p:cNvPr id="27" name="Text 19"/>
          <p:cNvSpPr txBox="1"/>
          <p:nvPr/>
        </p:nvSpPr>
        <p:spPr>
          <a:xfrm>
            <a:off x="6549485" y="4309566"/>
            <a:ext cx="2267617"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Audit &amp; Compliance</a:t>
            </a:r>
            <a:endParaRPr lang="en-US" sz="1795" dirty="0"/>
          </a:p>
        </p:txBody>
      </p:sp>
      <p:sp>
        <p:nvSpPr>
          <p:cNvPr id="28" name="Text 20"/>
          <p:cNvSpPr txBox="1"/>
          <p:nvPr/>
        </p:nvSpPr>
        <p:spPr>
          <a:xfrm>
            <a:off x="6270784" y="4614366"/>
            <a:ext cx="5358670" cy="6858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CloudTrail for all API calls. S3 access logging per artwork file. Structured JSON logs with correlation IDs, 30-day retention. VPC Flow Logs for network audit. SOC 2 ready.</a:t>
            </a:r>
            <a:endParaRPr lang="en-US" sz="1496" dirty="0"/>
          </a:p>
        </p:txBody>
      </p:sp>
      <p:sp>
        <p:nvSpPr>
          <p:cNvPr id="29" name="Shape 21"/>
          <p:cNvSpPr/>
          <p:nvPr/>
        </p:nvSpPr>
        <p:spPr>
          <a:xfrm>
            <a:off x="405384" y="5918200"/>
            <a:ext cx="11350752" cy="431800"/>
          </a:xfrm>
          <a:prstGeom prst="roundRect">
            <a:avLst>
              <a:gd name="adj" fmla="val 1418"/>
            </a:avLst>
          </a:prstGeom>
          <a:solidFill>
            <a:srgbClr val="334155"/>
          </a:solidFill>
          <a:ln/>
        </p:spPr>
      </p:sp>
      <p:pic>
        <p:nvPicPr>
          <p:cNvPr id="30" name="Image 6" descr="preencoded.png">    </p:cNvPr>
          <p:cNvPicPr>
            <a:picLocks noChangeAspect="1"/>
          </p:cNvPicPr>
          <p:nvPr/>
        </p:nvPicPr>
        <p:blipFill>
          <a:blip r:embed="rId7"/>
          <a:srcRect l="0" r="0" t="0" b="0"/>
          <a:stretch/>
        </p:blipFill>
        <p:spPr>
          <a:xfrm>
            <a:off x="506730" y="6032500"/>
            <a:ext cx="202692" cy="203200"/>
          </a:xfrm>
          <a:prstGeom prst="rect">
            <a:avLst/>
          </a:prstGeom>
        </p:spPr>
      </p:pic>
      <p:sp>
        <p:nvSpPr>
          <p:cNvPr id="31" name="Text 22"/>
          <p:cNvSpPr txBox="1"/>
          <p:nvPr/>
        </p:nvSpPr>
        <p:spPr>
          <a:xfrm>
            <a:off x="810768" y="6019800"/>
            <a:ext cx="971021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STRIDE threat model applied — pre-release artwork classified as Confidential with High breach impact</a:t>
            </a:r>
            <a:endParaRPr lang="en-US" sz="1496" dirty="0"/>
          </a:p>
        </p:txBody>
      </p:sp>
      <p:sp>
        <p:nvSpPr>
          <p:cNvPr id="32" name="Text 23"/>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3" name="Text 24"/>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15900"/>
            <a:ext cx="1881235" cy="279400"/>
          </a:xfrm>
          <a:prstGeom prst="roundRect">
            <a:avLst>
              <a:gd name="adj" fmla="val 11018182"/>
            </a:avLst>
          </a:prstGeom>
          <a:solidFill>
            <a:srgbClr val="6366F1"/>
          </a:solidFill>
          <a:ln/>
        </p:spPr>
      </p:sp>
      <p:sp>
        <p:nvSpPr>
          <p:cNvPr id="3" name="Text 1"/>
          <p:cNvSpPr txBox="1"/>
          <p:nvPr/>
        </p:nvSpPr>
        <p:spPr>
          <a:xfrm>
            <a:off x="532067" y="241300"/>
            <a:ext cx="162787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Scalability</a:t>
            </a:r>
            <a:endParaRPr lang="en-US" sz="1496" dirty="0"/>
          </a:p>
        </p:txBody>
      </p:sp>
      <p:sp>
        <p:nvSpPr>
          <p:cNvPr id="4" name="Text 2"/>
          <p:cNvSpPr txBox="1"/>
          <p:nvPr/>
        </p:nvSpPr>
        <p:spPr>
          <a:xfrm>
            <a:off x="2387965" y="203200"/>
            <a:ext cx="6175772" cy="304800"/>
          </a:xfrm>
          <a:prstGeom prst="rect">
            <a:avLst/>
          </a:prstGeom>
          <a:noFill/>
          <a:ln/>
        </p:spPr>
        <p:txBody>
          <a:bodyPr wrap="square" lIns="0" tIns="0" rIns="0" bIns="0" rtlCol="0" anchor="ctr"/>
          <a:lstStyle/>
          <a:p>
            <a:pPr algn="l" indent="0" marL="0">
              <a:buNone/>
            </a:pPr>
            <a:r>
              <a:rPr lang="en-US" sz="2394" b="1" dirty="0">
                <a:solidFill>
                  <a:srgbClr val="F1F5F9"/>
                </a:solidFill>
                <a:latin typeface="Century Gothic" pitchFamily="34" charset="0"/>
                <a:ea typeface="Century Gothic" pitchFamily="34" charset="-122"/>
                <a:cs typeface="Century Gothic" pitchFamily="34" charset="-120"/>
              </a:rPr>
              <a:t>Scaling from 100 to 10,000+ Renders/Day</a:t>
            </a:r>
            <a:endParaRPr lang="en-US" sz="2394" dirty="0"/>
          </a:p>
        </p:txBody>
      </p:sp>
      <p:sp>
        <p:nvSpPr>
          <p:cNvPr id="5" name="Shape 3"/>
          <p:cNvSpPr/>
          <p:nvPr/>
        </p:nvSpPr>
        <p:spPr>
          <a:xfrm>
            <a:off x="405384" y="584200"/>
            <a:ext cx="4023951" cy="1898650"/>
          </a:xfrm>
          <a:prstGeom prst="roundRect">
            <a:avLst>
              <a:gd name="adj" fmla="val 910"/>
            </a:avLst>
          </a:prstGeom>
          <a:solidFill>
            <a:srgbClr val="1E293B"/>
          </a:solidFill>
          <a:ln/>
        </p:spPr>
      </p:sp>
      <p:sp>
        <p:nvSpPr>
          <p:cNvPr id="6" name="Text 4"/>
          <p:cNvSpPr txBox="1"/>
          <p:nvPr/>
        </p:nvSpPr>
        <p:spPr>
          <a:xfrm>
            <a:off x="532067" y="711200"/>
            <a:ext cx="377058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Performance Targets</a:t>
            </a:r>
            <a:endParaRPr lang="en-US" sz="1496" dirty="0"/>
          </a:p>
        </p:txBody>
      </p:sp>
      <p:sp>
        <p:nvSpPr>
          <p:cNvPr id="7" name="Text 5"/>
          <p:cNvSpPr txBox="1"/>
          <p:nvPr/>
        </p:nvSpPr>
        <p:spPr>
          <a:xfrm>
            <a:off x="538401" y="1066800"/>
            <a:ext cx="259837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API p99 latency</a:t>
            </a:r>
            <a:endParaRPr lang="en-US" sz="1496" dirty="0"/>
          </a:p>
        </p:txBody>
      </p:sp>
      <p:sp>
        <p:nvSpPr>
          <p:cNvPr id="8" name="Text 6"/>
          <p:cNvSpPr txBox="1"/>
          <p:nvPr/>
        </p:nvSpPr>
        <p:spPr>
          <a:xfrm>
            <a:off x="3149446" y="1066800"/>
            <a:ext cx="1146873"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&lt; 500ms</a:t>
            </a:r>
            <a:endParaRPr lang="en-US" sz="1496" dirty="0"/>
          </a:p>
        </p:txBody>
      </p:sp>
      <p:sp>
        <p:nvSpPr>
          <p:cNvPr id="9" name="Text 7"/>
          <p:cNvSpPr txBox="1"/>
          <p:nvPr/>
        </p:nvSpPr>
        <p:spPr>
          <a:xfrm>
            <a:off x="538401" y="1403350"/>
            <a:ext cx="259837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Render completion</a:t>
            </a:r>
            <a:endParaRPr lang="en-US" sz="1496" dirty="0"/>
          </a:p>
        </p:txBody>
      </p:sp>
      <p:sp>
        <p:nvSpPr>
          <p:cNvPr id="10" name="Text 8"/>
          <p:cNvSpPr txBox="1"/>
          <p:nvPr/>
        </p:nvSpPr>
        <p:spPr>
          <a:xfrm>
            <a:off x="3149446" y="1403350"/>
            <a:ext cx="1146873"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&lt; 120s</a:t>
            </a:r>
            <a:endParaRPr lang="en-US" sz="1496" dirty="0"/>
          </a:p>
        </p:txBody>
      </p:sp>
      <p:sp>
        <p:nvSpPr>
          <p:cNvPr id="11" name="Text 9"/>
          <p:cNvSpPr txBox="1"/>
          <p:nvPr/>
        </p:nvSpPr>
        <p:spPr>
          <a:xfrm>
            <a:off x="538401" y="1739900"/>
            <a:ext cx="259837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Concurrent renders</a:t>
            </a:r>
            <a:endParaRPr lang="en-US" sz="1496" dirty="0"/>
          </a:p>
        </p:txBody>
      </p:sp>
      <p:sp>
        <p:nvSpPr>
          <p:cNvPr id="12" name="Text 10"/>
          <p:cNvSpPr txBox="1"/>
          <p:nvPr/>
        </p:nvSpPr>
        <p:spPr>
          <a:xfrm>
            <a:off x="3149446" y="1739900"/>
            <a:ext cx="1146873"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200+</a:t>
            </a:r>
            <a:endParaRPr lang="en-US" sz="1496" dirty="0"/>
          </a:p>
        </p:txBody>
      </p:sp>
      <p:sp>
        <p:nvSpPr>
          <p:cNvPr id="13" name="Text 11"/>
          <p:cNvSpPr txBox="1"/>
          <p:nvPr/>
        </p:nvSpPr>
        <p:spPr>
          <a:xfrm>
            <a:off x="538401" y="2076450"/>
            <a:ext cx="259837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Upload size limit</a:t>
            </a:r>
            <a:endParaRPr lang="en-US" sz="1496" dirty="0"/>
          </a:p>
        </p:txBody>
      </p:sp>
      <p:sp>
        <p:nvSpPr>
          <p:cNvPr id="14" name="Text 12"/>
          <p:cNvSpPr txBox="1"/>
          <p:nvPr/>
        </p:nvSpPr>
        <p:spPr>
          <a:xfrm>
            <a:off x="3149446" y="2076450"/>
            <a:ext cx="1146873"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50 MB</a:t>
            </a:r>
            <a:endParaRPr lang="en-US" sz="1496" dirty="0"/>
          </a:p>
        </p:txBody>
      </p:sp>
      <p:sp>
        <p:nvSpPr>
          <p:cNvPr id="15" name="Shape 13"/>
          <p:cNvSpPr/>
          <p:nvPr/>
        </p:nvSpPr>
        <p:spPr>
          <a:xfrm>
            <a:off x="405384" y="2584450"/>
            <a:ext cx="4023951" cy="3765550"/>
          </a:xfrm>
          <a:prstGeom prst="roundRect">
            <a:avLst>
              <a:gd name="adj" fmla="val 459"/>
            </a:avLst>
          </a:prstGeom>
          <a:solidFill>
            <a:srgbClr val="1E293B"/>
          </a:solidFill>
          <a:ln/>
        </p:spPr>
      </p:sp>
      <p:sp>
        <p:nvSpPr>
          <p:cNvPr id="16" name="Text 14"/>
          <p:cNvSpPr txBox="1"/>
          <p:nvPr/>
        </p:nvSpPr>
        <p:spPr>
          <a:xfrm>
            <a:off x="532067" y="2711450"/>
            <a:ext cx="377058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Auto-Scaling Triggers</a:t>
            </a:r>
            <a:endParaRPr lang="en-US" sz="1496" dirty="0"/>
          </a:p>
        </p:txBody>
      </p:sp>
      <p:pic>
        <p:nvPicPr>
          <p:cNvPr id="17" name="Image 0" descr="preencoded.png">    </p:cNvPr>
          <p:cNvPicPr>
            <a:picLocks noChangeAspect="1"/>
          </p:cNvPicPr>
          <p:nvPr/>
        </p:nvPicPr>
        <p:blipFill>
          <a:blip r:embed="rId1"/>
          <a:srcRect l="0" r="0" t="0" b="0"/>
          <a:stretch/>
        </p:blipFill>
        <p:spPr>
          <a:xfrm>
            <a:off x="532067" y="3054350"/>
            <a:ext cx="152019" cy="152400"/>
          </a:xfrm>
          <a:prstGeom prst="rect">
            <a:avLst/>
          </a:prstGeom>
        </p:spPr>
      </p:pic>
      <p:sp>
        <p:nvSpPr>
          <p:cNvPr id="18" name="Text 15"/>
          <p:cNvSpPr txBox="1"/>
          <p:nvPr/>
        </p:nvSpPr>
        <p:spPr>
          <a:xfrm>
            <a:off x="760095" y="3016250"/>
            <a:ext cx="3179731"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API: CPU &gt; 70% → scale 2-10 tasks</a:t>
            </a:r>
            <a:endParaRPr lang="en-US" sz="1496" dirty="0"/>
          </a:p>
        </p:txBody>
      </p:sp>
      <p:pic>
        <p:nvPicPr>
          <p:cNvPr id="19" name="Image 1" descr="preencoded.png">    </p:cNvPr>
          <p:cNvPicPr>
            <a:picLocks noChangeAspect="1"/>
          </p:cNvPicPr>
          <p:nvPr/>
        </p:nvPicPr>
        <p:blipFill>
          <a:blip r:embed="rId2"/>
          <a:srcRect l="0" r="0" t="0" b="0"/>
          <a:stretch/>
        </p:blipFill>
        <p:spPr>
          <a:xfrm>
            <a:off x="532067" y="3473450"/>
            <a:ext cx="152019" cy="152400"/>
          </a:xfrm>
          <a:prstGeom prst="rect">
            <a:avLst/>
          </a:prstGeom>
        </p:spPr>
      </p:pic>
      <p:sp>
        <p:nvSpPr>
          <p:cNvPr id="20" name="Text 16"/>
          <p:cNvSpPr txBox="1"/>
          <p:nvPr/>
        </p:nvSpPr>
        <p:spPr>
          <a:xfrm>
            <a:off x="760095" y="3321050"/>
            <a:ext cx="3542557"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Workers: Queue depth → scale 0-50 tasks</a:t>
            </a:r>
            <a:endParaRPr lang="en-US" sz="1496" dirty="0"/>
          </a:p>
        </p:txBody>
      </p:sp>
      <p:pic>
        <p:nvPicPr>
          <p:cNvPr id="21" name="Image 2" descr="preencoded.png">    </p:cNvPr>
          <p:cNvPicPr>
            <a:picLocks noChangeAspect="1"/>
          </p:cNvPicPr>
          <p:nvPr/>
        </p:nvPicPr>
        <p:blipFill>
          <a:blip r:embed="rId3"/>
          <a:srcRect l="0" r="0" t="0" b="0"/>
          <a:stretch/>
        </p:blipFill>
        <p:spPr>
          <a:xfrm>
            <a:off x="532067" y="3892550"/>
            <a:ext cx="152019" cy="152400"/>
          </a:xfrm>
          <a:prstGeom prst="rect">
            <a:avLst/>
          </a:prstGeom>
        </p:spPr>
      </p:pic>
      <p:sp>
        <p:nvSpPr>
          <p:cNvPr id="22" name="Text 17"/>
          <p:cNvSpPr txBox="1"/>
          <p:nvPr/>
        </p:nvSpPr>
        <p:spPr>
          <a:xfrm>
            <a:off x="760095" y="3854450"/>
            <a:ext cx="319873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Scale-to-zero when idle for 10 min</a:t>
            </a:r>
            <a:endParaRPr lang="en-US" sz="1496" dirty="0"/>
          </a:p>
        </p:txBody>
      </p:sp>
      <p:pic>
        <p:nvPicPr>
          <p:cNvPr id="23" name="Image 3" descr="preencoded.png">    </p:cNvPr>
          <p:cNvPicPr>
            <a:picLocks noChangeAspect="1"/>
          </p:cNvPicPr>
          <p:nvPr/>
        </p:nvPicPr>
        <p:blipFill>
          <a:blip r:embed="rId4"/>
          <a:srcRect l="0" r="0" t="0" b="0"/>
          <a:stretch/>
        </p:blipFill>
        <p:spPr>
          <a:xfrm>
            <a:off x="532067" y="4311650"/>
            <a:ext cx="152019" cy="152400"/>
          </a:xfrm>
          <a:prstGeom prst="rect">
            <a:avLst/>
          </a:prstGeom>
        </p:spPr>
      </p:pic>
      <p:sp>
        <p:nvSpPr>
          <p:cNvPr id="24" name="Text 18"/>
          <p:cNvSpPr txBox="1"/>
          <p:nvPr/>
        </p:nvSpPr>
        <p:spPr>
          <a:xfrm>
            <a:off x="760095" y="4159250"/>
            <a:ext cx="3542557"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Alarm: CPU &gt;85%, Queue &gt;100, DLQ &gt;0</a:t>
            </a:r>
            <a:endParaRPr lang="en-US" sz="1496" dirty="0"/>
          </a:p>
        </p:txBody>
      </p:sp>
      <p:pic>
        <p:nvPicPr>
          <p:cNvPr id="25" name="Image 4" descr="preencoded.png">    </p:cNvPr>
          <p:cNvPicPr>
            <a:picLocks noChangeAspect="1"/>
          </p:cNvPicPr>
          <p:nvPr/>
        </p:nvPicPr>
        <p:blipFill>
          <a:blip r:embed="rId5"/>
          <a:srcRect l="0" r="0" t="0" b="0"/>
          <a:stretch/>
        </p:blipFill>
        <p:spPr>
          <a:xfrm>
            <a:off x="4583630" y="584200"/>
            <a:ext cx="7170230" cy="4546600"/>
          </a:xfrm>
          <a:prstGeom prst="rect">
            <a:avLst/>
          </a:prstGeom>
        </p:spPr>
      </p:pic>
      <p:sp>
        <p:nvSpPr>
          <p:cNvPr id="26" name="Shape 19"/>
          <p:cNvSpPr/>
          <p:nvPr/>
        </p:nvSpPr>
        <p:spPr>
          <a:xfrm>
            <a:off x="4581354" y="5232400"/>
            <a:ext cx="2324030" cy="1117600"/>
          </a:xfrm>
          <a:prstGeom prst="roundRect">
            <a:avLst>
              <a:gd name="adj" fmla="val 2676"/>
            </a:avLst>
          </a:prstGeom>
          <a:solidFill>
            <a:srgbClr val="334155"/>
          </a:solidFill>
          <a:ln/>
        </p:spPr>
      </p:sp>
      <p:sp>
        <p:nvSpPr>
          <p:cNvPr id="27" name="Text 20"/>
          <p:cNvSpPr txBox="1"/>
          <p:nvPr/>
        </p:nvSpPr>
        <p:spPr>
          <a:xfrm>
            <a:off x="5388658" y="5334000"/>
            <a:ext cx="709422"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Phase 1</a:t>
            </a:r>
            <a:endParaRPr lang="en-US" sz="1496" dirty="0"/>
          </a:p>
        </p:txBody>
      </p:sp>
      <p:sp>
        <p:nvSpPr>
          <p:cNvPr id="28" name="Text 21"/>
          <p:cNvSpPr txBox="1"/>
          <p:nvPr/>
        </p:nvSpPr>
        <p:spPr>
          <a:xfrm>
            <a:off x="5271477" y="5562600"/>
            <a:ext cx="94378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~$200/mo</a:t>
            </a:r>
            <a:endParaRPr lang="en-US" sz="1496" dirty="0"/>
          </a:p>
        </p:txBody>
      </p:sp>
      <p:sp>
        <p:nvSpPr>
          <p:cNvPr id="29" name="Text 22"/>
          <p:cNvSpPr txBox="1"/>
          <p:nvPr/>
        </p:nvSpPr>
        <p:spPr>
          <a:xfrm>
            <a:off x="4866093" y="5791200"/>
            <a:ext cx="1754553" cy="2286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2 API + 1-5 workers</a:t>
            </a:r>
            <a:endParaRPr lang="en-US" sz="1496" dirty="0"/>
          </a:p>
        </p:txBody>
      </p:sp>
      <p:sp>
        <p:nvSpPr>
          <p:cNvPr id="30" name="Shape 23"/>
          <p:cNvSpPr/>
          <p:nvPr/>
        </p:nvSpPr>
        <p:spPr>
          <a:xfrm>
            <a:off x="7006730" y="5232400"/>
            <a:ext cx="2324030" cy="1117600"/>
          </a:xfrm>
          <a:prstGeom prst="roundRect">
            <a:avLst>
              <a:gd name="adj" fmla="val 2676"/>
            </a:avLst>
          </a:prstGeom>
          <a:solidFill>
            <a:srgbClr val="334155"/>
          </a:solidFill>
          <a:ln/>
        </p:spPr>
      </p:sp>
      <p:sp>
        <p:nvSpPr>
          <p:cNvPr id="31" name="Text 24"/>
          <p:cNvSpPr txBox="1"/>
          <p:nvPr/>
        </p:nvSpPr>
        <p:spPr>
          <a:xfrm>
            <a:off x="7795032" y="5334000"/>
            <a:ext cx="747427"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Phase 2</a:t>
            </a:r>
            <a:endParaRPr lang="en-US" sz="1496" dirty="0"/>
          </a:p>
        </p:txBody>
      </p:sp>
      <p:sp>
        <p:nvSpPr>
          <p:cNvPr id="32" name="Text 25"/>
          <p:cNvSpPr txBox="1"/>
          <p:nvPr/>
        </p:nvSpPr>
        <p:spPr>
          <a:xfrm>
            <a:off x="7690518" y="5562600"/>
            <a:ext cx="95645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~$800/mo</a:t>
            </a:r>
            <a:endParaRPr lang="en-US" sz="1496" dirty="0"/>
          </a:p>
        </p:txBody>
      </p:sp>
      <p:sp>
        <p:nvSpPr>
          <p:cNvPr id="33" name="Text 26"/>
          <p:cNvSpPr txBox="1"/>
          <p:nvPr/>
        </p:nvSpPr>
        <p:spPr>
          <a:xfrm>
            <a:off x="7108076" y="5791200"/>
            <a:ext cx="2121338"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4 API + Spot workers + Redis</a:t>
            </a:r>
            <a:endParaRPr lang="en-US" sz="1496" dirty="0"/>
          </a:p>
        </p:txBody>
      </p:sp>
      <p:sp>
        <p:nvSpPr>
          <p:cNvPr id="34" name="Shape 27"/>
          <p:cNvSpPr/>
          <p:nvPr/>
        </p:nvSpPr>
        <p:spPr>
          <a:xfrm>
            <a:off x="9432106" y="5232400"/>
            <a:ext cx="2324030" cy="1117600"/>
          </a:xfrm>
          <a:prstGeom prst="roundRect">
            <a:avLst>
              <a:gd name="adj" fmla="val 2676"/>
            </a:avLst>
          </a:prstGeom>
          <a:solidFill>
            <a:srgbClr val="334155"/>
          </a:solidFill>
          <a:ln/>
        </p:spPr>
      </p:sp>
      <p:sp>
        <p:nvSpPr>
          <p:cNvPr id="35" name="Text 28"/>
          <p:cNvSpPr txBox="1"/>
          <p:nvPr/>
        </p:nvSpPr>
        <p:spPr>
          <a:xfrm>
            <a:off x="10220408" y="5334000"/>
            <a:ext cx="747427"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Phase 3</a:t>
            </a:r>
            <a:endParaRPr lang="en-US" sz="1496" dirty="0"/>
          </a:p>
        </p:txBody>
      </p:sp>
      <p:sp>
        <p:nvSpPr>
          <p:cNvPr id="36" name="Text 29"/>
          <p:cNvSpPr txBox="1"/>
          <p:nvPr/>
        </p:nvSpPr>
        <p:spPr>
          <a:xfrm>
            <a:off x="10090558" y="5562600"/>
            <a:ext cx="100712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~$3-5K/mo</a:t>
            </a:r>
            <a:endParaRPr lang="en-US" sz="1496" dirty="0"/>
          </a:p>
        </p:txBody>
      </p:sp>
      <p:sp>
        <p:nvSpPr>
          <p:cNvPr id="37" name="Text 30"/>
          <p:cNvSpPr txBox="1"/>
          <p:nvPr/>
        </p:nvSpPr>
        <p:spPr>
          <a:xfrm>
            <a:off x="9533452" y="5791200"/>
            <a:ext cx="2121338"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GPU + Multi-region + Batch</a:t>
            </a:r>
            <a:endParaRPr lang="en-US" sz="1496" dirty="0"/>
          </a:p>
        </p:txBody>
      </p:sp>
      <p:sp>
        <p:nvSpPr>
          <p:cNvPr id="38" name="Text 31"/>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9" name="Text 32"/>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09264" cy="279400"/>
          </a:xfrm>
          <a:prstGeom prst="roundRect">
            <a:avLst>
              <a:gd name="adj" fmla="val 9827027"/>
            </a:avLst>
          </a:prstGeom>
          <a:solidFill>
            <a:srgbClr val="6366F1"/>
          </a:solidFill>
          <a:ln/>
        </p:spPr>
      </p:sp>
      <p:sp>
        <p:nvSpPr>
          <p:cNvPr id="3" name="Text 1"/>
          <p:cNvSpPr txBox="1"/>
          <p:nvPr/>
        </p:nvSpPr>
        <p:spPr>
          <a:xfrm>
            <a:off x="532067" y="279400"/>
            <a:ext cx="185589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Engineering</a:t>
            </a:r>
            <a:endParaRPr lang="en-US" sz="1496" dirty="0"/>
          </a:p>
        </p:txBody>
      </p:sp>
      <p:sp>
        <p:nvSpPr>
          <p:cNvPr id="4" name="Text 2"/>
          <p:cNvSpPr txBox="1"/>
          <p:nvPr/>
        </p:nvSpPr>
        <p:spPr>
          <a:xfrm>
            <a:off x="2615994" y="203200"/>
            <a:ext cx="5409343"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10 Design Principles — Top 5</a:t>
            </a:r>
            <a:endParaRPr lang="en-US" sz="2993" dirty="0"/>
          </a:p>
        </p:txBody>
      </p:sp>
      <p:sp>
        <p:nvSpPr>
          <p:cNvPr id="5" name="Shape 3"/>
          <p:cNvSpPr/>
          <p:nvPr/>
        </p:nvSpPr>
        <p:spPr>
          <a:xfrm>
            <a:off x="405384" y="685800"/>
            <a:ext cx="2189034" cy="5257800"/>
          </a:xfrm>
          <a:prstGeom prst="roundRect">
            <a:avLst>
              <a:gd name="adj" fmla="val 605"/>
            </a:avLst>
          </a:prstGeom>
          <a:solidFill>
            <a:srgbClr val="1E293B"/>
          </a:solidFill>
          <a:ln w="25337">
            <a:solidFill>
              <a:srgbClr val="6366F1"/>
            </a:solidFill>
            <a:prstDash val="solid"/>
          </a:ln>
        </p:spPr>
      </p:sp>
      <p:sp>
        <p:nvSpPr>
          <p:cNvPr id="6" name="Text 4"/>
          <p:cNvSpPr txBox="1"/>
          <p:nvPr/>
        </p:nvSpPr>
        <p:spPr>
          <a:xfrm>
            <a:off x="532067" y="838200"/>
            <a:ext cx="196358"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01</a:t>
            </a:r>
            <a:endParaRPr lang="en-US" sz="1496" dirty="0"/>
          </a:p>
        </p:txBody>
      </p:sp>
      <p:pic>
        <p:nvPicPr>
          <p:cNvPr id="7" name="Image 0" descr="preencoded.png">    </p:cNvPr>
          <p:cNvPicPr>
            <a:picLocks noChangeAspect="1"/>
          </p:cNvPicPr>
          <p:nvPr/>
        </p:nvPicPr>
        <p:blipFill>
          <a:blip r:embed="rId1"/>
          <a:srcRect l="0" r="0" t="0" b="0"/>
          <a:stretch/>
        </p:blipFill>
        <p:spPr>
          <a:xfrm>
            <a:off x="779097" y="850900"/>
            <a:ext cx="202692" cy="203200"/>
          </a:xfrm>
          <a:prstGeom prst="rect">
            <a:avLst/>
          </a:prstGeom>
        </p:spPr>
      </p:pic>
      <p:sp>
        <p:nvSpPr>
          <p:cNvPr id="8" name="Text 5"/>
          <p:cNvSpPr txBox="1"/>
          <p:nvPr/>
        </p:nvSpPr>
        <p:spPr>
          <a:xfrm>
            <a:off x="532067" y="1117600"/>
            <a:ext cx="1935669" cy="28575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Async by Default</a:t>
            </a:r>
            <a:endParaRPr lang="en-US" sz="1795" dirty="0"/>
          </a:p>
        </p:txBody>
      </p:sp>
      <p:sp>
        <p:nvSpPr>
          <p:cNvPr id="9" name="Text 6"/>
          <p:cNvSpPr txBox="1"/>
          <p:nvPr/>
        </p:nvSpPr>
        <p:spPr>
          <a:xfrm>
            <a:off x="532067" y="1454150"/>
            <a:ext cx="1935669" cy="1600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POST returns 202 immediately. SQS decouples submission from processing. A 5-min render never blocks a 200ms API call.</a:t>
            </a:r>
            <a:endParaRPr lang="en-US" sz="1496" dirty="0"/>
          </a:p>
        </p:txBody>
      </p:sp>
      <p:sp>
        <p:nvSpPr>
          <p:cNvPr id="10" name="Shape 7"/>
          <p:cNvSpPr/>
          <p:nvPr/>
        </p:nvSpPr>
        <p:spPr>
          <a:xfrm>
            <a:off x="2695764" y="685800"/>
            <a:ext cx="2189133" cy="5257800"/>
          </a:xfrm>
          <a:prstGeom prst="roundRect">
            <a:avLst>
              <a:gd name="adj" fmla="val 605"/>
            </a:avLst>
          </a:prstGeom>
          <a:solidFill>
            <a:srgbClr val="1E293B"/>
          </a:solidFill>
          <a:ln w="25337">
            <a:solidFill>
              <a:srgbClr val="6366F1"/>
            </a:solidFill>
            <a:prstDash val="solid"/>
          </a:ln>
        </p:spPr>
      </p:sp>
      <p:sp>
        <p:nvSpPr>
          <p:cNvPr id="11" name="Text 8"/>
          <p:cNvSpPr txBox="1"/>
          <p:nvPr/>
        </p:nvSpPr>
        <p:spPr>
          <a:xfrm>
            <a:off x="2822447" y="838200"/>
            <a:ext cx="234363"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02</a:t>
            </a:r>
            <a:endParaRPr lang="en-US" sz="1496" dirty="0"/>
          </a:p>
        </p:txBody>
      </p:sp>
      <p:pic>
        <p:nvPicPr>
          <p:cNvPr id="12" name="Image 1" descr="preencoded.png">    </p:cNvPr>
          <p:cNvPicPr>
            <a:picLocks noChangeAspect="1"/>
          </p:cNvPicPr>
          <p:nvPr/>
        </p:nvPicPr>
        <p:blipFill>
          <a:blip r:embed="rId2"/>
          <a:srcRect l="0" r="0" t="0" b="0"/>
          <a:stretch/>
        </p:blipFill>
        <p:spPr>
          <a:xfrm>
            <a:off x="3107482" y="850900"/>
            <a:ext cx="202692" cy="203200"/>
          </a:xfrm>
          <a:prstGeom prst="rect">
            <a:avLst/>
          </a:prstGeom>
        </p:spPr>
      </p:pic>
      <p:sp>
        <p:nvSpPr>
          <p:cNvPr id="13" name="Text 9"/>
          <p:cNvSpPr txBox="1"/>
          <p:nvPr/>
        </p:nvSpPr>
        <p:spPr>
          <a:xfrm>
            <a:off x="2822447" y="1117600"/>
            <a:ext cx="1935768" cy="5715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Separation of Concerns</a:t>
            </a:r>
            <a:endParaRPr lang="en-US" sz="1795" dirty="0"/>
          </a:p>
        </p:txBody>
      </p:sp>
      <p:sp>
        <p:nvSpPr>
          <p:cNvPr id="14" name="Text 10"/>
          <p:cNvSpPr txBox="1"/>
          <p:nvPr/>
        </p:nvSpPr>
        <p:spPr>
          <a:xfrm>
            <a:off x="2822447" y="1739900"/>
            <a:ext cx="1935768" cy="1600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API, JobStore, FileValidator, RenderWorker — each owns one domain. Infra split into 5 CDK stacks by domain.</a:t>
            </a:r>
            <a:endParaRPr lang="en-US" sz="1496" dirty="0"/>
          </a:p>
        </p:txBody>
      </p:sp>
      <p:sp>
        <p:nvSpPr>
          <p:cNvPr id="15" name="Shape 11"/>
          <p:cNvSpPr/>
          <p:nvPr/>
        </p:nvSpPr>
        <p:spPr>
          <a:xfrm>
            <a:off x="4986243" y="685800"/>
            <a:ext cx="2189034" cy="5257800"/>
          </a:xfrm>
          <a:prstGeom prst="roundRect">
            <a:avLst>
              <a:gd name="adj" fmla="val 605"/>
            </a:avLst>
          </a:prstGeom>
          <a:solidFill>
            <a:srgbClr val="1E293B"/>
          </a:solidFill>
          <a:ln w="25337">
            <a:solidFill>
              <a:srgbClr val="6366F1"/>
            </a:solidFill>
            <a:prstDash val="solid"/>
          </a:ln>
        </p:spPr>
      </p:sp>
      <p:sp>
        <p:nvSpPr>
          <p:cNvPr id="16" name="Text 12"/>
          <p:cNvSpPr txBox="1"/>
          <p:nvPr/>
        </p:nvSpPr>
        <p:spPr>
          <a:xfrm>
            <a:off x="5112925" y="838200"/>
            <a:ext cx="234363"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03</a:t>
            </a:r>
            <a:endParaRPr lang="en-US" sz="1496" dirty="0"/>
          </a:p>
        </p:txBody>
      </p:sp>
      <p:pic>
        <p:nvPicPr>
          <p:cNvPr id="17" name="Image 2" descr="preencoded.png">    </p:cNvPr>
          <p:cNvPicPr>
            <a:picLocks noChangeAspect="1"/>
          </p:cNvPicPr>
          <p:nvPr/>
        </p:nvPicPr>
        <p:blipFill>
          <a:blip r:embed="rId3"/>
          <a:srcRect l="0" r="0" t="0" b="0"/>
          <a:stretch/>
        </p:blipFill>
        <p:spPr>
          <a:xfrm>
            <a:off x="5397961" y="850900"/>
            <a:ext cx="202692" cy="203200"/>
          </a:xfrm>
          <a:prstGeom prst="rect">
            <a:avLst/>
          </a:prstGeom>
        </p:spPr>
      </p:pic>
      <p:sp>
        <p:nvSpPr>
          <p:cNvPr id="18" name="Text 13"/>
          <p:cNvSpPr txBox="1"/>
          <p:nvPr/>
        </p:nvSpPr>
        <p:spPr>
          <a:xfrm>
            <a:off x="5112925" y="1117600"/>
            <a:ext cx="1935669" cy="5715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Fail-Fast Validation</a:t>
            </a:r>
            <a:endParaRPr lang="en-US" sz="1795" dirty="0"/>
          </a:p>
        </p:txBody>
      </p:sp>
      <p:sp>
        <p:nvSpPr>
          <p:cNvPr id="19" name="Text 14"/>
          <p:cNvSpPr txBox="1"/>
          <p:nvPr/>
        </p:nvSpPr>
        <p:spPr>
          <a:xfrm>
            <a:off x="5112925" y="1739900"/>
            <a:ext cx="1935669" cy="1600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File type, size, MIME validated before queueing. Pydantic schema enforced at API layer. Invalid requests never reach SQS.</a:t>
            </a:r>
            <a:endParaRPr lang="en-US" sz="1496" dirty="0"/>
          </a:p>
        </p:txBody>
      </p:sp>
      <p:sp>
        <p:nvSpPr>
          <p:cNvPr id="20" name="Shape 15"/>
          <p:cNvSpPr/>
          <p:nvPr/>
        </p:nvSpPr>
        <p:spPr>
          <a:xfrm>
            <a:off x="7276623" y="685800"/>
            <a:ext cx="2189133" cy="5257800"/>
          </a:xfrm>
          <a:prstGeom prst="roundRect">
            <a:avLst>
              <a:gd name="adj" fmla="val 605"/>
            </a:avLst>
          </a:prstGeom>
          <a:solidFill>
            <a:srgbClr val="1E293B"/>
          </a:solidFill>
          <a:ln w="25337">
            <a:solidFill>
              <a:srgbClr val="6366F1"/>
            </a:solidFill>
            <a:prstDash val="solid"/>
          </a:ln>
        </p:spPr>
      </p:sp>
      <p:sp>
        <p:nvSpPr>
          <p:cNvPr id="21" name="Text 16"/>
          <p:cNvSpPr txBox="1"/>
          <p:nvPr/>
        </p:nvSpPr>
        <p:spPr>
          <a:xfrm>
            <a:off x="7403306" y="838200"/>
            <a:ext cx="253365"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04</a:t>
            </a:r>
            <a:endParaRPr lang="en-US" sz="1496" dirty="0"/>
          </a:p>
        </p:txBody>
      </p:sp>
      <p:pic>
        <p:nvPicPr>
          <p:cNvPr id="22" name="Image 3" descr="preencoded.png">    </p:cNvPr>
          <p:cNvPicPr>
            <a:picLocks noChangeAspect="1"/>
          </p:cNvPicPr>
          <p:nvPr/>
        </p:nvPicPr>
        <p:blipFill>
          <a:blip r:embed="rId4"/>
          <a:srcRect l="0" r="0" t="0" b="0"/>
          <a:stretch/>
        </p:blipFill>
        <p:spPr>
          <a:xfrm>
            <a:off x="7707344" y="850900"/>
            <a:ext cx="202692" cy="203200"/>
          </a:xfrm>
          <a:prstGeom prst="rect">
            <a:avLst/>
          </a:prstGeom>
        </p:spPr>
      </p:pic>
      <p:sp>
        <p:nvSpPr>
          <p:cNvPr id="23" name="Text 17"/>
          <p:cNvSpPr txBox="1"/>
          <p:nvPr/>
        </p:nvSpPr>
        <p:spPr>
          <a:xfrm>
            <a:off x="7403306" y="1117600"/>
            <a:ext cx="1935768" cy="28575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Idempotency</a:t>
            </a:r>
            <a:endParaRPr lang="en-US" sz="1795" dirty="0"/>
          </a:p>
        </p:txBody>
      </p:sp>
      <p:sp>
        <p:nvSpPr>
          <p:cNvPr id="24" name="Text 18"/>
          <p:cNvSpPr txBox="1"/>
          <p:nvPr/>
        </p:nvSpPr>
        <p:spPr>
          <a:xfrm>
            <a:off x="7403306" y="1454150"/>
            <a:ext cx="1935768" cy="1600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Unique job_id prevents duplicates. SQS visibility timeout stops double-processing. S3 keys are deterministic.</a:t>
            </a:r>
            <a:endParaRPr lang="en-US" sz="1496" dirty="0"/>
          </a:p>
        </p:txBody>
      </p:sp>
      <p:sp>
        <p:nvSpPr>
          <p:cNvPr id="25" name="Shape 19"/>
          <p:cNvSpPr/>
          <p:nvPr/>
        </p:nvSpPr>
        <p:spPr>
          <a:xfrm>
            <a:off x="9567102" y="685800"/>
            <a:ext cx="2189034" cy="5257800"/>
          </a:xfrm>
          <a:prstGeom prst="roundRect">
            <a:avLst>
              <a:gd name="adj" fmla="val 605"/>
            </a:avLst>
          </a:prstGeom>
          <a:solidFill>
            <a:srgbClr val="1E293B"/>
          </a:solidFill>
          <a:ln w="25337">
            <a:solidFill>
              <a:srgbClr val="6366F1"/>
            </a:solidFill>
            <a:prstDash val="solid"/>
          </a:ln>
        </p:spPr>
      </p:sp>
      <p:sp>
        <p:nvSpPr>
          <p:cNvPr id="26" name="Text 20"/>
          <p:cNvSpPr txBox="1"/>
          <p:nvPr/>
        </p:nvSpPr>
        <p:spPr>
          <a:xfrm>
            <a:off x="9693784" y="838200"/>
            <a:ext cx="234363"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05</a:t>
            </a:r>
            <a:endParaRPr lang="en-US" sz="1496" dirty="0"/>
          </a:p>
        </p:txBody>
      </p:sp>
      <p:pic>
        <p:nvPicPr>
          <p:cNvPr id="27" name="Image 4" descr="preencoded.png">    </p:cNvPr>
          <p:cNvPicPr>
            <a:picLocks noChangeAspect="1"/>
          </p:cNvPicPr>
          <p:nvPr/>
        </p:nvPicPr>
        <p:blipFill>
          <a:blip r:embed="rId5"/>
          <a:srcRect l="0" r="0" t="0" b="0"/>
          <a:stretch/>
        </p:blipFill>
        <p:spPr>
          <a:xfrm>
            <a:off x="9978820" y="850900"/>
            <a:ext cx="202692" cy="203200"/>
          </a:xfrm>
          <a:prstGeom prst="rect">
            <a:avLst/>
          </a:prstGeom>
        </p:spPr>
      </p:pic>
      <p:sp>
        <p:nvSpPr>
          <p:cNvPr id="28" name="Text 21"/>
          <p:cNvSpPr txBox="1"/>
          <p:nvPr/>
        </p:nvSpPr>
        <p:spPr>
          <a:xfrm>
            <a:off x="9693784" y="1117600"/>
            <a:ext cx="1935669" cy="5715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Design for Failure</a:t>
            </a:r>
            <a:endParaRPr lang="en-US" sz="1795" dirty="0"/>
          </a:p>
        </p:txBody>
      </p:sp>
      <p:sp>
        <p:nvSpPr>
          <p:cNvPr id="29" name="Text 22"/>
          <p:cNvSpPr txBox="1"/>
          <p:nvPr/>
        </p:nvSpPr>
        <p:spPr>
          <a:xfrm>
            <a:off x="9693784" y="1739900"/>
            <a:ext cx="1935669" cy="1600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DLQ captures 3× failed messages. ECS health checks restart unhealthy tasks. ALB routes around failures. Self-healing.</a:t>
            </a:r>
            <a:endParaRPr lang="en-US" sz="1496" dirty="0"/>
          </a:p>
        </p:txBody>
      </p:sp>
      <p:sp>
        <p:nvSpPr>
          <p:cNvPr id="30" name="Text 23"/>
          <p:cNvSpPr txBox="1"/>
          <p:nvPr/>
        </p:nvSpPr>
        <p:spPr>
          <a:xfrm>
            <a:off x="405384" y="6070600"/>
            <a:ext cx="1634204"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Applied Patterns:</a:t>
            </a:r>
            <a:endParaRPr lang="en-US" sz="1496" dirty="0"/>
          </a:p>
        </p:txBody>
      </p:sp>
      <p:sp>
        <p:nvSpPr>
          <p:cNvPr id="31" name="Shape 24"/>
          <p:cNvSpPr/>
          <p:nvPr/>
        </p:nvSpPr>
        <p:spPr>
          <a:xfrm>
            <a:off x="2191607" y="6045200"/>
            <a:ext cx="905780" cy="279400"/>
          </a:xfrm>
          <a:prstGeom prst="roundRect">
            <a:avLst>
              <a:gd name="adj" fmla="val 22883916"/>
            </a:avLst>
          </a:prstGeom>
          <a:solidFill>
            <a:srgbClr val="334155"/>
          </a:solidFill>
          <a:ln/>
        </p:spPr>
      </p:sp>
      <p:sp>
        <p:nvSpPr>
          <p:cNvPr id="32" name="Text 25"/>
          <p:cNvSpPr txBox="1"/>
          <p:nvPr/>
        </p:nvSpPr>
        <p:spPr>
          <a:xfrm>
            <a:off x="2292953" y="6070600"/>
            <a:ext cx="70308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Factory</a:t>
            </a:r>
            <a:endParaRPr lang="en-US" sz="1496" dirty="0"/>
          </a:p>
        </p:txBody>
      </p:sp>
      <p:sp>
        <p:nvSpPr>
          <p:cNvPr id="33" name="Shape 26"/>
          <p:cNvSpPr/>
          <p:nvPr/>
        </p:nvSpPr>
        <p:spPr>
          <a:xfrm>
            <a:off x="3173397" y="6045200"/>
            <a:ext cx="1216152" cy="279400"/>
          </a:xfrm>
          <a:prstGeom prst="roundRect">
            <a:avLst>
              <a:gd name="adj" fmla="val 17043750"/>
            </a:avLst>
          </a:prstGeom>
          <a:solidFill>
            <a:srgbClr val="334155"/>
          </a:solidFill>
          <a:ln/>
        </p:spPr>
      </p:sp>
      <p:sp>
        <p:nvSpPr>
          <p:cNvPr id="34" name="Text 27"/>
          <p:cNvSpPr txBox="1"/>
          <p:nvPr/>
        </p:nvSpPr>
        <p:spPr>
          <a:xfrm>
            <a:off x="3274743" y="6070600"/>
            <a:ext cx="101346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Repository</a:t>
            </a:r>
            <a:endParaRPr lang="en-US" sz="1496" dirty="0"/>
          </a:p>
        </p:txBody>
      </p:sp>
      <p:sp>
        <p:nvSpPr>
          <p:cNvPr id="35" name="Shape 28"/>
          <p:cNvSpPr/>
          <p:nvPr/>
        </p:nvSpPr>
        <p:spPr>
          <a:xfrm>
            <a:off x="4465558" y="6045200"/>
            <a:ext cx="994458" cy="279400"/>
          </a:xfrm>
          <a:prstGeom prst="roundRect">
            <a:avLst>
              <a:gd name="adj" fmla="val 20843312"/>
            </a:avLst>
          </a:prstGeom>
          <a:solidFill>
            <a:srgbClr val="334155"/>
          </a:solidFill>
          <a:ln/>
        </p:spPr>
      </p:sp>
      <p:sp>
        <p:nvSpPr>
          <p:cNvPr id="36" name="Text 29"/>
          <p:cNvSpPr txBox="1"/>
          <p:nvPr/>
        </p:nvSpPr>
        <p:spPr>
          <a:xfrm>
            <a:off x="4566904" y="6070600"/>
            <a:ext cx="79176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Strategy</a:t>
            </a:r>
            <a:endParaRPr lang="en-US" sz="1496" dirty="0"/>
          </a:p>
        </p:txBody>
      </p:sp>
      <p:sp>
        <p:nvSpPr>
          <p:cNvPr id="37" name="Shape 30"/>
          <p:cNvSpPr/>
          <p:nvPr/>
        </p:nvSpPr>
        <p:spPr>
          <a:xfrm>
            <a:off x="5536025" y="6045200"/>
            <a:ext cx="1064133" cy="279400"/>
          </a:xfrm>
          <a:prstGeom prst="roundRect">
            <a:avLst>
              <a:gd name="adj" fmla="val 19478571"/>
            </a:avLst>
          </a:prstGeom>
          <a:solidFill>
            <a:srgbClr val="334155"/>
          </a:solidFill>
          <a:ln/>
        </p:spPr>
      </p:sp>
      <p:sp>
        <p:nvSpPr>
          <p:cNvPr id="38" name="Text 31"/>
          <p:cNvSpPr txBox="1"/>
          <p:nvPr/>
        </p:nvSpPr>
        <p:spPr>
          <a:xfrm>
            <a:off x="5637371" y="6070600"/>
            <a:ext cx="861441"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Observer</a:t>
            </a:r>
            <a:endParaRPr lang="en-US" sz="1496" dirty="0"/>
          </a:p>
        </p:txBody>
      </p:sp>
      <p:sp>
        <p:nvSpPr>
          <p:cNvPr id="39" name="Shape 32"/>
          <p:cNvSpPr/>
          <p:nvPr/>
        </p:nvSpPr>
        <p:spPr>
          <a:xfrm>
            <a:off x="6676168" y="6045200"/>
            <a:ext cx="741093" cy="279400"/>
          </a:xfrm>
          <a:prstGeom prst="roundRect">
            <a:avLst>
              <a:gd name="adj" fmla="val 27969231"/>
            </a:avLst>
          </a:prstGeom>
          <a:solidFill>
            <a:srgbClr val="334155"/>
          </a:solidFill>
          <a:ln/>
        </p:spPr>
      </p:sp>
      <p:sp>
        <p:nvSpPr>
          <p:cNvPr id="40" name="Text 33"/>
          <p:cNvSpPr txBox="1"/>
          <p:nvPr/>
        </p:nvSpPr>
        <p:spPr>
          <a:xfrm>
            <a:off x="6777514" y="6070600"/>
            <a:ext cx="538401"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CQRS</a:t>
            </a:r>
            <a:endParaRPr lang="en-US" sz="1496" dirty="0"/>
          </a:p>
        </p:txBody>
      </p:sp>
      <p:sp>
        <p:nvSpPr>
          <p:cNvPr id="41" name="Shape 34"/>
          <p:cNvSpPr/>
          <p:nvPr/>
        </p:nvSpPr>
        <p:spPr>
          <a:xfrm>
            <a:off x="7493270" y="6045200"/>
            <a:ext cx="1444181" cy="279400"/>
          </a:xfrm>
          <a:prstGeom prst="roundRect">
            <a:avLst>
              <a:gd name="adj" fmla="val 14352632"/>
            </a:avLst>
          </a:prstGeom>
          <a:solidFill>
            <a:srgbClr val="334155"/>
          </a:solidFill>
          <a:ln/>
        </p:spPr>
      </p:sp>
      <p:sp>
        <p:nvSpPr>
          <p:cNvPr id="42" name="Text 35"/>
          <p:cNvSpPr txBox="1"/>
          <p:nvPr/>
        </p:nvSpPr>
        <p:spPr>
          <a:xfrm>
            <a:off x="7594616" y="6070600"/>
            <a:ext cx="124148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Event-Driven</a:t>
            </a:r>
            <a:endParaRPr lang="en-US" sz="1496" dirty="0"/>
          </a:p>
        </p:txBody>
      </p:sp>
      <p:sp>
        <p:nvSpPr>
          <p:cNvPr id="43" name="Shape 36"/>
          <p:cNvSpPr/>
          <p:nvPr/>
        </p:nvSpPr>
        <p:spPr>
          <a:xfrm>
            <a:off x="9013460" y="6045200"/>
            <a:ext cx="1108472" cy="279400"/>
          </a:xfrm>
          <a:prstGeom prst="roundRect">
            <a:avLst>
              <a:gd name="adj" fmla="val 18699429"/>
            </a:avLst>
          </a:prstGeom>
          <a:solidFill>
            <a:srgbClr val="334155"/>
          </a:solidFill>
          <a:ln/>
        </p:spPr>
      </p:sp>
      <p:sp>
        <p:nvSpPr>
          <p:cNvPr id="44" name="Text 37"/>
          <p:cNvSpPr txBox="1"/>
          <p:nvPr/>
        </p:nvSpPr>
        <p:spPr>
          <a:xfrm>
            <a:off x="9114806" y="6070600"/>
            <a:ext cx="90578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IaC (CDK)</a:t>
            </a:r>
            <a:endParaRPr lang="en-US" sz="1496" dirty="0"/>
          </a:p>
        </p:txBody>
      </p:sp>
      <p:sp>
        <p:nvSpPr>
          <p:cNvPr id="45" name="Text 38"/>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46" name="Text 39"/>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482977" cy="279400"/>
          </a:xfrm>
          <a:prstGeom prst="roundRect">
            <a:avLst>
              <a:gd name="adj" fmla="val 8347959"/>
            </a:avLst>
          </a:prstGeom>
          <a:solidFill>
            <a:srgbClr val="6366F1"/>
          </a:solidFill>
          <a:ln/>
        </p:spPr>
      </p:sp>
      <p:sp>
        <p:nvSpPr>
          <p:cNvPr id="3" name="Text 1"/>
          <p:cNvSpPr txBox="1"/>
          <p:nvPr/>
        </p:nvSpPr>
        <p:spPr>
          <a:xfrm>
            <a:off x="532067" y="279400"/>
            <a:ext cx="222961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Implementation</a:t>
            </a:r>
            <a:endParaRPr lang="en-US" sz="1496" dirty="0"/>
          </a:p>
        </p:txBody>
      </p:sp>
      <p:sp>
        <p:nvSpPr>
          <p:cNvPr id="4" name="Text 2"/>
          <p:cNvSpPr txBox="1"/>
          <p:nvPr/>
        </p:nvSpPr>
        <p:spPr>
          <a:xfrm>
            <a:off x="2989707" y="203200"/>
            <a:ext cx="3635788"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What's Built &amp; Why</a:t>
            </a:r>
            <a:endParaRPr lang="en-US" sz="2993" dirty="0"/>
          </a:p>
        </p:txBody>
      </p:sp>
      <p:sp>
        <p:nvSpPr>
          <p:cNvPr id="5" name="Shape 3"/>
          <p:cNvSpPr/>
          <p:nvPr/>
        </p:nvSpPr>
        <p:spPr>
          <a:xfrm>
            <a:off x="405384" y="685800"/>
            <a:ext cx="2007918" cy="330200"/>
          </a:xfrm>
          <a:prstGeom prst="roundRect">
            <a:avLst>
              <a:gd name="adj" fmla="val 8734870"/>
            </a:avLst>
          </a:prstGeom>
          <a:solidFill>
            <a:srgbClr val="334155"/>
          </a:solidFill>
          <a:ln/>
        </p:spPr>
      </p:sp>
      <p:pic>
        <p:nvPicPr>
          <p:cNvPr id="6" name="Image 0" descr="preencoded.png">    </p:cNvPr>
          <p:cNvPicPr>
            <a:picLocks noChangeAspect="1"/>
          </p:cNvPicPr>
          <p:nvPr/>
        </p:nvPicPr>
        <p:blipFill>
          <a:blip r:embed="rId1"/>
          <a:srcRect l="0" r="0" t="0" b="0"/>
          <a:stretch/>
        </p:blipFill>
        <p:spPr>
          <a:xfrm>
            <a:off x="532067" y="774700"/>
            <a:ext cx="152019" cy="152400"/>
          </a:xfrm>
          <a:prstGeom prst="rect">
            <a:avLst/>
          </a:prstGeom>
        </p:spPr>
      </p:pic>
      <p:sp>
        <p:nvSpPr>
          <p:cNvPr id="7" name="Text 4"/>
          <p:cNvSpPr txBox="1"/>
          <p:nvPr/>
        </p:nvSpPr>
        <p:spPr>
          <a:xfrm>
            <a:off x="734759" y="736600"/>
            <a:ext cx="1551861"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56 Tests Passing</a:t>
            </a:r>
            <a:endParaRPr lang="en-US" sz="1496" dirty="0"/>
          </a:p>
        </p:txBody>
      </p:sp>
      <p:sp>
        <p:nvSpPr>
          <p:cNvPr id="8" name="Shape 5"/>
          <p:cNvSpPr/>
          <p:nvPr/>
        </p:nvSpPr>
        <p:spPr>
          <a:xfrm>
            <a:off x="2514648" y="685800"/>
            <a:ext cx="1798892" cy="330200"/>
          </a:xfrm>
          <a:prstGeom prst="roundRect">
            <a:avLst>
              <a:gd name="adj" fmla="val 9749837"/>
            </a:avLst>
          </a:prstGeom>
          <a:solidFill>
            <a:srgbClr val="334155"/>
          </a:solidFill>
          <a:ln/>
        </p:spPr>
      </p:sp>
      <p:pic>
        <p:nvPicPr>
          <p:cNvPr id="9" name="Image 1" descr="preencoded.png">    </p:cNvPr>
          <p:cNvPicPr>
            <a:picLocks noChangeAspect="1"/>
          </p:cNvPicPr>
          <p:nvPr/>
        </p:nvPicPr>
        <p:blipFill>
          <a:blip r:embed="rId2"/>
          <a:srcRect l="0" r="0" t="0" b="0"/>
          <a:stretch/>
        </p:blipFill>
        <p:spPr>
          <a:xfrm>
            <a:off x="2641330" y="774700"/>
            <a:ext cx="152019" cy="152400"/>
          </a:xfrm>
          <a:prstGeom prst="rect">
            <a:avLst/>
          </a:prstGeom>
        </p:spPr>
      </p:pic>
      <p:sp>
        <p:nvSpPr>
          <p:cNvPr id="10" name="Text 6"/>
          <p:cNvSpPr txBox="1"/>
          <p:nvPr/>
        </p:nvSpPr>
        <p:spPr>
          <a:xfrm>
            <a:off x="2844022" y="736600"/>
            <a:ext cx="1342835"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88% Coverage</a:t>
            </a:r>
            <a:endParaRPr lang="en-US" sz="1496" dirty="0"/>
          </a:p>
        </p:txBody>
      </p:sp>
      <p:sp>
        <p:nvSpPr>
          <p:cNvPr id="11" name="Shape 7"/>
          <p:cNvSpPr/>
          <p:nvPr/>
        </p:nvSpPr>
        <p:spPr>
          <a:xfrm>
            <a:off x="4414885" y="685800"/>
            <a:ext cx="1703880" cy="330200"/>
          </a:xfrm>
          <a:prstGeom prst="roundRect">
            <a:avLst>
              <a:gd name="adj" fmla="val 10293509"/>
            </a:avLst>
          </a:prstGeom>
          <a:solidFill>
            <a:srgbClr val="334155"/>
          </a:solidFill>
          <a:ln/>
        </p:spPr>
      </p:sp>
      <p:pic>
        <p:nvPicPr>
          <p:cNvPr id="12" name="Image 2" descr="preencoded.png">    </p:cNvPr>
          <p:cNvPicPr>
            <a:picLocks noChangeAspect="1"/>
          </p:cNvPicPr>
          <p:nvPr/>
        </p:nvPicPr>
        <p:blipFill>
          <a:blip r:embed="rId3"/>
          <a:srcRect l="0" r="0" t="0" b="0"/>
          <a:stretch/>
        </p:blipFill>
        <p:spPr>
          <a:xfrm>
            <a:off x="4541568" y="774700"/>
            <a:ext cx="152019" cy="152400"/>
          </a:xfrm>
          <a:prstGeom prst="rect">
            <a:avLst/>
          </a:prstGeom>
        </p:spPr>
      </p:pic>
      <p:sp>
        <p:nvSpPr>
          <p:cNvPr id="13" name="Text 8"/>
          <p:cNvSpPr txBox="1"/>
          <p:nvPr/>
        </p:nvSpPr>
        <p:spPr>
          <a:xfrm>
            <a:off x="4744260" y="736600"/>
            <a:ext cx="1247823"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5 CDK Stacks</a:t>
            </a:r>
            <a:endParaRPr lang="en-US" sz="1496" dirty="0"/>
          </a:p>
        </p:txBody>
      </p:sp>
      <p:sp>
        <p:nvSpPr>
          <p:cNvPr id="14" name="Shape 9"/>
          <p:cNvSpPr/>
          <p:nvPr/>
        </p:nvSpPr>
        <p:spPr>
          <a:xfrm>
            <a:off x="6220111" y="685800"/>
            <a:ext cx="2482977" cy="330200"/>
          </a:xfrm>
          <a:prstGeom prst="roundRect">
            <a:avLst>
              <a:gd name="adj" fmla="val 7063658"/>
            </a:avLst>
          </a:prstGeom>
          <a:solidFill>
            <a:srgbClr val="334155"/>
          </a:solidFill>
          <a:ln/>
        </p:spPr>
      </p:sp>
      <p:pic>
        <p:nvPicPr>
          <p:cNvPr id="15" name="Image 3" descr="preencoded.png">    </p:cNvPr>
          <p:cNvPicPr>
            <a:picLocks noChangeAspect="1"/>
          </p:cNvPicPr>
          <p:nvPr/>
        </p:nvPicPr>
        <p:blipFill>
          <a:blip r:embed="rId4"/>
          <a:srcRect l="0" r="0" t="0" b="0"/>
          <a:stretch/>
        </p:blipFill>
        <p:spPr>
          <a:xfrm>
            <a:off x="6346793" y="774700"/>
            <a:ext cx="152019" cy="152400"/>
          </a:xfrm>
          <a:prstGeom prst="rect">
            <a:avLst/>
          </a:prstGeom>
        </p:spPr>
      </p:pic>
      <p:sp>
        <p:nvSpPr>
          <p:cNvPr id="16" name="Text 10"/>
          <p:cNvSpPr txBox="1"/>
          <p:nvPr/>
        </p:nvSpPr>
        <p:spPr>
          <a:xfrm>
            <a:off x="6549485" y="736600"/>
            <a:ext cx="2026920"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4 ADRs Documented</a:t>
            </a:r>
            <a:endParaRPr lang="en-US" sz="1496" dirty="0"/>
          </a:p>
        </p:txBody>
      </p:sp>
      <p:sp>
        <p:nvSpPr>
          <p:cNvPr id="17" name="Shape 11"/>
          <p:cNvSpPr/>
          <p:nvPr/>
        </p:nvSpPr>
        <p:spPr>
          <a:xfrm>
            <a:off x="405384" y="1117600"/>
            <a:ext cx="1621041" cy="381000"/>
          </a:xfrm>
          <a:prstGeom prst="roundRect">
            <a:avLst>
              <a:gd name="adj" fmla="val 11253"/>
            </a:avLst>
          </a:prstGeom>
          <a:solidFill>
            <a:srgbClr val="6366F1"/>
          </a:solidFill>
          <a:ln/>
        </p:spPr>
      </p:sp>
      <p:sp>
        <p:nvSpPr>
          <p:cNvPr id="18" name="Text 12"/>
          <p:cNvSpPr txBox="1"/>
          <p:nvPr/>
        </p:nvSpPr>
        <p:spPr>
          <a:xfrm>
            <a:off x="506730" y="1193800"/>
            <a:ext cx="141834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Component</a:t>
            </a:r>
            <a:endParaRPr lang="en-US" sz="1496" dirty="0"/>
          </a:p>
        </p:txBody>
      </p:sp>
      <p:sp>
        <p:nvSpPr>
          <p:cNvPr id="19" name="Shape 13"/>
          <p:cNvSpPr/>
          <p:nvPr/>
        </p:nvSpPr>
        <p:spPr>
          <a:xfrm>
            <a:off x="2026425" y="1117600"/>
            <a:ext cx="1298496" cy="381000"/>
          </a:xfrm>
          <a:prstGeom prst="rect">
            <a:avLst/>
          </a:prstGeom>
          <a:solidFill>
            <a:srgbClr val="6366F1"/>
          </a:solidFill>
          <a:ln/>
        </p:spPr>
      </p:sp>
      <p:sp>
        <p:nvSpPr>
          <p:cNvPr id="20" name="Text 14"/>
          <p:cNvSpPr txBox="1"/>
          <p:nvPr/>
        </p:nvSpPr>
        <p:spPr>
          <a:xfrm>
            <a:off x="2127771" y="1193800"/>
            <a:ext cx="109580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Status</a:t>
            </a:r>
            <a:endParaRPr lang="en-US" sz="1496" dirty="0"/>
          </a:p>
        </p:txBody>
      </p:sp>
      <p:sp>
        <p:nvSpPr>
          <p:cNvPr id="21" name="Shape 15"/>
          <p:cNvSpPr/>
          <p:nvPr/>
        </p:nvSpPr>
        <p:spPr>
          <a:xfrm>
            <a:off x="3324921" y="1117600"/>
            <a:ext cx="2527811" cy="381000"/>
          </a:xfrm>
          <a:prstGeom prst="roundRect">
            <a:avLst/>
          </a:prstGeom>
          <a:solidFill>
            <a:srgbClr val="6366F1"/>
          </a:solidFill>
          <a:ln/>
        </p:spPr>
      </p:sp>
      <p:sp>
        <p:nvSpPr>
          <p:cNvPr id="22" name="Text 16"/>
          <p:cNvSpPr txBox="1"/>
          <p:nvPr/>
        </p:nvSpPr>
        <p:spPr>
          <a:xfrm>
            <a:off x="3426267" y="1193800"/>
            <a:ext cx="232511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Notes</a:t>
            </a:r>
            <a:endParaRPr lang="en-US" sz="1496" dirty="0"/>
          </a:p>
        </p:txBody>
      </p:sp>
      <p:sp>
        <p:nvSpPr>
          <p:cNvPr id="23" name="Text 17"/>
          <p:cNvSpPr txBox="1"/>
          <p:nvPr/>
        </p:nvSpPr>
        <p:spPr>
          <a:xfrm>
            <a:off x="506730" y="1698923"/>
            <a:ext cx="141834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FastAPI Service</a:t>
            </a:r>
            <a:endParaRPr lang="en-US" sz="1496" dirty="0"/>
          </a:p>
        </p:txBody>
      </p:sp>
      <p:sp>
        <p:nvSpPr>
          <p:cNvPr id="24" name="Text 18"/>
          <p:cNvSpPr txBox="1"/>
          <p:nvPr/>
        </p:nvSpPr>
        <p:spPr>
          <a:xfrm>
            <a:off x="2127771" y="1813223"/>
            <a:ext cx="1095804"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 Built</a:t>
            </a:r>
            <a:endParaRPr lang="en-US" sz="1496" dirty="0"/>
          </a:p>
        </p:txBody>
      </p:sp>
      <p:sp>
        <p:nvSpPr>
          <p:cNvPr id="25" name="Text 19"/>
          <p:cNvSpPr txBox="1"/>
          <p:nvPr/>
        </p:nvSpPr>
        <p:spPr>
          <a:xfrm>
            <a:off x="3426267" y="1698923"/>
            <a:ext cx="2325119"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5 endpoints, Pydantic, async</a:t>
            </a:r>
            <a:endParaRPr lang="en-US" sz="1496" dirty="0"/>
          </a:p>
        </p:txBody>
      </p:sp>
      <p:sp>
        <p:nvSpPr>
          <p:cNvPr id="26" name="Text 20"/>
          <p:cNvSpPr txBox="1"/>
          <p:nvPr/>
        </p:nvSpPr>
        <p:spPr>
          <a:xfrm>
            <a:off x="506730" y="2510334"/>
            <a:ext cx="141834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SQS + DLQ</a:t>
            </a:r>
            <a:endParaRPr lang="en-US" sz="1496" dirty="0"/>
          </a:p>
        </p:txBody>
      </p:sp>
      <p:sp>
        <p:nvSpPr>
          <p:cNvPr id="27" name="Text 21"/>
          <p:cNvSpPr txBox="1"/>
          <p:nvPr/>
        </p:nvSpPr>
        <p:spPr>
          <a:xfrm>
            <a:off x="2127771" y="2510334"/>
            <a:ext cx="1095804"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 Built</a:t>
            </a:r>
            <a:endParaRPr lang="en-US" sz="1496" dirty="0"/>
          </a:p>
        </p:txBody>
      </p:sp>
      <p:sp>
        <p:nvSpPr>
          <p:cNvPr id="28" name="Text 22"/>
          <p:cNvSpPr txBox="1"/>
          <p:nvPr/>
        </p:nvSpPr>
        <p:spPr>
          <a:xfrm>
            <a:off x="3426267" y="2510334"/>
            <a:ext cx="232511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KMS encrypted, 3× retry</a:t>
            </a:r>
            <a:endParaRPr lang="en-US" sz="1496" dirty="0"/>
          </a:p>
        </p:txBody>
      </p:sp>
      <p:sp>
        <p:nvSpPr>
          <p:cNvPr id="29" name="Text 23"/>
          <p:cNvSpPr txBox="1"/>
          <p:nvPr/>
        </p:nvSpPr>
        <p:spPr>
          <a:xfrm>
            <a:off x="506730" y="3093045"/>
            <a:ext cx="141834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Render Workers</a:t>
            </a:r>
            <a:endParaRPr lang="en-US" sz="1496" dirty="0"/>
          </a:p>
        </p:txBody>
      </p:sp>
      <p:sp>
        <p:nvSpPr>
          <p:cNvPr id="30" name="Text 24"/>
          <p:cNvSpPr txBox="1"/>
          <p:nvPr/>
        </p:nvSpPr>
        <p:spPr>
          <a:xfrm>
            <a:off x="2127771" y="3207345"/>
            <a:ext cx="1095804" cy="228600"/>
          </a:xfrm>
          <a:prstGeom prst="rect">
            <a:avLst/>
          </a:prstGeom>
          <a:noFill/>
          <a:ln/>
        </p:spPr>
        <p:txBody>
          <a:bodyPr wrap="square" lIns="0" tIns="0" rIns="0" bIns="0" rtlCol="0" anchor="ctr"/>
          <a:lstStyle/>
          <a:p>
            <a:pPr algn="l" indent="0" marL="0">
              <a:buNone/>
            </a:pPr>
            <a:r>
              <a:rPr lang="en-US" sz="1496" dirty="0">
                <a:solidFill>
                  <a:srgbClr val="22D3EE"/>
                </a:solidFill>
                <a:latin typeface="Century Gothic" pitchFamily="34" charset="0"/>
                <a:ea typeface="Century Gothic" pitchFamily="34" charset="-122"/>
                <a:cs typeface="Century Gothic" pitchFamily="34" charset="-120"/>
              </a:rPr>
              <a:t>⚡ Stubbed</a:t>
            </a:r>
            <a:endParaRPr lang="en-US" sz="1496" dirty="0"/>
          </a:p>
        </p:txBody>
      </p:sp>
      <p:sp>
        <p:nvSpPr>
          <p:cNvPr id="31" name="Text 25"/>
          <p:cNvSpPr txBox="1"/>
          <p:nvPr/>
        </p:nvSpPr>
        <p:spPr>
          <a:xfrm>
            <a:off x="3426267" y="3093045"/>
            <a:ext cx="2325119"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Pillow overlay (Blender in prod)</a:t>
            </a:r>
            <a:endParaRPr lang="en-US" sz="1496" dirty="0"/>
          </a:p>
        </p:txBody>
      </p:sp>
      <p:sp>
        <p:nvSpPr>
          <p:cNvPr id="32" name="Text 26"/>
          <p:cNvSpPr txBox="1"/>
          <p:nvPr/>
        </p:nvSpPr>
        <p:spPr>
          <a:xfrm>
            <a:off x="506730" y="3950990"/>
            <a:ext cx="141834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S3 / CloudFront</a:t>
            </a:r>
            <a:endParaRPr lang="en-US" sz="1496" dirty="0"/>
          </a:p>
        </p:txBody>
      </p:sp>
      <p:sp>
        <p:nvSpPr>
          <p:cNvPr id="33" name="Text 27"/>
          <p:cNvSpPr txBox="1"/>
          <p:nvPr/>
        </p:nvSpPr>
        <p:spPr>
          <a:xfrm>
            <a:off x="2127771" y="4065290"/>
            <a:ext cx="1095804"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 Built</a:t>
            </a:r>
            <a:endParaRPr lang="en-US" sz="1496" dirty="0"/>
          </a:p>
        </p:txBody>
      </p:sp>
      <p:sp>
        <p:nvSpPr>
          <p:cNvPr id="34" name="Text 28"/>
          <p:cNvSpPr txBox="1"/>
          <p:nvPr/>
        </p:nvSpPr>
        <p:spPr>
          <a:xfrm>
            <a:off x="3426267" y="3950990"/>
            <a:ext cx="2325119"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KMS, versioning, CDN delivery</a:t>
            </a:r>
            <a:endParaRPr lang="en-US" sz="1496" dirty="0"/>
          </a:p>
        </p:txBody>
      </p:sp>
      <p:sp>
        <p:nvSpPr>
          <p:cNvPr id="35" name="Text 29"/>
          <p:cNvSpPr txBox="1"/>
          <p:nvPr/>
        </p:nvSpPr>
        <p:spPr>
          <a:xfrm>
            <a:off x="506730" y="4808934"/>
            <a:ext cx="141834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DynamoDB + GSI</a:t>
            </a:r>
            <a:endParaRPr lang="en-US" sz="1496" dirty="0"/>
          </a:p>
        </p:txBody>
      </p:sp>
      <p:sp>
        <p:nvSpPr>
          <p:cNvPr id="36" name="Text 30"/>
          <p:cNvSpPr txBox="1"/>
          <p:nvPr/>
        </p:nvSpPr>
        <p:spPr>
          <a:xfrm>
            <a:off x="2127771" y="4923234"/>
            <a:ext cx="1095804"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 Built</a:t>
            </a:r>
            <a:endParaRPr lang="en-US" sz="1496" dirty="0"/>
          </a:p>
        </p:txBody>
      </p:sp>
      <p:sp>
        <p:nvSpPr>
          <p:cNvPr id="37" name="Text 31"/>
          <p:cNvSpPr txBox="1"/>
          <p:nvPr/>
        </p:nvSpPr>
        <p:spPr>
          <a:xfrm>
            <a:off x="3426267" y="4923234"/>
            <a:ext cx="232511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On-demand, TTL, PITR</a:t>
            </a:r>
            <a:endParaRPr lang="en-US" sz="1496" dirty="0"/>
          </a:p>
        </p:txBody>
      </p:sp>
      <p:sp>
        <p:nvSpPr>
          <p:cNvPr id="38" name="Text 32"/>
          <p:cNvSpPr txBox="1"/>
          <p:nvPr/>
        </p:nvSpPr>
        <p:spPr>
          <a:xfrm>
            <a:off x="506730" y="5666978"/>
            <a:ext cx="1418349"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GPU Rendering</a:t>
            </a:r>
            <a:endParaRPr lang="en-US" sz="1496" dirty="0"/>
          </a:p>
        </p:txBody>
      </p:sp>
      <p:sp>
        <p:nvSpPr>
          <p:cNvPr id="39" name="Text 33"/>
          <p:cNvSpPr txBox="1"/>
          <p:nvPr/>
        </p:nvSpPr>
        <p:spPr>
          <a:xfrm>
            <a:off x="2127771" y="5781278"/>
            <a:ext cx="1095804" cy="228600"/>
          </a:xfrm>
          <a:prstGeom prst="rect">
            <a:avLst/>
          </a:prstGeom>
          <a:noFill/>
          <a:ln/>
        </p:spPr>
        <p:txBody>
          <a:bodyPr wrap="square" lIns="0" tIns="0" rIns="0" bIns="0" rtlCol="0" anchor="ctr"/>
          <a:lstStyle/>
          <a:p>
            <a:pPr algn="l" indent="0" marL="0">
              <a:buNone/>
            </a:pPr>
            <a:r>
              <a:rPr lang="en-US" sz="1496" dirty="0">
                <a:solidFill>
                  <a:srgbClr val="22D3EE"/>
                </a:solidFill>
                <a:latin typeface="Century Gothic" pitchFamily="34" charset="0"/>
                <a:ea typeface="Century Gothic" pitchFamily="34" charset="-122"/>
                <a:cs typeface="Century Gothic" pitchFamily="34" charset="-120"/>
              </a:rPr>
              <a:t>⚡ Stubbed</a:t>
            </a:r>
            <a:endParaRPr lang="en-US" sz="1496" dirty="0"/>
          </a:p>
        </p:txBody>
      </p:sp>
      <p:sp>
        <p:nvSpPr>
          <p:cNvPr id="40" name="Text 34"/>
          <p:cNvSpPr txBox="1"/>
          <p:nvPr/>
        </p:nvSpPr>
        <p:spPr>
          <a:xfrm>
            <a:off x="3426267" y="5666978"/>
            <a:ext cx="2325119"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Architecture ready, cost-controlled</a:t>
            </a:r>
            <a:endParaRPr lang="en-US" sz="1496" dirty="0"/>
          </a:p>
        </p:txBody>
      </p:sp>
      <p:sp>
        <p:nvSpPr>
          <p:cNvPr id="41" name="Shape 35"/>
          <p:cNvSpPr/>
          <p:nvPr/>
        </p:nvSpPr>
        <p:spPr>
          <a:xfrm>
            <a:off x="6004751" y="1117600"/>
            <a:ext cx="5751386" cy="5207000"/>
          </a:xfrm>
          <a:prstGeom prst="roundRect">
            <a:avLst>
              <a:gd name="adj" fmla="val 232"/>
            </a:avLst>
          </a:prstGeom>
          <a:solidFill>
            <a:srgbClr val="1E293B"/>
          </a:solidFill>
          <a:ln/>
        </p:spPr>
      </p:sp>
      <p:sp>
        <p:nvSpPr>
          <p:cNvPr id="42" name="Text 36"/>
          <p:cNvSpPr txBox="1"/>
          <p:nvPr/>
        </p:nvSpPr>
        <p:spPr>
          <a:xfrm>
            <a:off x="6156770" y="1270000"/>
            <a:ext cx="5447348"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Tech Stack Decisions</a:t>
            </a:r>
            <a:endParaRPr lang="en-US" sz="1795" dirty="0"/>
          </a:p>
        </p:txBody>
      </p:sp>
      <p:sp>
        <p:nvSpPr>
          <p:cNvPr id="43" name="Shape 37"/>
          <p:cNvSpPr/>
          <p:nvPr/>
        </p:nvSpPr>
        <p:spPr>
          <a:xfrm>
            <a:off x="6156770" y="1625600"/>
            <a:ext cx="5447348" cy="848320"/>
          </a:xfrm>
          <a:prstGeom prst="roundRect">
            <a:avLst>
              <a:gd name="adj" fmla="val 1003"/>
            </a:avLst>
          </a:prstGeom>
          <a:solidFill>
            <a:srgbClr val="334155"/>
          </a:solidFill>
          <a:ln/>
        </p:spPr>
      </p:sp>
      <p:sp>
        <p:nvSpPr>
          <p:cNvPr id="44" name="Text 38"/>
          <p:cNvSpPr txBox="1"/>
          <p:nvPr/>
        </p:nvSpPr>
        <p:spPr>
          <a:xfrm>
            <a:off x="6258116" y="1727200"/>
            <a:ext cx="524465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FastAPI</a:t>
            </a:r>
            <a:endParaRPr lang="en-US" sz="1496" dirty="0"/>
          </a:p>
        </p:txBody>
      </p:sp>
      <p:sp>
        <p:nvSpPr>
          <p:cNvPr id="45" name="Text 39"/>
          <p:cNvSpPr txBox="1"/>
          <p:nvPr/>
        </p:nvSpPr>
        <p:spPr>
          <a:xfrm>
            <a:off x="6258116" y="1981200"/>
            <a:ext cx="524465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Async-native, auto-docs, Python ecosystem</a:t>
            </a:r>
            <a:endParaRPr lang="en-US" sz="1496" dirty="0"/>
          </a:p>
        </p:txBody>
      </p:sp>
      <p:sp>
        <p:nvSpPr>
          <p:cNvPr id="46" name="Shape 40"/>
          <p:cNvSpPr/>
          <p:nvPr/>
        </p:nvSpPr>
        <p:spPr>
          <a:xfrm>
            <a:off x="6156770" y="2550120"/>
            <a:ext cx="5447348" cy="848420"/>
          </a:xfrm>
          <a:prstGeom prst="roundRect">
            <a:avLst>
              <a:gd name="adj" fmla="val 1003"/>
            </a:avLst>
          </a:prstGeom>
          <a:solidFill>
            <a:srgbClr val="0F172A"/>
          </a:solidFill>
          <a:ln/>
        </p:spPr>
      </p:sp>
      <p:sp>
        <p:nvSpPr>
          <p:cNvPr id="47" name="Text 41"/>
          <p:cNvSpPr txBox="1"/>
          <p:nvPr/>
        </p:nvSpPr>
        <p:spPr>
          <a:xfrm>
            <a:off x="6258116" y="2651720"/>
            <a:ext cx="524465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SQS</a:t>
            </a:r>
            <a:endParaRPr lang="en-US" sz="1496" dirty="0"/>
          </a:p>
        </p:txBody>
      </p:sp>
      <p:sp>
        <p:nvSpPr>
          <p:cNvPr id="48" name="Text 42"/>
          <p:cNvSpPr txBox="1"/>
          <p:nvPr/>
        </p:nvSpPr>
        <p:spPr>
          <a:xfrm>
            <a:off x="6258116" y="2905720"/>
            <a:ext cx="524465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Managed, durable, scales with ECS auto-scaling</a:t>
            </a:r>
            <a:endParaRPr lang="en-US" sz="1496" dirty="0"/>
          </a:p>
        </p:txBody>
      </p:sp>
      <p:sp>
        <p:nvSpPr>
          <p:cNvPr id="49" name="Shape 43"/>
          <p:cNvSpPr/>
          <p:nvPr/>
        </p:nvSpPr>
        <p:spPr>
          <a:xfrm>
            <a:off x="6156770" y="3474740"/>
            <a:ext cx="5447348" cy="848320"/>
          </a:xfrm>
          <a:prstGeom prst="roundRect">
            <a:avLst>
              <a:gd name="adj" fmla="val 1003"/>
            </a:avLst>
          </a:prstGeom>
          <a:solidFill>
            <a:srgbClr val="334155"/>
          </a:solidFill>
          <a:ln/>
        </p:spPr>
      </p:sp>
      <p:sp>
        <p:nvSpPr>
          <p:cNvPr id="50" name="Text 44"/>
          <p:cNvSpPr txBox="1"/>
          <p:nvPr/>
        </p:nvSpPr>
        <p:spPr>
          <a:xfrm>
            <a:off x="6258116" y="3576340"/>
            <a:ext cx="524465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ECS Fargate</a:t>
            </a:r>
            <a:endParaRPr lang="en-US" sz="1496" dirty="0"/>
          </a:p>
        </p:txBody>
      </p:sp>
      <p:sp>
        <p:nvSpPr>
          <p:cNvPr id="51" name="Text 45"/>
          <p:cNvSpPr txBox="1"/>
          <p:nvPr/>
        </p:nvSpPr>
        <p:spPr>
          <a:xfrm>
            <a:off x="6258116" y="3830340"/>
            <a:ext cx="524465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Serverless containers, no EC2 management</a:t>
            </a:r>
            <a:endParaRPr lang="en-US" sz="1496" dirty="0"/>
          </a:p>
        </p:txBody>
      </p:sp>
      <p:sp>
        <p:nvSpPr>
          <p:cNvPr id="52" name="Shape 46"/>
          <p:cNvSpPr/>
          <p:nvPr/>
        </p:nvSpPr>
        <p:spPr>
          <a:xfrm>
            <a:off x="6156770" y="4399260"/>
            <a:ext cx="5447348" cy="848420"/>
          </a:xfrm>
          <a:prstGeom prst="roundRect">
            <a:avLst>
              <a:gd name="adj" fmla="val 1003"/>
            </a:avLst>
          </a:prstGeom>
          <a:solidFill>
            <a:srgbClr val="0F172A"/>
          </a:solidFill>
          <a:ln/>
        </p:spPr>
      </p:sp>
      <p:sp>
        <p:nvSpPr>
          <p:cNvPr id="53" name="Text 47"/>
          <p:cNvSpPr txBox="1"/>
          <p:nvPr/>
        </p:nvSpPr>
        <p:spPr>
          <a:xfrm>
            <a:off x="6258116" y="4500860"/>
            <a:ext cx="524465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CloudFront</a:t>
            </a:r>
            <a:endParaRPr lang="en-US" sz="1496" dirty="0"/>
          </a:p>
        </p:txBody>
      </p:sp>
      <p:sp>
        <p:nvSpPr>
          <p:cNvPr id="54" name="Text 48"/>
          <p:cNvSpPr txBox="1"/>
          <p:nvPr/>
        </p:nvSpPr>
        <p:spPr>
          <a:xfrm>
            <a:off x="6258116" y="4754860"/>
            <a:ext cx="524465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Global CDN, integrates natively with S3</a:t>
            </a:r>
            <a:endParaRPr lang="en-US" sz="1496" dirty="0"/>
          </a:p>
        </p:txBody>
      </p:sp>
      <p:sp>
        <p:nvSpPr>
          <p:cNvPr id="55" name="Shape 49"/>
          <p:cNvSpPr/>
          <p:nvPr/>
        </p:nvSpPr>
        <p:spPr>
          <a:xfrm>
            <a:off x="6156770" y="5323880"/>
            <a:ext cx="5447348" cy="848320"/>
          </a:xfrm>
          <a:prstGeom prst="roundRect">
            <a:avLst>
              <a:gd name="adj" fmla="val 1003"/>
            </a:avLst>
          </a:prstGeom>
          <a:solidFill>
            <a:srgbClr val="334155"/>
          </a:solidFill>
          <a:ln/>
        </p:spPr>
      </p:sp>
      <p:sp>
        <p:nvSpPr>
          <p:cNvPr id="56" name="Text 50"/>
          <p:cNvSpPr txBox="1"/>
          <p:nvPr/>
        </p:nvSpPr>
        <p:spPr>
          <a:xfrm>
            <a:off x="6258116" y="5425480"/>
            <a:ext cx="524465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DynamoDB</a:t>
            </a:r>
            <a:endParaRPr lang="en-US" sz="1496" dirty="0"/>
          </a:p>
        </p:txBody>
      </p:sp>
      <p:sp>
        <p:nvSpPr>
          <p:cNvPr id="57" name="Text 51"/>
          <p:cNvSpPr txBox="1"/>
          <p:nvPr/>
        </p:nvSpPr>
        <p:spPr>
          <a:xfrm>
            <a:off x="6258116" y="5679480"/>
            <a:ext cx="524465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Serverless, low-latency job state lookups</a:t>
            </a:r>
            <a:endParaRPr lang="en-US" sz="1496" dirty="0"/>
          </a:p>
        </p:txBody>
      </p:sp>
      <p:sp>
        <p:nvSpPr>
          <p:cNvPr id="58" name="Text 52"/>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59" name="Text 53"/>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
        <p:nvSpPr>
          <p:cNvPr id="60" name="Text 54"/>
          <p:cNvSpPr txBox="1"/>
          <p:nvPr/>
        </p:nvSpPr>
        <p:spPr>
          <a:xfrm>
            <a:off x="6156770" y="6172200"/>
            <a:ext cx="5447348" cy="203200"/>
          </a:xfrm>
          <a:prstGeom prst="rect">
            <a:avLst/>
          </a:prstGeom>
          <a:noFill/>
          <a:ln/>
        </p:spPr>
        <p:txBody>
          <a:bodyPr wrap="none" lIns="0" tIns="0" rIns="0" bIns="0" rtlCol="0" anchor="ctr"/>
          <a:lstStyle/>
          <a:p>
            <a:pPr algn="r" indent="0" marL="0">
              <a:buNone/>
            </a:pPr>
            <a:r>
              <a:rPr lang="en-US" sz="1097" dirty="0">
                <a:solidFill>
                  <a:srgbClr val="94A3B8"/>
                </a:solidFill>
                <a:latin typeface="Century Gothic" pitchFamily="34" charset="0"/>
                <a:ea typeface="Century Gothic" pitchFamily="34" charset="-122"/>
                <a:cs typeface="Century Gothic" pitchFamily="34" charset="-120"/>
              </a:rPr>
              <a:t>Live demo endpoint: http://decoration-preview-alb-1021450355.eu-central-1.elb.amazonaws.com/</a:t>
            </a:r>
            <a:endParaRPr lang="en-US" sz="1097"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868567" cy="279400"/>
          </a:xfrm>
          <a:prstGeom prst="roundRect">
            <a:avLst>
              <a:gd name="adj" fmla="val 11092881"/>
            </a:avLst>
          </a:prstGeom>
          <a:solidFill>
            <a:srgbClr val="6366F1"/>
          </a:solidFill>
          <a:ln/>
        </p:spPr>
      </p:sp>
      <p:sp>
        <p:nvSpPr>
          <p:cNvPr id="3" name="Text 1"/>
          <p:cNvSpPr txBox="1"/>
          <p:nvPr/>
        </p:nvSpPr>
        <p:spPr>
          <a:xfrm>
            <a:off x="532067" y="279400"/>
            <a:ext cx="161520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Part 1 · Summary</a:t>
            </a:r>
            <a:endParaRPr lang="en-US" sz="1496" dirty="0"/>
          </a:p>
        </p:txBody>
      </p:sp>
      <p:sp>
        <p:nvSpPr>
          <p:cNvPr id="4" name="Text 2"/>
          <p:cNvSpPr txBox="1"/>
          <p:nvPr/>
        </p:nvSpPr>
        <p:spPr>
          <a:xfrm>
            <a:off x="2375297" y="203200"/>
            <a:ext cx="5852732"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Key Decisions &amp; Competencies</a:t>
            </a:r>
            <a:endParaRPr lang="en-US" sz="2993" dirty="0"/>
          </a:p>
        </p:txBody>
      </p:sp>
      <p:sp>
        <p:nvSpPr>
          <p:cNvPr id="5" name="Text 3"/>
          <p:cNvSpPr txBox="1"/>
          <p:nvPr/>
        </p:nvSpPr>
        <p:spPr>
          <a:xfrm>
            <a:off x="405384" y="736600"/>
            <a:ext cx="5548694" cy="254000"/>
          </a:xfrm>
          <a:prstGeom prst="rect">
            <a:avLst/>
          </a:prstGeom>
          <a:noFill/>
          <a:ln/>
        </p:spPr>
        <p:txBody>
          <a:bodyPr wrap="square" lIns="0" tIns="0" rIns="0" bIns="0" rtlCol="0" anchor="ctr"/>
          <a:lstStyle/>
          <a:p>
            <a:pPr algn="l" indent="0" marL="0">
              <a:buNone/>
            </a:pPr>
            <a:r>
              <a:rPr lang="en-US" sz="1795" b="1" dirty="0">
                <a:solidFill>
                  <a:srgbClr val="6366F1"/>
                </a:solidFill>
                <a:latin typeface="Century Gothic" pitchFamily="34" charset="0"/>
                <a:ea typeface="Century Gothic" pitchFamily="34" charset="-122"/>
                <a:cs typeface="Century Gothic" pitchFamily="34" charset="-120"/>
              </a:rPr>
              <a:t>Technical Decisions</a:t>
            </a:r>
            <a:endParaRPr lang="en-US" sz="1795" dirty="0"/>
          </a:p>
        </p:txBody>
      </p:sp>
      <p:sp>
        <p:nvSpPr>
          <p:cNvPr id="6" name="Shape 4"/>
          <p:cNvSpPr/>
          <p:nvPr/>
        </p:nvSpPr>
        <p:spPr>
          <a:xfrm>
            <a:off x="405384" y="1092200"/>
            <a:ext cx="5548694" cy="1642467"/>
          </a:xfrm>
          <a:prstGeom prst="roundRect">
            <a:avLst>
              <a:gd name="adj" fmla="val 763"/>
            </a:avLst>
          </a:prstGeom>
          <a:solidFill>
            <a:srgbClr val="334155"/>
          </a:solidFill>
          <a:ln/>
        </p:spPr>
      </p:sp>
      <p:pic>
        <p:nvPicPr>
          <p:cNvPr id="7" name="Image 0" descr="preencoded.png">    </p:cNvPr>
          <p:cNvPicPr>
            <a:picLocks noChangeAspect="1"/>
          </p:cNvPicPr>
          <p:nvPr/>
        </p:nvPicPr>
        <p:blipFill>
          <a:blip r:embed="rId1"/>
          <a:srcRect l="0" r="0" t="0" b="0"/>
          <a:stretch/>
        </p:blipFill>
        <p:spPr>
          <a:xfrm>
            <a:off x="557403" y="1786434"/>
            <a:ext cx="253365" cy="254000"/>
          </a:xfrm>
          <a:prstGeom prst="rect">
            <a:avLst/>
          </a:prstGeom>
        </p:spPr>
      </p:pic>
      <p:sp>
        <p:nvSpPr>
          <p:cNvPr id="8" name="Text 5"/>
          <p:cNvSpPr txBox="1"/>
          <p:nvPr/>
        </p:nvSpPr>
        <p:spPr>
          <a:xfrm>
            <a:off x="937451" y="1684834"/>
            <a:ext cx="486460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Async over sync</a:t>
            </a:r>
            <a:endParaRPr lang="en-US" sz="1496" dirty="0"/>
          </a:p>
        </p:txBody>
      </p:sp>
      <p:sp>
        <p:nvSpPr>
          <p:cNvPr id="9" name="Text 6"/>
          <p:cNvSpPr txBox="1"/>
          <p:nvPr/>
        </p:nvSpPr>
        <p:spPr>
          <a:xfrm>
            <a:off x="937451" y="1913434"/>
            <a:ext cx="4864608"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Frees designers from waiting — core UX win</a:t>
            </a:r>
            <a:endParaRPr lang="en-US" sz="1496" dirty="0"/>
          </a:p>
        </p:txBody>
      </p:sp>
      <p:sp>
        <p:nvSpPr>
          <p:cNvPr id="10" name="Shape 7"/>
          <p:cNvSpPr/>
          <p:nvPr/>
        </p:nvSpPr>
        <p:spPr>
          <a:xfrm>
            <a:off x="405384" y="2861667"/>
            <a:ext cx="5548694" cy="1642566"/>
          </a:xfrm>
          <a:prstGeom prst="roundRect">
            <a:avLst>
              <a:gd name="adj" fmla="val 763"/>
            </a:avLst>
          </a:prstGeom>
          <a:solidFill>
            <a:srgbClr val="334155"/>
          </a:solidFill>
          <a:ln/>
        </p:spPr>
      </p:sp>
      <p:pic>
        <p:nvPicPr>
          <p:cNvPr id="11" name="Image 1" descr="preencoded.png">    </p:cNvPr>
          <p:cNvPicPr>
            <a:picLocks noChangeAspect="1"/>
          </p:cNvPicPr>
          <p:nvPr/>
        </p:nvPicPr>
        <p:blipFill>
          <a:blip r:embed="rId2"/>
          <a:srcRect l="0" r="0" t="0" b="0"/>
          <a:stretch/>
        </p:blipFill>
        <p:spPr>
          <a:xfrm>
            <a:off x="557403" y="3555901"/>
            <a:ext cx="253365" cy="254000"/>
          </a:xfrm>
          <a:prstGeom prst="rect">
            <a:avLst/>
          </a:prstGeom>
        </p:spPr>
      </p:pic>
      <p:sp>
        <p:nvSpPr>
          <p:cNvPr id="12" name="Text 8"/>
          <p:cNvSpPr txBox="1"/>
          <p:nvPr/>
        </p:nvSpPr>
        <p:spPr>
          <a:xfrm>
            <a:off x="937451" y="3454301"/>
            <a:ext cx="486460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AWS-native stack</a:t>
            </a:r>
            <a:endParaRPr lang="en-US" sz="1496" dirty="0"/>
          </a:p>
        </p:txBody>
      </p:sp>
      <p:sp>
        <p:nvSpPr>
          <p:cNvPr id="13" name="Text 9"/>
          <p:cNvSpPr txBox="1"/>
          <p:nvPr/>
        </p:nvSpPr>
        <p:spPr>
          <a:xfrm>
            <a:off x="937451" y="3682901"/>
            <a:ext cx="4864608"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Managed services reduce ops burden</a:t>
            </a:r>
            <a:endParaRPr lang="en-US" sz="1496" dirty="0"/>
          </a:p>
        </p:txBody>
      </p:sp>
      <p:sp>
        <p:nvSpPr>
          <p:cNvPr id="14" name="Shape 10"/>
          <p:cNvSpPr/>
          <p:nvPr/>
        </p:nvSpPr>
        <p:spPr>
          <a:xfrm>
            <a:off x="405384" y="4631234"/>
            <a:ext cx="5548694" cy="1642566"/>
          </a:xfrm>
          <a:prstGeom prst="roundRect">
            <a:avLst>
              <a:gd name="adj" fmla="val 763"/>
            </a:avLst>
          </a:prstGeom>
          <a:solidFill>
            <a:srgbClr val="334155"/>
          </a:solidFill>
          <a:ln/>
        </p:spPr>
      </p:sp>
      <p:pic>
        <p:nvPicPr>
          <p:cNvPr id="15" name="Image 2" descr="preencoded.png">    </p:cNvPr>
          <p:cNvPicPr>
            <a:picLocks noChangeAspect="1"/>
          </p:cNvPicPr>
          <p:nvPr/>
        </p:nvPicPr>
        <p:blipFill>
          <a:blip r:embed="rId3"/>
          <a:srcRect l="0" r="0" t="0" b="0"/>
          <a:stretch/>
        </p:blipFill>
        <p:spPr>
          <a:xfrm>
            <a:off x="557403" y="5325467"/>
            <a:ext cx="253365" cy="254000"/>
          </a:xfrm>
          <a:prstGeom prst="rect">
            <a:avLst/>
          </a:prstGeom>
        </p:spPr>
      </p:pic>
      <p:sp>
        <p:nvSpPr>
          <p:cNvPr id="16" name="Text 11"/>
          <p:cNvSpPr txBox="1"/>
          <p:nvPr/>
        </p:nvSpPr>
        <p:spPr>
          <a:xfrm>
            <a:off x="937451" y="5223867"/>
            <a:ext cx="486460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Security first</a:t>
            </a:r>
            <a:endParaRPr lang="en-US" sz="1496" dirty="0"/>
          </a:p>
        </p:txBody>
      </p:sp>
      <p:sp>
        <p:nvSpPr>
          <p:cNvPr id="17" name="Text 12"/>
          <p:cNvSpPr txBox="1"/>
          <p:nvPr/>
        </p:nvSpPr>
        <p:spPr>
          <a:xfrm>
            <a:off x="937451" y="5452467"/>
            <a:ext cx="4864608"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Pre-release designs require defense-in-depth</a:t>
            </a:r>
            <a:endParaRPr lang="en-US" sz="1496" dirty="0"/>
          </a:p>
        </p:txBody>
      </p:sp>
      <p:sp>
        <p:nvSpPr>
          <p:cNvPr id="18" name="Text 13"/>
          <p:cNvSpPr txBox="1"/>
          <p:nvPr/>
        </p:nvSpPr>
        <p:spPr>
          <a:xfrm>
            <a:off x="6207443" y="736600"/>
            <a:ext cx="5548694" cy="254000"/>
          </a:xfrm>
          <a:prstGeom prst="rect">
            <a:avLst/>
          </a:prstGeom>
          <a:noFill/>
          <a:ln/>
        </p:spPr>
        <p:txBody>
          <a:bodyPr wrap="square" lIns="0" tIns="0" rIns="0" bIns="0" rtlCol="0" anchor="ctr"/>
          <a:lstStyle/>
          <a:p>
            <a:pPr algn="l" indent="0" marL="0">
              <a:buNone/>
            </a:pPr>
            <a:r>
              <a:rPr lang="en-US" sz="1795" b="1" dirty="0">
                <a:solidFill>
                  <a:srgbClr val="6366F1"/>
                </a:solidFill>
                <a:latin typeface="Century Gothic" pitchFamily="34" charset="0"/>
                <a:ea typeface="Century Gothic" pitchFamily="34" charset="-122"/>
                <a:cs typeface="Century Gothic" pitchFamily="34" charset="-120"/>
              </a:rPr>
              <a:t>Competencies Demonstrated</a:t>
            </a:r>
            <a:endParaRPr lang="en-US" sz="1795" dirty="0"/>
          </a:p>
        </p:txBody>
      </p:sp>
      <p:sp>
        <p:nvSpPr>
          <p:cNvPr id="19" name="Shape 14"/>
          <p:cNvSpPr/>
          <p:nvPr/>
        </p:nvSpPr>
        <p:spPr>
          <a:xfrm>
            <a:off x="6207443" y="1092200"/>
            <a:ext cx="2235946" cy="381000"/>
          </a:xfrm>
          <a:prstGeom prst="roundRect">
            <a:avLst>
              <a:gd name="adj" fmla="val 6798187"/>
            </a:avLst>
          </a:prstGeom>
          <a:solidFill>
            <a:srgbClr val="6366F1"/>
          </a:solidFill>
          <a:ln/>
        </p:spPr>
      </p:sp>
      <p:sp>
        <p:nvSpPr>
          <p:cNvPr id="20" name="Text 15"/>
          <p:cNvSpPr txBox="1"/>
          <p:nvPr/>
        </p:nvSpPr>
        <p:spPr>
          <a:xfrm>
            <a:off x="6359462" y="1168400"/>
            <a:ext cx="193190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System Architecture</a:t>
            </a:r>
            <a:endParaRPr lang="en-US" sz="1496" dirty="0"/>
          </a:p>
        </p:txBody>
      </p:sp>
      <p:sp>
        <p:nvSpPr>
          <p:cNvPr id="21" name="Shape 16"/>
          <p:cNvSpPr/>
          <p:nvPr/>
        </p:nvSpPr>
        <p:spPr>
          <a:xfrm>
            <a:off x="8544735" y="1092200"/>
            <a:ext cx="1792557" cy="381000"/>
          </a:xfrm>
          <a:prstGeom prst="roundRect">
            <a:avLst>
              <a:gd name="adj" fmla="val 8479717"/>
            </a:avLst>
          </a:prstGeom>
          <a:solidFill>
            <a:srgbClr val="22D3EE"/>
          </a:solidFill>
          <a:ln/>
        </p:spPr>
      </p:sp>
      <p:sp>
        <p:nvSpPr>
          <p:cNvPr id="22" name="Text 17"/>
          <p:cNvSpPr txBox="1"/>
          <p:nvPr/>
        </p:nvSpPr>
        <p:spPr>
          <a:xfrm>
            <a:off x="8696754" y="1168400"/>
            <a:ext cx="1488519"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Security Design</a:t>
            </a:r>
            <a:endParaRPr lang="en-US" sz="1496" dirty="0"/>
          </a:p>
        </p:txBody>
      </p:sp>
      <p:sp>
        <p:nvSpPr>
          <p:cNvPr id="23" name="Shape 18"/>
          <p:cNvSpPr/>
          <p:nvPr/>
        </p:nvSpPr>
        <p:spPr>
          <a:xfrm>
            <a:off x="6207443" y="1574800"/>
            <a:ext cx="2172605" cy="381000"/>
          </a:xfrm>
          <a:prstGeom prst="roundRect">
            <a:avLst>
              <a:gd name="adj" fmla="val 6996385"/>
            </a:avLst>
          </a:prstGeom>
          <a:solidFill>
            <a:srgbClr val="6366F1"/>
          </a:solidFill>
          <a:ln/>
        </p:spPr>
      </p:sp>
      <p:sp>
        <p:nvSpPr>
          <p:cNvPr id="24" name="Text 19"/>
          <p:cNvSpPr txBox="1"/>
          <p:nvPr/>
        </p:nvSpPr>
        <p:spPr>
          <a:xfrm>
            <a:off x="6359462" y="1651000"/>
            <a:ext cx="1868567"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Scalability Planning</a:t>
            </a:r>
            <a:endParaRPr lang="en-US" sz="1496" dirty="0"/>
          </a:p>
        </p:txBody>
      </p:sp>
      <p:sp>
        <p:nvSpPr>
          <p:cNvPr id="25" name="Shape 20"/>
          <p:cNvSpPr/>
          <p:nvPr/>
        </p:nvSpPr>
        <p:spPr>
          <a:xfrm>
            <a:off x="8481393" y="1574800"/>
            <a:ext cx="1368171" cy="381000"/>
          </a:xfrm>
          <a:prstGeom prst="roundRect">
            <a:avLst>
              <a:gd name="adj" fmla="val 11110000"/>
            </a:avLst>
          </a:prstGeom>
          <a:solidFill>
            <a:srgbClr val="22D3EE"/>
          </a:solidFill>
          <a:ln/>
        </p:spPr>
      </p:sp>
      <p:sp>
        <p:nvSpPr>
          <p:cNvPr id="26" name="Text 21"/>
          <p:cNvSpPr txBox="1"/>
          <p:nvPr/>
        </p:nvSpPr>
        <p:spPr>
          <a:xfrm>
            <a:off x="8633412" y="1651000"/>
            <a:ext cx="1064133"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API Design</a:t>
            </a:r>
            <a:endParaRPr lang="en-US" sz="1496" dirty="0"/>
          </a:p>
        </p:txBody>
      </p:sp>
      <p:sp>
        <p:nvSpPr>
          <p:cNvPr id="27" name="Shape 22"/>
          <p:cNvSpPr/>
          <p:nvPr/>
        </p:nvSpPr>
        <p:spPr>
          <a:xfrm>
            <a:off x="9950910" y="1574800"/>
            <a:ext cx="1735550" cy="381000"/>
          </a:xfrm>
          <a:prstGeom prst="roundRect">
            <a:avLst>
              <a:gd name="adj" fmla="val 8758248"/>
            </a:avLst>
          </a:prstGeom>
          <a:solidFill>
            <a:srgbClr val="6366F1"/>
          </a:solidFill>
          <a:ln/>
        </p:spPr>
      </p:sp>
      <p:sp>
        <p:nvSpPr>
          <p:cNvPr id="28" name="Text 23"/>
          <p:cNvSpPr txBox="1"/>
          <p:nvPr/>
        </p:nvSpPr>
        <p:spPr>
          <a:xfrm>
            <a:off x="10102929" y="1651000"/>
            <a:ext cx="143151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Async Patterns</a:t>
            </a:r>
            <a:endParaRPr lang="en-US" sz="1496" dirty="0"/>
          </a:p>
        </p:txBody>
      </p:sp>
      <p:sp>
        <p:nvSpPr>
          <p:cNvPr id="29" name="Shape 24"/>
          <p:cNvSpPr/>
          <p:nvPr/>
        </p:nvSpPr>
        <p:spPr>
          <a:xfrm>
            <a:off x="6207443" y="2057400"/>
            <a:ext cx="2153603" cy="381000"/>
          </a:xfrm>
          <a:prstGeom prst="roundRect">
            <a:avLst>
              <a:gd name="adj" fmla="val 7058118"/>
            </a:avLst>
          </a:prstGeom>
          <a:solidFill>
            <a:srgbClr val="22D3EE"/>
          </a:solidFill>
          <a:ln/>
        </p:spPr>
      </p:sp>
      <p:sp>
        <p:nvSpPr>
          <p:cNvPr id="30" name="Text 25"/>
          <p:cNvSpPr txBox="1"/>
          <p:nvPr/>
        </p:nvSpPr>
        <p:spPr>
          <a:xfrm>
            <a:off x="6359462" y="2133600"/>
            <a:ext cx="1849564"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Cloud Native (AWS)</a:t>
            </a:r>
            <a:endParaRPr lang="en-US" sz="1496" dirty="0"/>
          </a:p>
        </p:txBody>
      </p:sp>
      <p:sp>
        <p:nvSpPr>
          <p:cNvPr id="31" name="Shape 26"/>
          <p:cNvSpPr/>
          <p:nvPr/>
        </p:nvSpPr>
        <p:spPr>
          <a:xfrm>
            <a:off x="8462391" y="2057400"/>
            <a:ext cx="2134600" cy="381000"/>
          </a:xfrm>
          <a:prstGeom prst="roundRect">
            <a:avLst>
              <a:gd name="adj" fmla="val 7120950"/>
            </a:avLst>
          </a:prstGeom>
          <a:solidFill>
            <a:srgbClr val="6366F1"/>
          </a:solidFill>
          <a:ln/>
        </p:spPr>
      </p:sp>
      <p:sp>
        <p:nvSpPr>
          <p:cNvPr id="32" name="Text 27"/>
          <p:cNvSpPr txBox="1"/>
          <p:nvPr/>
        </p:nvSpPr>
        <p:spPr>
          <a:xfrm>
            <a:off x="8614410" y="2133600"/>
            <a:ext cx="183056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Pragmatic Scoping</a:t>
            </a:r>
            <a:endParaRPr lang="en-US" sz="1496" dirty="0"/>
          </a:p>
        </p:txBody>
      </p:sp>
      <p:sp>
        <p:nvSpPr>
          <p:cNvPr id="33" name="Shape 28"/>
          <p:cNvSpPr/>
          <p:nvPr/>
        </p:nvSpPr>
        <p:spPr>
          <a:xfrm>
            <a:off x="6207443" y="2540000"/>
            <a:ext cx="2799683" cy="381000"/>
          </a:xfrm>
          <a:prstGeom prst="roundRect">
            <a:avLst>
              <a:gd name="adj" fmla="val 5429321"/>
            </a:avLst>
          </a:prstGeom>
          <a:solidFill>
            <a:srgbClr val="22D3EE"/>
          </a:solidFill>
          <a:ln/>
        </p:spPr>
      </p:sp>
      <p:sp>
        <p:nvSpPr>
          <p:cNvPr id="34" name="Text 29"/>
          <p:cNvSpPr txBox="1"/>
          <p:nvPr/>
        </p:nvSpPr>
        <p:spPr>
          <a:xfrm>
            <a:off x="6359462" y="2616200"/>
            <a:ext cx="2495645"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Technical Communication</a:t>
            </a:r>
            <a:endParaRPr lang="en-US" sz="1496" dirty="0"/>
          </a:p>
        </p:txBody>
      </p:sp>
      <p:sp>
        <p:nvSpPr>
          <p:cNvPr id="35" name="Text 30"/>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6" name="Text 31"/>
          <p:cNvSpPr txBox="1"/>
          <p:nvPr/>
        </p:nvSpPr>
        <p:spPr>
          <a:xfrm>
            <a:off x="8551069" y="6426200"/>
            <a:ext cx="3205067"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1: Decoration Preview Service</a:t>
            </a:r>
            <a:endParaRPr lang="en-US" sz="1496"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3553444" cy="279400"/>
          </a:xfrm>
          <a:prstGeom prst="roundRect">
            <a:avLst>
              <a:gd name="adj" fmla="val 5833155"/>
            </a:avLst>
          </a:prstGeom>
          <a:solidFill>
            <a:srgbClr val="22D3EE"/>
          </a:solidFill>
          <a:ln/>
        </p:spPr>
      </p:sp>
      <p:sp>
        <p:nvSpPr>
          <p:cNvPr id="3" name="Text 1"/>
          <p:cNvSpPr txBox="1"/>
          <p:nvPr/>
        </p:nvSpPr>
        <p:spPr>
          <a:xfrm>
            <a:off x="532067" y="279400"/>
            <a:ext cx="3300079"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Tool Consolidation Strategy</a:t>
            </a:r>
            <a:endParaRPr lang="en-US" sz="1496" dirty="0"/>
          </a:p>
        </p:txBody>
      </p:sp>
      <p:sp>
        <p:nvSpPr>
          <p:cNvPr id="4" name="Text 2"/>
          <p:cNvSpPr txBox="1"/>
          <p:nvPr/>
        </p:nvSpPr>
        <p:spPr>
          <a:xfrm>
            <a:off x="4060174" y="203200"/>
            <a:ext cx="4927949"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A Fragmented Landscape</a:t>
            </a:r>
            <a:endParaRPr lang="en-US" sz="2993" dirty="0"/>
          </a:p>
        </p:txBody>
      </p:sp>
      <p:sp>
        <p:nvSpPr>
          <p:cNvPr id="5" name="Text 3"/>
          <p:cNvSpPr txBox="1"/>
          <p:nvPr/>
        </p:nvSpPr>
        <p:spPr>
          <a:xfrm>
            <a:off x="405384" y="685800"/>
            <a:ext cx="9439727"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Current State</a:t>
            </a:r>
            <a:endParaRPr lang="en-US" sz="1795" dirty="0"/>
          </a:p>
        </p:txBody>
      </p:sp>
      <p:sp>
        <p:nvSpPr>
          <p:cNvPr id="6" name="Shape 4"/>
          <p:cNvSpPr/>
          <p:nvPr/>
        </p:nvSpPr>
        <p:spPr>
          <a:xfrm>
            <a:off x="405384" y="1041400"/>
            <a:ext cx="1912906" cy="660400"/>
          </a:xfrm>
          <a:prstGeom prst="roundRect">
            <a:avLst>
              <a:gd name="adj" fmla="val 5502"/>
            </a:avLst>
          </a:prstGeom>
          <a:solidFill>
            <a:srgbClr val="334155"/>
          </a:solidFill>
          <a:ln/>
        </p:spPr>
      </p:sp>
      <p:pic>
        <p:nvPicPr>
          <p:cNvPr id="7" name="Image 0" descr="preencoded.png">    </p:cNvPr>
          <p:cNvPicPr>
            <a:picLocks noChangeAspect="1"/>
          </p:cNvPicPr>
          <p:nvPr/>
        </p:nvPicPr>
        <p:blipFill>
          <a:blip r:embed="rId1"/>
          <a:srcRect l="0" r="0" t="0" b="0"/>
          <a:stretch/>
        </p:blipFill>
        <p:spPr>
          <a:xfrm>
            <a:off x="506730" y="1270000"/>
            <a:ext cx="202692" cy="203200"/>
          </a:xfrm>
          <a:prstGeom prst="rect">
            <a:avLst/>
          </a:prstGeom>
        </p:spPr>
      </p:pic>
      <p:sp>
        <p:nvSpPr>
          <p:cNvPr id="8" name="Text 5"/>
          <p:cNvSpPr txBox="1"/>
          <p:nvPr/>
        </p:nvSpPr>
        <p:spPr>
          <a:xfrm>
            <a:off x="785432" y="1143000"/>
            <a:ext cx="1431512"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Desktop App A</a:t>
            </a:r>
            <a:endParaRPr lang="en-US" sz="1496" dirty="0"/>
          </a:p>
        </p:txBody>
      </p:sp>
      <p:sp>
        <p:nvSpPr>
          <p:cNvPr id="9" name="Text 6"/>
          <p:cNvSpPr txBox="1"/>
          <p:nvPr/>
        </p:nvSpPr>
        <p:spPr>
          <a:xfrm>
            <a:off x="785432" y="1371600"/>
            <a:ext cx="1431512"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Tech Stack X</a:t>
            </a:r>
            <a:endParaRPr lang="en-US" sz="1496" dirty="0"/>
          </a:p>
        </p:txBody>
      </p:sp>
      <p:sp>
        <p:nvSpPr>
          <p:cNvPr id="10" name="Shape 7"/>
          <p:cNvSpPr/>
          <p:nvPr/>
        </p:nvSpPr>
        <p:spPr>
          <a:xfrm>
            <a:off x="2419636" y="1041400"/>
            <a:ext cx="1919240" cy="660400"/>
          </a:xfrm>
          <a:prstGeom prst="roundRect">
            <a:avLst>
              <a:gd name="adj" fmla="val 5484"/>
            </a:avLst>
          </a:prstGeom>
          <a:solidFill>
            <a:srgbClr val="334155"/>
          </a:solidFill>
          <a:ln/>
        </p:spPr>
      </p:sp>
      <p:pic>
        <p:nvPicPr>
          <p:cNvPr id="11" name="Image 1" descr="preencoded.png">    </p:cNvPr>
          <p:cNvPicPr>
            <a:picLocks noChangeAspect="1"/>
          </p:cNvPicPr>
          <p:nvPr/>
        </p:nvPicPr>
        <p:blipFill>
          <a:blip r:embed="rId2"/>
          <a:srcRect l="0" r="0" t="0" b="0"/>
          <a:stretch/>
        </p:blipFill>
        <p:spPr>
          <a:xfrm>
            <a:off x="2520982" y="1270000"/>
            <a:ext cx="202692" cy="203200"/>
          </a:xfrm>
          <a:prstGeom prst="rect">
            <a:avLst/>
          </a:prstGeom>
        </p:spPr>
      </p:pic>
      <p:sp>
        <p:nvSpPr>
          <p:cNvPr id="12" name="Text 8"/>
          <p:cNvSpPr txBox="1"/>
          <p:nvPr/>
        </p:nvSpPr>
        <p:spPr>
          <a:xfrm>
            <a:off x="2799683" y="1143000"/>
            <a:ext cx="143784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Desktop App B</a:t>
            </a:r>
            <a:endParaRPr lang="en-US" sz="1496" dirty="0"/>
          </a:p>
        </p:txBody>
      </p:sp>
      <p:sp>
        <p:nvSpPr>
          <p:cNvPr id="13" name="Text 9"/>
          <p:cNvSpPr txBox="1"/>
          <p:nvPr/>
        </p:nvSpPr>
        <p:spPr>
          <a:xfrm>
            <a:off x="2799683" y="1371600"/>
            <a:ext cx="1437846"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Tech Stack Y</a:t>
            </a:r>
            <a:endParaRPr lang="en-US" sz="1496" dirty="0"/>
          </a:p>
        </p:txBody>
      </p:sp>
      <p:sp>
        <p:nvSpPr>
          <p:cNvPr id="14" name="Shape 10"/>
          <p:cNvSpPr/>
          <p:nvPr/>
        </p:nvSpPr>
        <p:spPr>
          <a:xfrm>
            <a:off x="4440222" y="1041400"/>
            <a:ext cx="1672209" cy="660400"/>
          </a:xfrm>
          <a:prstGeom prst="roundRect">
            <a:avLst>
              <a:gd name="adj" fmla="val 5244231"/>
            </a:avLst>
          </a:prstGeom>
          <a:solidFill>
            <a:srgbClr val="FBBF24">
              <a:alpha val="20000"/>
            </a:srgbClr>
          </a:solidFill>
          <a:ln/>
        </p:spPr>
      </p:sp>
      <p:sp>
        <p:nvSpPr>
          <p:cNvPr id="15" name="Text 11"/>
          <p:cNvSpPr txBox="1"/>
          <p:nvPr/>
        </p:nvSpPr>
        <p:spPr>
          <a:xfrm>
            <a:off x="4541568" y="1092200"/>
            <a:ext cx="1469517"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No shared auth</a:t>
            </a:r>
            <a:endParaRPr lang="en-US" sz="1496" dirty="0"/>
          </a:p>
        </p:txBody>
      </p:sp>
      <p:sp>
        <p:nvSpPr>
          <p:cNvPr id="16" name="Shape 12"/>
          <p:cNvSpPr/>
          <p:nvPr/>
        </p:nvSpPr>
        <p:spPr>
          <a:xfrm>
            <a:off x="6213777" y="1041400"/>
            <a:ext cx="1893903" cy="660400"/>
          </a:xfrm>
          <a:prstGeom prst="roundRect">
            <a:avLst>
              <a:gd name="adj" fmla="val 5557"/>
            </a:avLst>
          </a:prstGeom>
          <a:solidFill>
            <a:srgbClr val="334155"/>
          </a:solidFill>
          <a:ln/>
        </p:spPr>
      </p:sp>
      <p:pic>
        <p:nvPicPr>
          <p:cNvPr id="17" name="Image 2" descr="preencoded.png">    </p:cNvPr>
          <p:cNvPicPr>
            <a:picLocks noChangeAspect="1"/>
          </p:cNvPicPr>
          <p:nvPr/>
        </p:nvPicPr>
        <p:blipFill>
          <a:blip r:embed="rId3"/>
          <a:srcRect l="0" r="0" t="0" b="0"/>
          <a:stretch/>
        </p:blipFill>
        <p:spPr>
          <a:xfrm>
            <a:off x="6315123" y="1270000"/>
            <a:ext cx="202692" cy="203200"/>
          </a:xfrm>
          <a:prstGeom prst="rect">
            <a:avLst/>
          </a:prstGeom>
        </p:spPr>
      </p:pic>
      <p:sp>
        <p:nvSpPr>
          <p:cNvPr id="18" name="Text 13"/>
          <p:cNvSpPr txBox="1"/>
          <p:nvPr/>
        </p:nvSpPr>
        <p:spPr>
          <a:xfrm>
            <a:off x="6593824" y="1143000"/>
            <a:ext cx="1412510"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Ad-hoc Script 1</a:t>
            </a:r>
            <a:endParaRPr lang="en-US" sz="1496" dirty="0"/>
          </a:p>
        </p:txBody>
      </p:sp>
      <p:sp>
        <p:nvSpPr>
          <p:cNvPr id="19" name="Text 14"/>
          <p:cNvSpPr txBox="1"/>
          <p:nvPr/>
        </p:nvSpPr>
        <p:spPr>
          <a:xfrm>
            <a:off x="6593824" y="1371600"/>
            <a:ext cx="141251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Python</a:t>
            </a:r>
            <a:endParaRPr lang="en-US" sz="1496" dirty="0"/>
          </a:p>
        </p:txBody>
      </p:sp>
      <p:sp>
        <p:nvSpPr>
          <p:cNvPr id="20" name="Shape 15"/>
          <p:cNvSpPr/>
          <p:nvPr/>
        </p:nvSpPr>
        <p:spPr>
          <a:xfrm>
            <a:off x="405384" y="1803400"/>
            <a:ext cx="1931908" cy="660400"/>
          </a:xfrm>
          <a:prstGeom prst="roundRect">
            <a:avLst>
              <a:gd name="adj" fmla="val 5448"/>
            </a:avLst>
          </a:prstGeom>
          <a:solidFill>
            <a:srgbClr val="334155"/>
          </a:solidFill>
          <a:ln/>
        </p:spPr>
      </p:sp>
      <p:pic>
        <p:nvPicPr>
          <p:cNvPr id="21" name="Image 3" descr="preencoded.png">    </p:cNvPr>
          <p:cNvPicPr>
            <a:picLocks noChangeAspect="1"/>
          </p:cNvPicPr>
          <p:nvPr/>
        </p:nvPicPr>
        <p:blipFill>
          <a:blip r:embed="rId4"/>
          <a:srcRect l="0" r="0" t="0" b="0"/>
          <a:stretch/>
        </p:blipFill>
        <p:spPr>
          <a:xfrm>
            <a:off x="506730" y="2032000"/>
            <a:ext cx="202692" cy="203200"/>
          </a:xfrm>
          <a:prstGeom prst="rect">
            <a:avLst/>
          </a:prstGeom>
        </p:spPr>
      </p:pic>
      <p:sp>
        <p:nvSpPr>
          <p:cNvPr id="22" name="Text 16"/>
          <p:cNvSpPr txBox="1"/>
          <p:nvPr/>
        </p:nvSpPr>
        <p:spPr>
          <a:xfrm>
            <a:off x="785432" y="1905000"/>
            <a:ext cx="145051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Ad-hoc Script 2</a:t>
            </a:r>
            <a:endParaRPr lang="en-US" sz="1496" dirty="0"/>
          </a:p>
        </p:txBody>
      </p:sp>
      <p:sp>
        <p:nvSpPr>
          <p:cNvPr id="23" name="Text 17"/>
          <p:cNvSpPr txBox="1"/>
          <p:nvPr/>
        </p:nvSpPr>
        <p:spPr>
          <a:xfrm>
            <a:off x="785432" y="2133600"/>
            <a:ext cx="1450515"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Bash</a:t>
            </a:r>
            <a:endParaRPr lang="en-US" sz="1496" dirty="0"/>
          </a:p>
        </p:txBody>
      </p:sp>
      <p:sp>
        <p:nvSpPr>
          <p:cNvPr id="24" name="Shape 18"/>
          <p:cNvSpPr/>
          <p:nvPr/>
        </p:nvSpPr>
        <p:spPr>
          <a:xfrm>
            <a:off x="2438638" y="1803400"/>
            <a:ext cx="1748219" cy="660400"/>
          </a:xfrm>
          <a:prstGeom prst="roundRect">
            <a:avLst>
              <a:gd name="adj" fmla="val 5016221"/>
            </a:avLst>
          </a:prstGeom>
          <a:solidFill>
            <a:srgbClr val="FBBF24">
              <a:alpha val="20000"/>
            </a:srgbClr>
          </a:solidFill>
          <a:ln/>
        </p:spPr>
      </p:sp>
      <p:sp>
        <p:nvSpPr>
          <p:cNvPr id="25" name="Text 19"/>
          <p:cNvSpPr txBox="1"/>
          <p:nvPr/>
        </p:nvSpPr>
        <p:spPr>
          <a:xfrm>
            <a:off x="2539984" y="1854200"/>
            <a:ext cx="1545527"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Knowledge silos</a:t>
            </a:r>
            <a:endParaRPr lang="en-US" sz="1496" dirty="0"/>
          </a:p>
        </p:txBody>
      </p:sp>
      <p:sp>
        <p:nvSpPr>
          <p:cNvPr id="26" name="Shape 20"/>
          <p:cNvSpPr/>
          <p:nvPr/>
        </p:nvSpPr>
        <p:spPr>
          <a:xfrm>
            <a:off x="4288203" y="1803400"/>
            <a:ext cx="1957245" cy="660400"/>
          </a:xfrm>
          <a:prstGeom prst="roundRect">
            <a:avLst>
              <a:gd name="adj" fmla="val 5377"/>
            </a:avLst>
          </a:prstGeom>
          <a:solidFill>
            <a:srgbClr val="334155"/>
          </a:solidFill>
          <a:ln/>
        </p:spPr>
      </p:sp>
      <p:pic>
        <p:nvPicPr>
          <p:cNvPr id="27" name="Image 4" descr="preencoded.png">    </p:cNvPr>
          <p:cNvPicPr>
            <a:picLocks noChangeAspect="1"/>
          </p:cNvPicPr>
          <p:nvPr/>
        </p:nvPicPr>
        <p:blipFill>
          <a:blip r:embed="rId5"/>
          <a:srcRect l="0" r="0" t="0" b="0"/>
          <a:stretch/>
        </p:blipFill>
        <p:spPr>
          <a:xfrm>
            <a:off x="4389549" y="2032000"/>
            <a:ext cx="202692" cy="203200"/>
          </a:xfrm>
          <a:prstGeom prst="rect">
            <a:avLst/>
          </a:prstGeom>
        </p:spPr>
      </p:pic>
      <p:sp>
        <p:nvSpPr>
          <p:cNvPr id="28" name="Text 21"/>
          <p:cNvSpPr txBox="1"/>
          <p:nvPr/>
        </p:nvSpPr>
        <p:spPr>
          <a:xfrm>
            <a:off x="4668250" y="1905000"/>
            <a:ext cx="14758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Cloud Service A</a:t>
            </a:r>
            <a:endParaRPr lang="en-US" sz="1496" dirty="0"/>
          </a:p>
        </p:txBody>
      </p:sp>
      <p:sp>
        <p:nvSpPr>
          <p:cNvPr id="29" name="Text 22"/>
          <p:cNvSpPr txBox="1"/>
          <p:nvPr/>
        </p:nvSpPr>
        <p:spPr>
          <a:xfrm>
            <a:off x="4668250" y="2133600"/>
            <a:ext cx="1475851"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Mature</a:t>
            </a:r>
            <a:endParaRPr lang="en-US" sz="1496" dirty="0"/>
          </a:p>
        </p:txBody>
      </p:sp>
      <p:sp>
        <p:nvSpPr>
          <p:cNvPr id="30" name="Shape 23"/>
          <p:cNvSpPr/>
          <p:nvPr/>
        </p:nvSpPr>
        <p:spPr>
          <a:xfrm>
            <a:off x="6346793" y="1803400"/>
            <a:ext cx="1963579" cy="660400"/>
          </a:xfrm>
          <a:prstGeom prst="roundRect">
            <a:avLst>
              <a:gd name="adj" fmla="val 5360"/>
            </a:avLst>
          </a:prstGeom>
          <a:solidFill>
            <a:srgbClr val="334155"/>
          </a:solidFill>
          <a:ln/>
        </p:spPr>
      </p:sp>
      <p:pic>
        <p:nvPicPr>
          <p:cNvPr id="31" name="Image 5" descr="preencoded.png">    </p:cNvPr>
          <p:cNvPicPr>
            <a:picLocks noChangeAspect="1"/>
          </p:cNvPicPr>
          <p:nvPr/>
        </p:nvPicPr>
        <p:blipFill>
          <a:blip r:embed="rId6"/>
          <a:srcRect l="0" r="0" t="0" b="0"/>
          <a:stretch/>
        </p:blipFill>
        <p:spPr>
          <a:xfrm>
            <a:off x="6448139" y="2032000"/>
            <a:ext cx="202692" cy="203200"/>
          </a:xfrm>
          <a:prstGeom prst="rect">
            <a:avLst/>
          </a:prstGeom>
        </p:spPr>
      </p:pic>
      <p:sp>
        <p:nvSpPr>
          <p:cNvPr id="32" name="Text 24"/>
          <p:cNvSpPr txBox="1"/>
          <p:nvPr/>
        </p:nvSpPr>
        <p:spPr>
          <a:xfrm>
            <a:off x="6726841" y="1905000"/>
            <a:ext cx="148218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Cloud Service B</a:t>
            </a:r>
            <a:endParaRPr lang="en-US" sz="1496" dirty="0"/>
          </a:p>
        </p:txBody>
      </p:sp>
      <p:sp>
        <p:nvSpPr>
          <p:cNvPr id="33" name="Text 25"/>
          <p:cNvSpPr txBox="1"/>
          <p:nvPr/>
        </p:nvSpPr>
        <p:spPr>
          <a:xfrm>
            <a:off x="6726841" y="2133600"/>
            <a:ext cx="1482185"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Early Stage</a:t>
            </a:r>
            <a:endParaRPr lang="en-US" sz="1496" dirty="0"/>
          </a:p>
        </p:txBody>
      </p:sp>
      <p:sp>
        <p:nvSpPr>
          <p:cNvPr id="34" name="Shape 26"/>
          <p:cNvSpPr/>
          <p:nvPr/>
        </p:nvSpPr>
        <p:spPr>
          <a:xfrm>
            <a:off x="405384" y="2565400"/>
            <a:ext cx="1444181" cy="685800"/>
          </a:xfrm>
          <a:prstGeom prst="roundRect">
            <a:avLst>
              <a:gd name="adj" fmla="val 5847368"/>
            </a:avLst>
          </a:prstGeom>
          <a:solidFill>
            <a:srgbClr val="FBBF24">
              <a:alpha val="20000"/>
            </a:srgbClr>
          </a:solidFill>
          <a:ln/>
        </p:spPr>
      </p:sp>
      <p:sp>
        <p:nvSpPr>
          <p:cNvPr id="35" name="Text 27"/>
          <p:cNvSpPr txBox="1"/>
          <p:nvPr/>
        </p:nvSpPr>
        <p:spPr>
          <a:xfrm>
            <a:off x="506730" y="2616200"/>
            <a:ext cx="1241489"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No unified UI</a:t>
            </a:r>
            <a:endParaRPr lang="en-US" sz="1496" dirty="0"/>
          </a:p>
        </p:txBody>
      </p:sp>
      <p:sp>
        <p:nvSpPr>
          <p:cNvPr id="36" name="Shape 28"/>
          <p:cNvSpPr/>
          <p:nvPr/>
        </p:nvSpPr>
        <p:spPr>
          <a:xfrm>
            <a:off x="1950911" y="2565400"/>
            <a:ext cx="2020586" cy="685800"/>
          </a:xfrm>
          <a:prstGeom prst="roundRect">
            <a:avLst>
              <a:gd name="adj" fmla="val 5016"/>
            </a:avLst>
          </a:prstGeom>
          <a:solidFill>
            <a:srgbClr val="334155"/>
          </a:solidFill>
          <a:ln w="12668">
            <a:solidFill>
              <a:srgbClr val="FBBF24"/>
            </a:solidFill>
            <a:prstDash val="solid"/>
          </a:ln>
        </p:spPr>
      </p:sp>
      <p:pic>
        <p:nvPicPr>
          <p:cNvPr id="37" name="Image 6" descr="preencoded.png">    </p:cNvPr>
          <p:cNvPicPr>
            <a:picLocks noChangeAspect="1"/>
          </p:cNvPicPr>
          <p:nvPr/>
        </p:nvPicPr>
        <p:blipFill>
          <a:blip r:embed="rId7"/>
          <a:srcRect l="0" r="0" t="0" b="0"/>
          <a:stretch/>
        </p:blipFill>
        <p:spPr>
          <a:xfrm>
            <a:off x="2064925" y="2806700"/>
            <a:ext cx="202692" cy="203200"/>
          </a:xfrm>
          <a:prstGeom prst="rect">
            <a:avLst/>
          </a:prstGeom>
        </p:spPr>
      </p:pic>
      <p:sp>
        <p:nvSpPr>
          <p:cNvPr id="38" name="Text 29"/>
          <p:cNvSpPr txBox="1"/>
          <p:nvPr/>
        </p:nvSpPr>
        <p:spPr>
          <a:xfrm>
            <a:off x="2343626" y="2679700"/>
            <a:ext cx="1513856"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Legacy Tool</a:t>
            </a:r>
            <a:endParaRPr lang="en-US" sz="1496" dirty="0"/>
          </a:p>
        </p:txBody>
      </p:sp>
      <p:sp>
        <p:nvSpPr>
          <p:cNvPr id="39" name="Text 30"/>
          <p:cNvSpPr txBox="1"/>
          <p:nvPr/>
        </p:nvSpPr>
        <p:spPr>
          <a:xfrm>
            <a:off x="2343626" y="2908300"/>
            <a:ext cx="1513856" cy="228600"/>
          </a:xfrm>
          <a:prstGeom prst="rect">
            <a:avLst/>
          </a:prstGeom>
          <a:noFill/>
          <a:ln/>
        </p:spPr>
        <p:txBody>
          <a:bodyPr wrap="square" lIns="0" tIns="0" rIns="0" bIns="0" rtlCol="0" anchor="ctr"/>
          <a:lstStyle/>
          <a:p>
            <a:pPr algn="l" indent="0" marL="0">
              <a:buNone/>
            </a:pPr>
            <a:r>
              <a:rPr lang="en-US" sz="1496" dirty="0">
                <a:solidFill>
                  <a:srgbClr val="FBBF24"/>
                </a:solidFill>
                <a:latin typeface="Century Gothic" pitchFamily="34" charset="0"/>
                <a:ea typeface="Century Gothic" pitchFamily="34" charset="-122"/>
                <a:cs typeface="Century Gothic" pitchFamily="34" charset="-120"/>
              </a:rPr>
              <a:t>Undocumented</a:t>
            </a:r>
            <a:endParaRPr lang="en-US" sz="1496" dirty="0"/>
          </a:p>
        </p:txBody>
      </p:sp>
      <p:sp>
        <p:nvSpPr>
          <p:cNvPr id="40" name="Shape 31"/>
          <p:cNvSpPr/>
          <p:nvPr/>
        </p:nvSpPr>
        <p:spPr>
          <a:xfrm>
            <a:off x="4072842" y="2565400"/>
            <a:ext cx="1558195" cy="685800"/>
          </a:xfrm>
          <a:prstGeom prst="roundRect">
            <a:avLst>
              <a:gd name="adj" fmla="val 5419512"/>
            </a:avLst>
          </a:prstGeom>
          <a:solidFill>
            <a:srgbClr val="FBBF24">
              <a:alpha val="20000"/>
            </a:srgbClr>
          </a:solidFill>
          <a:ln/>
        </p:spPr>
      </p:sp>
      <p:sp>
        <p:nvSpPr>
          <p:cNvPr id="41" name="Text 32"/>
          <p:cNvSpPr txBox="1"/>
          <p:nvPr/>
        </p:nvSpPr>
        <p:spPr>
          <a:xfrm>
            <a:off x="4174188" y="2616200"/>
            <a:ext cx="1355503"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Bus factor risk</a:t>
            </a:r>
            <a:endParaRPr lang="en-US" sz="1496" dirty="0"/>
          </a:p>
        </p:txBody>
      </p:sp>
      <p:sp>
        <p:nvSpPr>
          <p:cNvPr id="42" name="Shape 33"/>
          <p:cNvSpPr/>
          <p:nvPr/>
        </p:nvSpPr>
        <p:spPr>
          <a:xfrm>
            <a:off x="10047803" y="977900"/>
            <a:ext cx="1708333" cy="1447800"/>
          </a:xfrm>
          <a:prstGeom prst="roundRect">
            <a:avLst>
              <a:gd name="adj" fmla="val 2810"/>
            </a:avLst>
          </a:prstGeom>
          <a:solidFill>
            <a:srgbClr val="1E293B"/>
          </a:solidFill>
          <a:ln w="12700">
            <a:solidFill>
              <a:srgbClr val="E5E7EB"/>
            </a:solidFill>
            <a:prstDash val="solid"/>
          </a:ln>
        </p:spPr>
      </p:sp>
      <p:pic>
        <p:nvPicPr>
          <p:cNvPr id="43" name="Image 7" descr="preencoded.png">    </p:cNvPr>
          <p:cNvPicPr>
            <a:picLocks noChangeAspect="1"/>
          </p:cNvPicPr>
          <p:nvPr/>
        </p:nvPicPr>
        <p:blipFill>
          <a:blip r:embed="rId8"/>
          <a:srcRect l="0" r="0" t="0" b="0"/>
          <a:stretch/>
        </p:blipFill>
        <p:spPr>
          <a:xfrm>
            <a:off x="10225158" y="1574800"/>
            <a:ext cx="253365" cy="254000"/>
          </a:xfrm>
          <a:prstGeom prst="rect">
            <a:avLst/>
          </a:prstGeom>
        </p:spPr>
      </p:pic>
      <p:sp>
        <p:nvSpPr>
          <p:cNvPr id="44" name="Text 34"/>
          <p:cNvSpPr txBox="1"/>
          <p:nvPr/>
        </p:nvSpPr>
        <p:spPr>
          <a:xfrm>
            <a:off x="10579869" y="1130300"/>
            <a:ext cx="1083135" cy="4572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Knowledge Silos</a:t>
            </a:r>
            <a:endParaRPr lang="en-US" sz="1496" dirty="0"/>
          </a:p>
        </p:txBody>
      </p:sp>
      <p:sp>
        <p:nvSpPr>
          <p:cNvPr id="45" name="Text 35"/>
          <p:cNvSpPr txBox="1"/>
          <p:nvPr/>
        </p:nvSpPr>
        <p:spPr>
          <a:xfrm>
            <a:off x="10579869" y="1587500"/>
            <a:ext cx="1083135" cy="6858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Expertise locked in individuals</a:t>
            </a:r>
            <a:endParaRPr lang="en-US" sz="1496" dirty="0"/>
          </a:p>
        </p:txBody>
      </p:sp>
      <p:sp>
        <p:nvSpPr>
          <p:cNvPr id="46" name="Shape 36"/>
          <p:cNvSpPr/>
          <p:nvPr/>
        </p:nvSpPr>
        <p:spPr>
          <a:xfrm>
            <a:off x="10047803" y="2552700"/>
            <a:ext cx="1708333" cy="1676400"/>
          </a:xfrm>
          <a:prstGeom prst="roundRect">
            <a:avLst>
              <a:gd name="adj" fmla="val 2427"/>
            </a:avLst>
          </a:prstGeom>
          <a:solidFill>
            <a:srgbClr val="1E293B"/>
          </a:solidFill>
          <a:ln w="12700">
            <a:solidFill>
              <a:srgbClr val="E5E7EB"/>
            </a:solidFill>
            <a:prstDash val="solid"/>
          </a:ln>
        </p:spPr>
      </p:sp>
      <p:pic>
        <p:nvPicPr>
          <p:cNvPr id="47" name="Image 8" descr="preencoded.png">    </p:cNvPr>
          <p:cNvPicPr>
            <a:picLocks noChangeAspect="1"/>
          </p:cNvPicPr>
          <p:nvPr/>
        </p:nvPicPr>
        <p:blipFill>
          <a:blip r:embed="rId9"/>
          <a:srcRect l="0" r="0" t="0" b="0"/>
          <a:stretch/>
        </p:blipFill>
        <p:spPr>
          <a:xfrm>
            <a:off x="10225158" y="3263900"/>
            <a:ext cx="253365" cy="254000"/>
          </a:xfrm>
          <a:prstGeom prst="rect">
            <a:avLst/>
          </a:prstGeom>
        </p:spPr>
      </p:pic>
      <p:sp>
        <p:nvSpPr>
          <p:cNvPr id="48" name="Text 37"/>
          <p:cNvSpPr txBox="1"/>
          <p:nvPr/>
        </p:nvSpPr>
        <p:spPr>
          <a:xfrm>
            <a:off x="10579869" y="2705100"/>
            <a:ext cx="1024248" cy="4572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No Shared Services</a:t>
            </a:r>
            <a:endParaRPr lang="en-US" sz="1496" dirty="0"/>
          </a:p>
        </p:txBody>
      </p:sp>
      <p:sp>
        <p:nvSpPr>
          <p:cNvPr id="49" name="Text 38"/>
          <p:cNvSpPr txBox="1"/>
          <p:nvPr/>
        </p:nvSpPr>
        <p:spPr>
          <a:xfrm>
            <a:off x="10579869" y="3162300"/>
            <a:ext cx="1024248"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Auth, data, UI duplicated per tool</a:t>
            </a:r>
            <a:endParaRPr lang="en-US" sz="1496" dirty="0"/>
          </a:p>
        </p:txBody>
      </p:sp>
      <p:sp>
        <p:nvSpPr>
          <p:cNvPr id="50" name="Shape 39"/>
          <p:cNvSpPr/>
          <p:nvPr/>
        </p:nvSpPr>
        <p:spPr>
          <a:xfrm>
            <a:off x="10047803" y="4356100"/>
            <a:ext cx="1708333" cy="1676400"/>
          </a:xfrm>
          <a:prstGeom prst="roundRect">
            <a:avLst>
              <a:gd name="adj" fmla="val 2427"/>
            </a:avLst>
          </a:prstGeom>
          <a:solidFill>
            <a:srgbClr val="1E293B"/>
          </a:solidFill>
          <a:ln w="12700">
            <a:solidFill>
              <a:srgbClr val="E5E7EB"/>
            </a:solidFill>
            <a:prstDash val="solid"/>
          </a:ln>
        </p:spPr>
      </p:sp>
      <p:pic>
        <p:nvPicPr>
          <p:cNvPr id="51" name="Image 9" descr="preencoded.png">    </p:cNvPr>
          <p:cNvPicPr>
            <a:picLocks noChangeAspect="1"/>
          </p:cNvPicPr>
          <p:nvPr/>
        </p:nvPicPr>
        <p:blipFill>
          <a:blip r:embed="rId10"/>
          <a:srcRect l="0" r="0" t="0" b="0"/>
          <a:stretch/>
        </p:blipFill>
        <p:spPr>
          <a:xfrm>
            <a:off x="10225158" y="5067300"/>
            <a:ext cx="253365" cy="254000"/>
          </a:xfrm>
          <a:prstGeom prst="rect">
            <a:avLst/>
          </a:prstGeom>
        </p:spPr>
      </p:pic>
      <p:sp>
        <p:nvSpPr>
          <p:cNvPr id="52" name="Text 40"/>
          <p:cNvSpPr txBox="1"/>
          <p:nvPr/>
        </p:nvSpPr>
        <p:spPr>
          <a:xfrm>
            <a:off x="10579869" y="4508500"/>
            <a:ext cx="1076801" cy="4572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Bus Factor Risk</a:t>
            </a:r>
            <a:endParaRPr lang="en-US" sz="1496" dirty="0"/>
          </a:p>
        </p:txBody>
      </p:sp>
      <p:sp>
        <p:nvSpPr>
          <p:cNvPr id="53" name="Text 41"/>
          <p:cNvSpPr txBox="1"/>
          <p:nvPr/>
        </p:nvSpPr>
        <p:spPr>
          <a:xfrm>
            <a:off x="10579869" y="4965700"/>
            <a:ext cx="1076801" cy="9144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One departure = lost capabilities</a:t>
            </a:r>
            <a:endParaRPr lang="en-US" sz="1496" dirty="0"/>
          </a:p>
        </p:txBody>
      </p:sp>
      <p:sp>
        <p:nvSpPr>
          <p:cNvPr id="54" name="Text 42"/>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55" name="Text 43"/>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539192" cy="279400"/>
          </a:xfrm>
          <a:prstGeom prst="roundRect">
            <a:avLst>
              <a:gd name="adj" fmla="val 13466667"/>
            </a:avLst>
          </a:prstGeom>
          <a:solidFill>
            <a:srgbClr val="22D3EE"/>
          </a:solidFill>
          <a:ln/>
        </p:spPr>
      </p:sp>
      <p:sp>
        <p:nvSpPr>
          <p:cNvPr id="3" name="Text 1"/>
          <p:cNvSpPr txBox="1"/>
          <p:nvPr/>
        </p:nvSpPr>
        <p:spPr>
          <a:xfrm>
            <a:off x="532067" y="279400"/>
            <a:ext cx="1285827"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Vision</a:t>
            </a:r>
            <a:endParaRPr lang="en-US" sz="1496" dirty="0"/>
          </a:p>
        </p:txBody>
      </p:sp>
      <p:sp>
        <p:nvSpPr>
          <p:cNvPr id="4" name="Text 2"/>
          <p:cNvSpPr txBox="1"/>
          <p:nvPr/>
        </p:nvSpPr>
        <p:spPr>
          <a:xfrm>
            <a:off x="2045922" y="203200"/>
            <a:ext cx="5574030"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Unified Platform-as-a-Service</a:t>
            </a:r>
            <a:endParaRPr lang="en-US" sz="2993" dirty="0"/>
          </a:p>
        </p:txBody>
      </p:sp>
      <p:sp>
        <p:nvSpPr>
          <p:cNvPr id="5" name="Text 3"/>
          <p:cNvSpPr txBox="1"/>
          <p:nvPr/>
        </p:nvSpPr>
        <p:spPr>
          <a:xfrm>
            <a:off x="405384" y="685800"/>
            <a:ext cx="11350752" cy="304800"/>
          </a:xfrm>
          <a:prstGeom prst="rect">
            <a:avLst/>
          </a:prstGeom>
          <a:noFill/>
          <a:ln/>
        </p:spPr>
        <p:txBody>
          <a:bodyPr wrap="square" lIns="0" tIns="0" rIns="0" bIns="0" rtlCol="0" anchor="ctr"/>
          <a:lstStyle/>
          <a:p>
            <a:pPr algn="ctr" indent="0" marL="0">
              <a:buNone/>
            </a:pPr>
            <a:r>
              <a:rPr lang="en-US" sz="2394" b="1" dirty="0">
                <a:solidFill>
                  <a:srgbClr val="F1F5F9"/>
                </a:solidFill>
                <a:latin typeface="Century Gothic" pitchFamily="34" charset="0"/>
                <a:ea typeface="Century Gothic" pitchFamily="34" charset="-122"/>
                <a:cs typeface="Century Gothic" pitchFamily="34" charset="-120"/>
              </a:rPr>
              <a:t>One platform. Shared infrastructure, auth, data, and UI patterns.</a:t>
            </a:r>
            <a:endParaRPr lang="en-US" sz="2394" dirty="0"/>
          </a:p>
        </p:txBody>
      </p:sp>
      <p:sp>
        <p:nvSpPr>
          <p:cNvPr id="6" name="Shape 4"/>
          <p:cNvSpPr/>
          <p:nvPr/>
        </p:nvSpPr>
        <p:spPr>
          <a:xfrm>
            <a:off x="5130641" y="1066800"/>
            <a:ext cx="1900238" cy="19050"/>
          </a:xfrm>
          <a:prstGeom prst="rect">
            <a:avLst/>
          </a:prstGeom>
          <a:solidFill>
            <a:srgbClr val="22D3EE"/>
          </a:solidFill>
          <a:ln/>
        </p:spPr>
      </p:sp>
      <p:sp>
        <p:nvSpPr>
          <p:cNvPr id="7" name="Shape 5"/>
          <p:cNvSpPr/>
          <p:nvPr/>
        </p:nvSpPr>
        <p:spPr>
          <a:xfrm>
            <a:off x="405384" y="1238250"/>
            <a:ext cx="5295329" cy="4146550"/>
          </a:xfrm>
          <a:prstGeom prst="roundRect">
            <a:avLst>
              <a:gd name="adj" fmla="val 317"/>
            </a:avLst>
          </a:prstGeom>
          <a:solidFill>
            <a:srgbClr val="1E293B"/>
          </a:solidFill>
          <a:ln w="12700">
            <a:solidFill>
              <a:srgbClr val="E5E7EB"/>
            </a:solidFill>
            <a:prstDash val="solid"/>
          </a:ln>
        </p:spPr>
      </p:sp>
      <p:sp>
        <p:nvSpPr>
          <p:cNvPr id="8" name="Text 6"/>
          <p:cNvSpPr txBox="1"/>
          <p:nvPr/>
        </p:nvSpPr>
        <p:spPr>
          <a:xfrm>
            <a:off x="633413" y="1441450"/>
            <a:ext cx="4864608" cy="254000"/>
          </a:xfrm>
          <a:prstGeom prst="rect">
            <a:avLst/>
          </a:prstGeom>
          <a:noFill/>
          <a:ln/>
        </p:spPr>
        <p:txBody>
          <a:bodyPr wrap="square" lIns="0" tIns="0" rIns="0" bIns="0" rtlCol="0" anchor="ctr"/>
          <a:lstStyle/>
          <a:p>
            <a:pPr algn="l" indent="0" marL="0">
              <a:buNone/>
            </a:pPr>
            <a:r>
              <a:rPr lang="en-US" sz="1795" b="1" dirty="0">
                <a:solidFill>
                  <a:srgbClr val="FBBF24"/>
                </a:solidFill>
                <a:latin typeface="Century Gothic" pitchFamily="34" charset="0"/>
                <a:ea typeface="Century Gothic" pitchFamily="34" charset="-122"/>
                <a:cs typeface="Century Gothic" pitchFamily="34" charset="-120"/>
              </a:rPr>
              <a:t>Before</a:t>
            </a:r>
            <a:endParaRPr lang="en-US" sz="1795" dirty="0"/>
          </a:p>
        </p:txBody>
      </p:sp>
      <p:sp>
        <p:nvSpPr>
          <p:cNvPr id="9" name="Text 7"/>
          <p:cNvSpPr txBox="1"/>
          <p:nvPr/>
        </p:nvSpPr>
        <p:spPr>
          <a:xfrm>
            <a:off x="633413" y="17970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Fragmented tools</a:t>
            </a:r>
            <a:endParaRPr lang="en-US" sz="1496" dirty="0"/>
          </a:p>
        </p:txBody>
      </p:sp>
      <p:sp>
        <p:nvSpPr>
          <p:cNvPr id="10" name="Text 8"/>
          <p:cNvSpPr txBox="1"/>
          <p:nvPr/>
        </p:nvSpPr>
        <p:spPr>
          <a:xfrm>
            <a:off x="633413" y="21018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Duplicate infrastructure</a:t>
            </a:r>
            <a:endParaRPr lang="en-US" sz="1496" dirty="0"/>
          </a:p>
        </p:txBody>
      </p:sp>
      <p:sp>
        <p:nvSpPr>
          <p:cNvPr id="11" name="Text 9"/>
          <p:cNvSpPr txBox="1"/>
          <p:nvPr/>
        </p:nvSpPr>
        <p:spPr>
          <a:xfrm>
            <a:off x="633413" y="24066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Knowledge silos</a:t>
            </a:r>
            <a:endParaRPr lang="en-US" sz="1496" dirty="0"/>
          </a:p>
        </p:txBody>
      </p:sp>
      <p:sp>
        <p:nvSpPr>
          <p:cNvPr id="12" name="Text 10"/>
          <p:cNvSpPr txBox="1"/>
          <p:nvPr/>
        </p:nvSpPr>
        <p:spPr>
          <a:xfrm>
            <a:off x="633413" y="27114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No shared auth</a:t>
            </a:r>
            <a:endParaRPr lang="en-US" sz="1496" dirty="0"/>
          </a:p>
        </p:txBody>
      </p:sp>
      <p:sp>
        <p:nvSpPr>
          <p:cNvPr id="13" name="Text 11"/>
          <p:cNvSpPr txBox="1"/>
          <p:nvPr/>
        </p:nvSpPr>
        <p:spPr>
          <a:xfrm>
            <a:off x="5852732" y="3082925"/>
            <a:ext cx="456057" cy="457200"/>
          </a:xfrm>
          <a:prstGeom prst="rect">
            <a:avLst/>
          </a:prstGeom>
          <a:noFill/>
          <a:ln/>
        </p:spPr>
        <p:txBody>
          <a:bodyPr wrap="square" lIns="0" tIns="0" rIns="0" bIns="0" rtlCol="0" anchor="ctr"/>
          <a:lstStyle/>
          <a:p>
            <a:pPr algn="l" indent="0" marL="0">
              <a:buNone/>
            </a:pPr>
            <a:r>
              <a:rPr lang="en-US" sz="3591" b="1" dirty="0">
                <a:solidFill>
                  <a:srgbClr val="6366F1"/>
                </a:solidFill>
                <a:latin typeface="Century Gothic" pitchFamily="34" charset="0"/>
                <a:ea typeface="Century Gothic" pitchFamily="34" charset="-122"/>
                <a:cs typeface="Century Gothic" pitchFamily="34" charset="-120"/>
              </a:rPr>
              <a:t>→</a:t>
            </a:r>
            <a:endParaRPr lang="en-US" sz="3591" dirty="0"/>
          </a:p>
        </p:txBody>
      </p:sp>
      <p:sp>
        <p:nvSpPr>
          <p:cNvPr id="14" name="Shape 12"/>
          <p:cNvSpPr/>
          <p:nvPr/>
        </p:nvSpPr>
        <p:spPr>
          <a:xfrm>
            <a:off x="6460808" y="1238250"/>
            <a:ext cx="5295329" cy="4146550"/>
          </a:xfrm>
          <a:prstGeom prst="roundRect">
            <a:avLst>
              <a:gd name="adj" fmla="val 317"/>
            </a:avLst>
          </a:prstGeom>
          <a:solidFill>
            <a:srgbClr val="1E293B"/>
          </a:solidFill>
          <a:ln w="12700">
            <a:solidFill>
              <a:srgbClr val="E5E7EB"/>
            </a:solidFill>
            <a:prstDash val="solid"/>
          </a:ln>
        </p:spPr>
      </p:sp>
      <p:sp>
        <p:nvSpPr>
          <p:cNvPr id="15" name="Text 13"/>
          <p:cNvSpPr txBox="1"/>
          <p:nvPr/>
        </p:nvSpPr>
        <p:spPr>
          <a:xfrm>
            <a:off x="6688836" y="1441450"/>
            <a:ext cx="4864608" cy="254000"/>
          </a:xfrm>
          <a:prstGeom prst="rect">
            <a:avLst/>
          </a:prstGeom>
          <a:noFill/>
          <a:ln/>
        </p:spPr>
        <p:txBody>
          <a:bodyPr wrap="square" lIns="0" tIns="0" rIns="0" bIns="0" rtlCol="0" anchor="ctr"/>
          <a:lstStyle/>
          <a:p>
            <a:pPr algn="l" indent="0" marL="0">
              <a:buNone/>
            </a:pPr>
            <a:r>
              <a:rPr lang="en-US" sz="1795" b="1" dirty="0">
                <a:solidFill>
                  <a:srgbClr val="34D399"/>
                </a:solidFill>
                <a:latin typeface="Century Gothic" pitchFamily="34" charset="0"/>
                <a:ea typeface="Century Gothic" pitchFamily="34" charset="-122"/>
                <a:cs typeface="Century Gothic" pitchFamily="34" charset="-120"/>
              </a:rPr>
              <a:t>After</a:t>
            </a:r>
            <a:endParaRPr lang="en-US" sz="1795" dirty="0"/>
          </a:p>
        </p:txBody>
      </p:sp>
      <p:sp>
        <p:nvSpPr>
          <p:cNvPr id="16" name="Text 14"/>
          <p:cNvSpPr txBox="1"/>
          <p:nvPr/>
        </p:nvSpPr>
        <p:spPr>
          <a:xfrm>
            <a:off x="6688836" y="17970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Modular platform</a:t>
            </a:r>
            <a:endParaRPr lang="en-US" sz="1496" dirty="0"/>
          </a:p>
        </p:txBody>
      </p:sp>
      <p:sp>
        <p:nvSpPr>
          <p:cNvPr id="17" name="Text 15"/>
          <p:cNvSpPr txBox="1"/>
          <p:nvPr/>
        </p:nvSpPr>
        <p:spPr>
          <a:xfrm>
            <a:off x="6688836" y="21018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Shared services layer</a:t>
            </a:r>
            <a:endParaRPr lang="en-US" sz="1496" dirty="0"/>
          </a:p>
        </p:txBody>
      </p:sp>
      <p:sp>
        <p:nvSpPr>
          <p:cNvPr id="18" name="Text 16"/>
          <p:cNvSpPr txBox="1"/>
          <p:nvPr/>
        </p:nvSpPr>
        <p:spPr>
          <a:xfrm>
            <a:off x="6688836" y="24066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Collective ownership</a:t>
            </a:r>
            <a:endParaRPr lang="en-US" sz="1496" dirty="0"/>
          </a:p>
        </p:txBody>
      </p:sp>
      <p:sp>
        <p:nvSpPr>
          <p:cNvPr id="19" name="Text 17"/>
          <p:cNvSpPr txBox="1"/>
          <p:nvPr/>
        </p:nvSpPr>
        <p:spPr>
          <a:xfrm>
            <a:off x="6688836" y="2711450"/>
            <a:ext cx="486460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 Unified authentication</a:t>
            </a:r>
            <a:endParaRPr lang="en-US" sz="1496" dirty="0"/>
          </a:p>
        </p:txBody>
      </p:sp>
      <p:sp>
        <p:nvSpPr>
          <p:cNvPr id="20" name="Shape 18"/>
          <p:cNvSpPr/>
          <p:nvPr/>
        </p:nvSpPr>
        <p:spPr>
          <a:xfrm>
            <a:off x="405384" y="5537200"/>
            <a:ext cx="2742676" cy="787400"/>
          </a:xfrm>
          <a:prstGeom prst="roundRect">
            <a:avLst>
              <a:gd name="adj" fmla="val 3218"/>
            </a:avLst>
          </a:prstGeom>
          <a:solidFill>
            <a:srgbClr val="334155"/>
          </a:solidFill>
          <a:ln/>
        </p:spPr>
      </p:sp>
      <p:pic>
        <p:nvPicPr>
          <p:cNvPr id="21" name="Image 0" descr="preencoded.png">    </p:cNvPr>
          <p:cNvPicPr>
            <a:picLocks noChangeAspect="1"/>
          </p:cNvPicPr>
          <p:nvPr/>
        </p:nvPicPr>
        <p:blipFill>
          <a:blip r:embed="rId1"/>
          <a:srcRect l="0" r="0" t="0" b="0"/>
          <a:stretch/>
        </p:blipFill>
        <p:spPr>
          <a:xfrm>
            <a:off x="1650040" y="5664200"/>
            <a:ext cx="253365" cy="254000"/>
          </a:xfrm>
          <a:prstGeom prst="rect">
            <a:avLst/>
          </a:prstGeom>
        </p:spPr>
      </p:pic>
      <p:sp>
        <p:nvSpPr>
          <p:cNvPr id="22" name="Text 19"/>
          <p:cNvSpPr txBox="1"/>
          <p:nvPr/>
        </p:nvSpPr>
        <p:spPr>
          <a:xfrm>
            <a:off x="1029295" y="5969000"/>
            <a:ext cx="149485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Shared Services</a:t>
            </a:r>
            <a:endParaRPr lang="en-US" sz="1496" dirty="0"/>
          </a:p>
        </p:txBody>
      </p:sp>
      <p:sp>
        <p:nvSpPr>
          <p:cNvPr id="23" name="Shape 20"/>
          <p:cNvSpPr/>
          <p:nvPr/>
        </p:nvSpPr>
        <p:spPr>
          <a:xfrm>
            <a:off x="3274743" y="5537200"/>
            <a:ext cx="2742676" cy="787400"/>
          </a:xfrm>
          <a:prstGeom prst="roundRect">
            <a:avLst>
              <a:gd name="adj" fmla="val 3218"/>
            </a:avLst>
          </a:prstGeom>
          <a:solidFill>
            <a:srgbClr val="334155"/>
          </a:solidFill>
          <a:ln/>
        </p:spPr>
      </p:sp>
      <p:pic>
        <p:nvPicPr>
          <p:cNvPr id="24" name="Image 1" descr="preencoded.png">    </p:cNvPr>
          <p:cNvPicPr>
            <a:picLocks noChangeAspect="1"/>
          </p:cNvPicPr>
          <p:nvPr/>
        </p:nvPicPr>
        <p:blipFill>
          <a:blip r:embed="rId2"/>
          <a:srcRect l="0" r="0" t="0" b="0"/>
          <a:stretch/>
        </p:blipFill>
        <p:spPr>
          <a:xfrm>
            <a:off x="4519398" y="5664200"/>
            <a:ext cx="253365" cy="254000"/>
          </a:xfrm>
          <a:prstGeom prst="rect">
            <a:avLst/>
          </a:prstGeom>
        </p:spPr>
      </p:pic>
      <p:sp>
        <p:nvSpPr>
          <p:cNvPr id="25" name="Text 21"/>
          <p:cNvSpPr txBox="1"/>
          <p:nvPr/>
        </p:nvSpPr>
        <p:spPr>
          <a:xfrm>
            <a:off x="3936659" y="5969000"/>
            <a:ext cx="1418844"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Common Auth</a:t>
            </a:r>
            <a:endParaRPr lang="en-US" sz="1496" dirty="0"/>
          </a:p>
        </p:txBody>
      </p:sp>
      <p:sp>
        <p:nvSpPr>
          <p:cNvPr id="26" name="Shape 22"/>
          <p:cNvSpPr/>
          <p:nvPr/>
        </p:nvSpPr>
        <p:spPr>
          <a:xfrm>
            <a:off x="6144101" y="5537200"/>
            <a:ext cx="2742676" cy="787400"/>
          </a:xfrm>
          <a:prstGeom prst="roundRect">
            <a:avLst>
              <a:gd name="adj" fmla="val 3218"/>
            </a:avLst>
          </a:prstGeom>
          <a:solidFill>
            <a:srgbClr val="334155"/>
          </a:solidFill>
          <a:ln/>
        </p:spPr>
      </p:sp>
      <p:pic>
        <p:nvPicPr>
          <p:cNvPr id="27" name="Image 2" descr="preencoded.png">    </p:cNvPr>
          <p:cNvPicPr>
            <a:picLocks noChangeAspect="1"/>
          </p:cNvPicPr>
          <p:nvPr/>
        </p:nvPicPr>
        <p:blipFill>
          <a:blip r:embed="rId3"/>
          <a:srcRect l="0" r="0" t="0" b="0"/>
          <a:stretch/>
        </p:blipFill>
        <p:spPr>
          <a:xfrm>
            <a:off x="7388757" y="5664200"/>
            <a:ext cx="253365" cy="254000"/>
          </a:xfrm>
          <a:prstGeom prst="rect">
            <a:avLst/>
          </a:prstGeom>
        </p:spPr>
      </p:pic>
      <p:sp>
        <p:nvSpPr>
          <p:cNvPr id="28" name="Text 23"/>
          <p:cNvSpPr txBox="1"/>
          <p:nvPr/>
        </p:nvSpPr>
        <p:spPr>
          <a:xfrm>
            <a:off x="6885194" y="5969000"/>
            <a:ext cx="126049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Consistent UI</a:t>
            </a:r>
            <a:endParaRPr lang="en-US" sz="1496" dirty="0"/>
          </a:p>
        </p:txBody>
      </p:sp>
      <p:sp>
        <p:nvSpPr>
          <p:cNvPr id="29" name="Shape 24"/>
          <p:cNvSpPr/>
          <p:nvPr/>
        </p:nvSpPr>
        <p:spPr>
          <a:xfrm>
            <a:off x="9013460" y="5537200"/>
            <a:ext cx="2742676" cy="787400"/>
          </a:xfrm>
          <a:prstGeom prst="roundRect">
            <a:avLst>
              <a:gd name="adj" fmla="val 3218"/>
            </a:avLst>
          </a:prstGeom>
          <a:solidFill>
            <a:srgbClr val="334155"/>
          </a:solidFill>
          <a:ln/>
        </p:spPr>
      </p:sp>
      <p:pic>
        <p:nvPicPr>
          <p:cNvPr id="30" name="Image 3" descr="preencoded.png">    </p:cNvPr>
          <p:cNvPicPr>
            <a:picLocks noChangeAspect="1"/>
          </p:cNvPicPr>
          <p:nvPr/>
        </p:nvPicPr>
        <p:blipFill>
          <a:blip r:embed="rId4"/>
          <a:srcRect l="0" r="0" t="0" b="0"/>
          <a:stretch/>
        </p:blipFill>
        <p:spPr>
          <a:xfrm>
            <a:off x="10258115" y="5664200"/>
            <a:ext cx="253365" cy="254000"/>
          </a:xfrm>
          <a:prstGeom prst="rect">
            <a:avLst/>
          </a:prstGeom>
        </p:spPr>
      </p:pic>
      <p:sp>
        <p:nvSpPr>
          <p:cNvPr id="31" name="Text 25"/>
          <p:cNvSpPr txBox="1"/>
          <p:nvPr/>
        </p:nvSpPr>
        <p:spPr>
          <a:xfrm>
            <a:off x="9555028" y="5969000"/>
            <a:ext cx="165954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Team Knowledge</a:t>
            </a:r>
            <a:endParaRPr lang="en-US" sz="1496" dirty="0"/>
          </a:p>
        </p:txBody>
      </p:sp>
      <p:sp>
        <p:nvSpPr>
          <p:cNvPr id="32" name="Text 26"/>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3" name="Text 27"/>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53603" cy="279400"/>
          </a:xfrm>
          <a:prstGeom prst="roundRect">
            <a:avLst>
              <a:gd name="adj" fmla="val 9624706"/>
            </a:avLst>
          </a:prstGeom>
          <a:solidFill>
            <a:srgbClr val="22D3EE"/>
          </a:solidFill>
          <a:ln/>
        </p:spPr>
      </p:sp>
      <p:sp>
        <p:nvSpPr>
          <p:cNvPr id="3" name="Text 1"/>
          <p:cNvSpPr txBox="1"/>
          <p:nvPr/>
        </p:nvSpPr>
        <p:spPr>
          <a:xfrm>
            <a:off x="532067" y="279400"/>
            <a:ext cx="1900238"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Architecture</a:t>
            </a:r>
            <a:endParaRPr lang="en-US" sz="1496" dirty="0"/>
          </a:p>
        </p:txBody>
      </p:sp>
      <p:sp>
        <p:nvSpPr>
          <p:cNvPr id="4" name="Text 2"/>
          <p:cNvSpPr txBox="1"/>
          <p:nvPr/>
        </p:nvSpPr>
        <p:spPr>
          <a:xfrm>
            <a:off x="2660333" y="203200"/>
            <a:ext cx="5434679"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Target Platform Architecture</a:t>
            </a:r>
            <a:endParaRPr lang="en-US" sz="2993" dirty="0"/>
          </a:p>
        </p:txBody>
      </p:sp>
      <p:sp>
        <p:nvSpPr>
          <p:cNvPr id="5" name="Shape 3"/>
          <p:cNvSpPr/>
          <p:nvPr/>
        </p:nvSpPr>
        <p:spPr>
          <a:xfrm>
            <a:off x="405384" y="889000"/>
            <a:ext cx="7044141" cy="1473200"/>
          </a:xfrm>
          <a:prstGeom prst="roundRect">
            <a:avLst>
              <a:gd name="adj" fmla="val 670"/>
            </a:avLst>
          </a:prstGeom>
          <a:solidFill>
            <a:srgbClr val="6366F1">
              <a:alpha val="15000"/>
            </a:srgbClr>
          </a:solidFill>
          <a:ln/>
        </p:spPr>
      </p:sp>
      <p:sp>
        <p:nvSpPr>
          <p:cNvPr id="6" name="Text 4"/>
          <p:cNvSpPr txBox="1"/>
          <p:nvPr/>
        </p:nvSpPr>
        <p:spPr>
          <a:xfrm>
            <a:off x="532067" y="1016000"/>
            <a:ext cx="6790776"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Tools Layer</a:t>
            </a:r>
            <a:endParaRPr lang="en-US" sz="1496" dirty="0"/>
          </a:p>
        </p:txBody>
      </p:sp>
      <p:sp>
        <p:nvSpPr>
          <p:cNvPr id="7" name="Shape 5"/>
          <p:cNvSpPr/>
          <p:nvPr/>
        </p:nvSpPr>
        <p:spPr>
          <a:xfrm>
            <a:off x="532067" y="1320800"/>
            <a:ext cx="1621635" cy="914400"/>
          </a:xfrm>
          <a:prstGeom prst="roundRect">
            <a:avLst>
              <a:gd name="adj" fmla="val 3125"/>
            </a:avLst>
          </a:prstGeom>
          <a:solidFill>
            <a:srgbClr val="1E293B"/>
          </a:solidFill>
          <a:ln/>
        </p:spPr>
      </p:sp>
      <p:pic>
        <p:nvPicPr>
          <p:cNvPr id="8" name="Image 0" descr="preencoded.png">    </p:cNvPr>
          <p:cNvPicPr>
            <a:picLocks noChangeAspect="1"/>
          </p:cNvPicPr>
          <p:nvPr/>
        </p:nvPicPr>
        <p:blipFill>
          <a:blip r:embed="rId1"/>
          <a:srcRect l="0" r="0" t="0" b="0"/>
          <a:stretch/>
        </p:blipFill>
        <p:spPr>
          <a:xfrm>
            <a:off x="1241489" y="1422400"/>
            <a:ext cx="202692" cy="203200"/>
          </a:xfrm>
          <a:prstGeom prst="rect">
            <a:avLst/>
          </a:prstGeom>
        </p:spPr>
      </p:pic>
      <p:sp>
        <p:nvSpPr>
          <p:cNvPr id="9" name="Text 6"/>
          <p:cNvSpPr txBox="1"/>
          <p:nvPr/>
        </p:nvSpPr>
        <p:spPr>
          <a:xfrm>
            <a:off x="633413" y="1676400"/>
            <a:ext cx="1418943" cy="4572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Preview Service</a:t>
            </a:r>
            <a:endParaRPr lang="en-US" sz="1496" dirty="0"/>
          </a:p>
        </p:txBody>
      </p:sp>
      <p:sp>
        <p:nvSpPr>
          <p:cNvPr id="10" name="Shape 7"/>
          <p:cNvSpPr/>
          <p:nvPr/>
        </p:nvSpPr>
        <p:spPr>
          <a:xfrm>
            <a:off x="2255047" y="1320800"/>
            <a:ext cx="1621734" cy="914400"/>
          </a:xfrm>
          <a:prstGeom prst="roundRect">
            <a:avLst>
              <a:gd name="adj" fmla="val 3125"/>
            </a:avLst>
          </a:prstGeom>
          <a:solidFill>
            <a:srgbClr val="1E293B"/>
          </a:solidFill>
          <a:ln/>
        </p:spPr>
      </p:sp>
      <p:pic>
        <p:nvPicPr>
          <p:cNvPr id="11" name="Image 1" descr="preencoded.png">    </p:cNvPr>
          <p:cNvPicPr>
            <a:picLocks noChangeAspect="1"/>
          </p:cNvPicPr>
          <p:nvPr/>
        </p:nvPicPr>
        <p:blipFill>
          <a:blip r:embed="rId2"/>
          <a:srcRect l="0" r="0" t="0" b="0"/>
          <a:stretch/>
        </p:blipFill>
        <p:spPr>
          <a:xfrm>
            <a:off x="2964568" y="1422400"/>
            <a:ext cx="202692" cy="203200"/>
          </a:xfrm>
          <a:prstGeom prst="rect">
            <a:avLst/>
          </a:prstGeom>
        </p:spPr>
      </p:pic>
      <p:sp>
        <p:nvSpPr>
          <p:cNvPr id="12" name="Text 8"/>
          <p:cNvSpPr txBox="1"/>
          <p:nvPr/>
        </p:nvSpPr>
        <p:spPr>
          <a:xfrm>
            <a:off x="2445170" y="1676400"/>
            <a:ext cx="1241489"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Desktop App</a:t>
            </a:r>
            <a:endParaRPr lang="en-US" sz="1496" dirty="0"/>
          </a:p>
        </p:txBody>
      </p:sp>
      <p:sp>
        <p:nvSpPr>
          <p:cNvPr id="13" name="Shape 9"/>
          <p:cNvSpPr/>
          <p:nvPr/>
        </p:nvSpPr>
        <p:spPr>
          <a:xfrm>
            <a:off x="3978127" y="1320800"/>
            <a:ext cx="1621635" cy="914400"/>
          </a:xfrm>
          <a:prstGeom prst="roundRect">
            <a:avLst>
              <a:gd name="adj" fmla="val 3125"/>
            </a:avLst>
          </a:prstGeom>
          <a:solidFill>
            <a:srgbClr val="1E293B"/>
          </a:solidFill>
          <a:ln/>
        </p:spPr>
      </p:sp>
      <p:pic>
        <p:nvPicPr>
          <p:cNvPr id="14" name="Image 2" descr="preencoded.png">    </p:cNvPr>
          <p:cNvPicPr>
            <a:picLocks noChangeAspect="1"/>
          </p:cNvPicPr>
          <p:nvPr/>
        </p:nvPicPr>
        <p:blipFill>
          <a:blip r:embed="rId3"/>
          <a:srcRect l="0" r="0" t="0" b="0"/>
          <a:stretch/>
        </p:blipFill>
        <p:spPr>
          <a:xfrm>
            <a:off x="4687549" y="1422400"/>
            <a:ext cx="202692" cy="203200"/>
          </a:xfrm>
          <a:prstGeom prst="rect">
            <a:avLst/>
          </a:prstGeom>
        </p:spPr>
      </p:pic>
      <p:sp>
        <p:nvSpPr>
          <p:cNvPr id="15" name="Text 10"/>
          <p:cNvSpPr txBox="1"/>
          <p:nvPr/>
        </p:nvSpPr>
        <p:spPr>
          <a:xfrm>
            <a:off x="4130146" y="1676400"/>
            <a:ext cx="1317498"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Script Utilities</a:t>
            </a:r>
            <a:endParaRPr lang="en-US" sz="1496" dirty="0"/>
          </a:p>
        </p:txBody>
      </p:sp>
      <p:sp>
        <p:nvSpPr>
          <p:cNvPr id="16" name="Shape 11"/>
          <p:cNvSpPr/>
          <p:nvPr/>
        </p:nvSpPr>
        <p:spPr>
          <a:xfrm>
            <a:off x="5701108" y="1320800"/>
            <a:ext cx="1621734" cy="914400"/>
          </a:xfrm>
          <a:prstGeom prst="roundRect">
            <a:avLst>
              <a:gd name="adj" fmla="val 3125"/>
            </a:avLst>
          </a:prstGeom>
          <a:solidFill>
            <a:srgbClr val="1E293B"/>
          </a:solidFill>
          <a:ln/>
        </p:spPr>
      </p:sp>
      <p:pic>
        <p:nvPicPr>
          <p:cNvPr id="17" name="Image 3" descr="preencoded.png">    </p:cNvPr>
          <p:cNvPicPr>
            <a:picLocks noChangeAspect="1"/>
          </p:cNvPicPr>
          <p:nvPr/>
        </p:nvPicPr>
        <p:blipFill>
          <a:blip r:embed="rId4"/>
          <a:srcRect l="0" r="0" t="0" b="0"/>
          <a:stretch/>
        </p:blipFill>
        <p:spPr>
          <a:xfrm>
            <a:off x="6410629" y="1422400"/>
            <a:ext cx="202692" cy="203200"/>
          </a:xfrm>
          <a:prstGeom prst="rect">
            <a:avLst/>
          </a:prstGeom>
        </p:spPr>
      </p:pic>
      <p:sp>
        <p:nvSpPr>
          <p:cNvPr id="18" name="Text 12"/>
          <p:cNvSpPr txBox="1"/>
          <p:nvPr/>
        </p:nvSpPr>
        <p:spPr>
          <a:xfrm>
            <a:off x="5973575" y="1676400"/>
            <a:ext cx="1076801"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AI Features</a:t>
            </a:r>
            <a:endParaRPr lang="en-US" sz="1496" dirty="0"/>
          </a:p>
        </p:txBody>
      </p:sp>
      <p:pic>
        <p:nvPicPr>
          <p:cNvPr id="19" name="Image 4" descr="preencoded.png">    </p:cNvPr>
          <p:cNvPicPr>
            <a:picLocks noChangeAspect="1"/>
          </p:cNvPicPr>
          <p:nvPr/>
        </p:nvPicPr>
        <p:blipFill>
          <a:blip r:embed="rId5"/>
          <a:srcRect l="0" r="0" t="0" b="0"/>
          <a:stretch/>
        </p:blipFill>
        <p:spPr>
          <a:xfrm>
            <a:off x="3826108" y="2463800"/>
            <a:ext cx="202692" cy="203200"/>
          </a:xfrm>
          <a:prstGeom prst="rect">
            <a:avLst/>
          </a:prstGeom>
        </p:spPr>
      </p:pic>
      <p:sp>
        <p:nvSpPr>
          <p:cNvPr id="20" name="Shape 13"/>
          <p:cNvSpPr/>
          <p:nvPr/>
        </p:nvSpPr>
        <p:spPr>
          <a:xfrm>
            <a:off x="405384" y="2768600"/>
            <a:ext cx="7044141" cy="1473200"/>
          </a:xfrm>
          <a:prstGeom prst="roundRect">
            <a:avLst>
              <a:gd name="adj" fmla="val 670"/>
            </a:avLst>
          </a:prstGeom>
          <a:solidFill>
            <a:srgbClr val="22D3EE">
              <a:alpha val="15000"/>
            </a:srgbClr>
          </a:solidFill>
          <a:ln/>
        </p:spPr>
      </p:sp>
      <p:sp>
        <p:nvSpPr>
          <p:cNvPr id="21" name="Text 14"/>
          <p:cNvSpPr txBox="1"/>
          <p:nvPr/>
        </p:nvSpPr>
        <p:spPr>
          <a:xfrm>
            <a:off x="532067" y="2895600"/>
            <a:ext cx="6790776"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Shared Services Layer</a:t>
            </a:r>
            <a:endParaRPr lang="en-US" sz="1496" dirty="0"/>
          </a:p>
        </p:txBody>
      </p:sp>
      <p:sp>
        <p:nvSpPr>
          <p:cNvPr id="22" name="Shape 15"/>
          <p:cNvSpPr/>
          <p:nvPr/>
        </p:nvSpPr>
        <p:spPr>
          <a:xfrm>
            <a:off x="532067" y="3200400"/>
            <a:ext cx="1621635" cy="914400"/>
          </a:xfrm>
          <a:prstGeom prst="roundRect">
            <a:avLst>
              <a:gd name="adj" fmla="val 3125"/>
            </a:avLst>
          </a:prstGeom>
          <a:solidFill>
            <a:srgbClr val="1E293B"/>
          </a:solidFill>
          <a:ln/>
        </p:spPr>
      </p:sp>
      <p:pic>
        <p:nvPicPr>
          <p:cNvPr id="23" name="Image 5" descr="preencoded.png">    </p:cNvPr>
          <p:cNvPicPr>
            <a:picLocks noChangeAspect="1"/>
          </p:cNvPicPr>
          <p:nvPr/>
        </p:nvPicPr>
        <p:blipFill>
          <a:blip r:embed="rId6"/>
          <a:srcRect l="0" r="0" t="0" b="0"/>
          <a:stretch/>
        </p:blipFill>
        <p:spPr>
          <a:xfrm>
            <a:off x="1241489" y="3302000"/>
            <a:ext cx="202692" cy="203200"/>
          </a:xfrm>
          <a:prstGeom prst="rect">
            <a:avLst/>
          </a:prstGeom>
        </p:spPr>
      </p:pic>
      <p:sp>
        <p:nvSpPr>
          <p:cNvPr id="24" name="Text 16"/>
          <p:cNvSpPr txBox="1"/>
          <p:nvPr/>
        </p:nvSpPr>
        <p:spPr>
          <a:xfrm>
            <a:off x="627177" y="3556000"/>
            <a:ext cx="1431512"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Authentication</a:t>
            </a:r>
            <a:endParaRPr lang="en-US" sz="1496" dirty="0"/>
          </a:p>
        </p:txBody>
      </p:sp>
      <p:sp>
        <p:nvSpPr>
          <p:cNvPr id="25" name="Shape 17"/>
          <p:cNvSpPr/>
          <p:nvPr/>
        </p:nvSpPr>
        <p:spPr>
          <a:xfrm>
            <a:off x="2255047" y="3200400"/>
            <a:ext cx="1621734" cy="914400"/>
          </a:xfrm>
          <a:prstGeom prst="roundRect">
            <a:avLst>
              <a:gd name="adj" fmla="val 3125"/>
            </a:avLst>
          </a:prstGeom>
          <a:solidFill>
            <a:srgbClr val="1E293B"/>
          </a:solidFill>
          <a:ln/>
        </p:spPr>
      </p:sp>
      <p:pic>
        <p:nvPicPr>
          <p:cNvPr id="26" name="Image 6" descr="preencoded.png">    </p:cNvPr>
          <p:cNvPicPr>
            <a:picLocks noChangeAspect="1"/>
          </p:cNvPicPr>
          <p:nvPr/>
        </p:nvPicPr>
        <p:blipFill>
          <a:blip r:embed="rId7"/>
          <a:srcRect l="0" r="0" t="0" b="0"/>
          <a:stretch/>
        </p:blipFill>
        <p:spPr>
          <a:xfrm>
            <a:off x="2964568" y="3302000"/>
            <a:ext cx="202692" cy="203200"/>
          </a:xfrm>
          <a:prstGeom prst="rect">
            <a:avLst/>
          </a:prstGeom>
        </p:spPr>
      </p:pic>
      <p:sp>
        <p:nvSpPr>
          <p:cNvPr id="27" name="Text 18"/>
          <p:cNvSpPr txBox="1"/>
          <p:nvPr/>
        </p:nvSpPr>
        <p:spPr>
          <a:xfrm>
            <a:off x="2356393" y="3556000"/>
            <a:ext cx="1419042" cy="4572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Asset Mgmt API</a:t>
            </a:r>
            <a:endParaRPr lang="en-US" sz="1496" dirty="0"/>
          </a:p>
        </p:txBody>
      </p:sp>
      <p:sp>
        <p:nvSpPr>
          <p:cNvPr id="28" name="Shape 19"/>
          <p:cNvSpPr/>
          <p:nvPr/>
        </p:nvSpPr>
        <p:spPr>
          <a:xfrm>
            <a:off x="3978127" y="3200400"/>
            <a:ext cx="1621635" cy="914400"/>
          </a:xfrm>
          <a:prstGeom prst="roundRect">
            <a:avLst>
              <a:gd name="adj" fmla="val 3125"/>
            </a:avLst>
          </a:prstGeom>
          <a:solidFill>
            <a:srgbClr val="1E293B"/>
          </a:solidFill>
          <a:ln/>
        </p:spPr>
      </p:sp>
      <p:pic>
        <p:nvPicPr>
          <p:cNvPr id="29" name="Image 7" descr="preencoded.png">    </p:cNvPr>
          <p:cNvPicPr>
            <a:picLocks noChangeAspect="1"/>
          </p:cNvPicPr>
          <p:nvPr/>
        </p:nvPicPr>
        <p:blipFill>
          <a:blip r:embed="rId8"/>
          <a:srcRect l="0" r="0" t="0" b="0"/>
          <a:stretch/>
        </p:blipFill>
        <p:spPr>
          <a:xfrm>
            <a:off x="4687549" y="3302000"/>
            <a:ext cx="202692" cy="203200"/>
          </a:xfrm>
          <a:prstGeom prst="rect">
            <a:avLst/>
          </a:prstGeom>
        </p:spPr>
      </p:pic>
      <p:sp>
        <p:nvSpPr>
          <p:cNvPr id="30" name="Text 20"/>
          <p:cNvSpPr txBox="1"/>
          <p:nvPr/>
        </p:nvSpPr>
        <p:spPr>
          <a:xfrm>
            <a:off x="4079473" y="3556000"/>
            <a:ext cx="1418943" cy="4572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Common UI Library</a:t>
            </a:r>
            <a:endParaRPr lang="en-US" sz="1496" dirty="0"/>
          </a:p>
        </p:txBody>
      </p:sp>
      <p:sp>
        <p:nvSpPr>
          <p:cNvPr id="31" name="Shape 21"/>
          <p:cNvSpPr/>
          <p:nvPr/>
        </p:nvSpPr>
        <p:spPr>
          <a:xfrm>
            <a:off x="5701108" y="3200400"/>
            <a:ext cx="1621734" cy="914400"/>
          </a:xfrm>
          <a:prstGeom prst="roundRect">
            <a:avLst>
              <a:gd name="adj" fmla="val 3125"/>
            </a:avLst>
          </a:prstGeom>
          <a:solidFill>
            <a:srgbClr val="1E293B"/>
          </a:solidFill>
          <a:ln/>
        </p:spPr>
      </p:sp>
      <p:pic>
        <p:nvPicPr>
          <p:cNvPr id="32" name="Image 8" descr="preencoded.png">    </p:cNvPr>
          <p:cNvPicPr>
            <a:picLocks noChangeAspect="1"/>
          </p:cNvPicPr>
          <p:nvPr/>
        </p:nvPicPr>
        <p:blipFill>
          <a:blip r:embed="rId9"/>
          <a:srcRect l="0" r="0" t="0" b="0"/>
          <a:stretch/>
        </p:blipFill>
        <p:spPr>
          <a:xfrm>
            <a:off x="6410629" y="3302000"/>
            <a:ext cx="202692" cy="203200"/>
          </a:xfrm>
          <a:prstGeom prst="rect">
            <a:avLst/>
          </a:prstGeom>
        </p:spPr>
      </p:pic>
      <p:sp>
        <p:nvSpPr>
          <p:cNvPr id="33" name="Text 22"/>
          <p:cNvSpPr txBox="1"/>
          <p:nvPr/>
        </p:nvSpPr>
        <p:spPr>
          <a:xfrm>
            <a:off x="5897565" y="3556000"/>
            <a:ext cx="1228820"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Observability</a:t>
            </a:r>
            <a:endParaRPr lang="en-US" sz="1496" dirty="0"/>
          </a:p>
        </p:txBody>
      </p:sp>
      <p:pic>
        <p:nvPicPr>
          <p:cNvPr id="34" name="Image 9" descr="preencoded.png">    </p:cNvPr>
          <p:cNvPicPr>
            <a:picLocks noChangeAspect="1"/>
          </p:cNvPicPr>
          <p:nvPr/>
        </p:nvPicPr>
        <p:blipFill>
          <a:blip r:embed="rId10"/>
          <a:srcRect l="0" r="0" t="0" b="0"/>
          <a:stretch/>
        </p:blipFill>
        <p:spPr>
          <a:xfrm>
            <a:off x="3826108" y="4343400"/>
            <a:ext cx="202692" cy="203200"/>
          </a:xfrm>
          <a:prstGeom prst="rect">
            <a:avLst/>
          </a:prstGeom>
        </p:spPr>
      </p:pic>
      <p:sp>
        <p:nvSpPr>
          <p:cNvPr id="35" name="Shape 23"/>
          <p:cNvSpPr/>
          <p:nvPr/>
        </p:nvSpPr>
        <p:spPr>
          <a:xfrm>
            <a:off x="405384" y="4648200"/>
            <a:ext cx="7044141" cy="1473200"/>
          </a:xfrm>
          <a:prstGeom prst="roundRect">
            <a:avLst>
              <a:gd name="adj" fmla="val 670"/>
            </a:avLst>
          </a:prstGeom>
          <a:solidFill>
            <a:srgbClr val="334155"/>
          </a:solidFill>
          <a:ln/>
        </p:spPr>
      </p:sp>
      <p:sp>
        <p:nvSpPr>
          <p:cNvPr id="36" name="Text 24"/>
          <p:cNvSpPr txBox="1"/>
          <p:nvPr/>
        </p:nvSpPr>
        <p:spPr>
          <a:xfrm>
            <a:off x="532067" y="4775200"/>
            <a:ext cx="6790776" cy="228600"/>
          </a:xfrm>
          <a:prstGeom prst="rect">
            <a:avLst/>
          </a:prstGeom>
          <a:noFill/>
          <a:ln/>
        </p:spPr>
        <p:txBody>
          <a:bodyPr wrap="square" lIns="0" tIns="0" rIns="0" bIns="0" rtlCol="0" anchor="ctr"/>
          <a:lstStyle/>
          <a:p>
            <a:pPr algn="l" indent="0" marL="0">
              <a:buNone/>
            </a:pPr>
            <a:r>
              <a:rPr lang="en-US" sz="1496" b="1" dirty="0">
                <a:solidFill>
                  <a:srgbClr val="94A3B8"/>
                </a:solidFill>
                <a:latin typeface="Century Gothic" pitchFamily="34" charset="0"/>
                <a:ea typeface="Century Gothic" pitchFamily="34" charset="-122"/>
                <a:cs typeface="Century Gothic" pitchFamily="34" charset="-120"/>
              </a:rPr>
              <a:t>Infrastructure Layer</a:t>
            </a:r>
            <a:endParaRPr lang="en-US" sz="1496" dirty="0"/>
          </a:p>
        </p:txBody>
      </p:sp>
      <p:sp>
        <p:nvSpPr>
          <p:cNvPr id="37" name="Shape 25"/>
          <p:cNvSpPr/>
          <p:nvPr/>
        </p:nvSpPr>
        <p:spPr>
          <a:xfrm>
            <a:off x="532067" y="5080000"/>
            <a:ext cx="1621635" cy="914400"/>
          </a:xfrm>
          <a:prstGeom prst="roundRect">
            <a:avLst>
              <a:gd name="adj" fmla="val 3125"/>
            </a:avLst>
          </a:prstGeom>
          <a:solidFill>
            <a:srgbClr val="1E293B"/>
          </a:solidFill>
          <a:ln/>
        </p:spPr>
      </p:sp>
      <p:pic>
        <p:nvPicPr>
          <p:cNvPr id="38" name="Image 10" descr="preencoded.png">    </p:cNvPr>
          <p:cNvPicPr>
            <a:picLocks noChangeAspect="1"/>
          </p:cNvPicPr>
          <p:nvPr/>
        </p:nvPicPr>
        <p:blipFill>
          <a:blip r:embed="rId11"/>
          <a:srcRect l="0" r="0" t="0" b="0"/>
          <a:stretch/>
        </p:blipFill>
        <p:spPr>
          <a:xfrm>
            <a:off x="1241489" y="5181600"/>
            <a:ext cx="202692" cy="203200"/>
          </a:xfrm>
          <a:prstGeom prst="rect">
            <a:avLst/>
          </a:prstGeom>
        </p:spPr>
      </p:pic>
      <p:sp>
        <p:nvSpPr>
          <p:cNvPr id="39" name="Text 26"/>
          <p:cNvSpPr txBox="1"/>
          <p:nvPr/>
        </p:nvSpPr>
        <p:spPr>
          <a:xfrm>
            <a:off x="902613" y="5435600"/>
            <a:ext cx="880443"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AWS ECS</a:t>
            </a:r>
            <a:endParaRPr lang="en-US" sz="1496" dirty="0"/>
          </a:p>
        </p:txBody>
      </p:sp>
      <p:sp>
        <p:nvSpPr>
          <p:cNvPr id="40" name="Shape 27"/>
          <p:cNvSpPr/>
          <p:nvPr/>
        </p:nvSpPr>
        <p:spPr>
          <a:xfrm>
            <a:off x="2255047" y="5080000"/>
            <a:ext cx="1621734" cy="914400"/>
          </a:xfrm>
          <a:prstGeom prst="roundRect">
            <a:avLst>
              <a:gd name="adj" fmla="val 3125"/>
            </a:avLst>
          </a:prstGeom>
          <a:solidFill>
            <a:srgbClr val="1E293B"/>
          </a:solidFill>
          <a:ln/>
        </p:spPr>
      </p:sp>
      <p:pic>
        <p:nvPicPr>
          <p:cNvPr id="41" name="Image 11" descr="preencoded.png">    </p:cNvPr>
          <p:cNvPicPr>
            <a:picLocks noChangeAspect="1"/>
          </p:cNvPicPr>
          <p:nvPr/>
        </p:nvPicPr>
        <p:blipFill>
          <a:blip r:embed="rId12"/>
          <a:srcRect l="0" r="0" t="0" b="0"/>
          <a:stretch/>
        </p:blipFill>
        <p:spPr>
          <a:xfrm>
            <a:off x="2964568" y="5181600"/>
            <a:ext cx="202692" cy="203200"/>
          </a:xfrm>
          <a:prstGeom prst="rect">
            <a:avLst/>
          </a:prstGeom>
        </p:spPr>
      </p:pic>
      <p:sp>
        <p:nvSpPr>
          <p:cNvPr id="42" name="Text 28"/>
          <p:cNvSpPr txBox="1"/>
          <p:nvPr/>
        </p:nvSpPr>
        <p:spPr>
          <a:xfrm>
            <a:off x="2356393" y="5435600"/>
            <a:ext cx="1419042" cy="4572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S3 + CloudFront</a:t>
            </a:r>
            <a:endParaRPr lang="en-US" sz="1496" dirty="0"/>
          </a:p>
        </p:txBody>
      </p:sp>
      <p:sp>
        <p:nvSpPr>
          <p:cNvPr id="43" name="Shape 29"/>
          <p:cNvSpPr/>
          <p:nvPr/>
        </p:nvSpPr>
        <p:spPr>
          <a:xfrm>
            <a:off x="3978127" y="5080000"/>
            <a:ext cx="1621635" cy="914400"/>
          </a:xfrm>
          <a:prstGeom prst="roundRect">
            <a:avLst>
              <a:gd name="adj" fmla="val 3125"/>
            </a:avLst>
          </a:prstGeom>
          <a:solidFill>
            <a:srgbClr val="1E293B"/>
          </a:solidFill>
          <a:ln/>
        </p:spPr>
      </p:sp>
      <p:pic>
        <p:nvPicPr>
          <p:cNvPr id="44" name="Image 12" descr="preencoded.png">    </p:cNvPr>
          <p:cNvPicPr>
            <a:picLocks noChangeAspect="1"/>
          </p:cNvPicPr>
          <p:nvPr/>
        </p:nvPicPr>
        <p:blipFill>
          <a:blip r:embed="rId13"/>
          <a:srcRect l="0" r="0" t="0" b="0"/>
          <a:stretch/>
        </p:blipFill>
        <p:spPr>
          <a:xfrm>
            <a:off x="4687549" y="5181600"/>
            <a:ext cx="202692" cy="203200"/>
          </a:xfrm>
          <a:prstGeom prst="rect">
            <a:avLst/>
          </a:prstGeom>
        </p:spPr>
      </p:pic>
      <p:sp>
        <p:nvSpPr>
          <p:cNvPr id="45" name="Text 30"/>
          <p:cNvSpPr txBox="1"/>
          <p:nvPr/>
        </p:nvSpPr>
        <p:spPr>
          <a:xfrm>
            <a:off x="4079473" y="5435600"/>
            <a:ext cx="1418943" cy="4572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DynamoDB + Redis</a:t>
            </a:r>
            <a:endParaRPr lang="en-US" sz="1496" dirty="0"/>
          </a:p>
        </p:txBody>
      </p:sp>
      <p:sp>
        <p:nvSpPr>
          <p:cNvPr id="46" name="Shape 31"/>
          <p:cNvSpPr/>
          <p:nvPr/>
        </p:nvSpPr>
        <p:spPr>
          <a:xfrm>
            <a:off x="5701108" y="5080000"/>
            <a:ext cx="1621734" cy="914400"/>
          </a:xfrm>
          <a:prstGeom prst="roundRect">
            <a:avLst>
              <a:gd name="adj" fmla="val 3125"/>
            </a:avLst>
          </a:prstGeom>
          <a:solidFill>
            <a:srgbClr val="1E293B"/>
          </a:solidFill>
          <a:ln/>
        </p:spPr>
      </p:sp>
      <p:pic>
        <p:nvPicPr>
          <p:cNvPr id="47" name="Image 13" descr="preencoded.png">    </p:cNvPr>
          <p:cNvPicPr>
            <a:picLocks noChangeAspect="1"/>
          </p:cNvPicPr>
          <p:nvPr/>
        </p:nvPicPr>
        <p:blipFill>
          <a:blip r:embed="rId14"/>
          <a:srcRect l="0" r="0" t="0" b="0"/>
          <a:stretch/>
        </p:blipFill>
        <p:spPr>
          <a:xfrm>
            <a:off x="6410629" y="5181600"/>
            <a:ext cx="202692" cy="203200"/>
          </a:xfrm>
          <a:prstGeom prst="rect">
            <a:avLst/>
          </a:prstGeom>
        </p:spPr>
      </p:pic>
      <p:sp>
        <p:nvSpPr>
          <p:cNvPr id="48" name="Text 32"/>
          <p:cNvSpPr txBox="1"/>
          <p:nvPr/>
        </p:nvSpPr>
        <p:spPr>
          <a:xfrm>
            <a:off x="5926069" y="5435600"/>
            <a:ext cx="1171813" cy="228600"/>
          </a:xfrm>
          <a:prstGeom prst="rect">
            <a:avLst/>
          </a:prstGeom>
          <a:noFill/>
          <a:ln/>
        </p:spPr>
        <p:txBody>
          <a:bodyPr wrap="square" lIns="0" tIns="0" rIns="0" bIns="0" rtlCol="0" anchor="ctr"/>
          <a:lstStyle/>
          <a:p>
            <a:pPr algn="ctr" indent="0" marL="0">
              <a:buNone/>
            </a:pPr>
            <a:r>
              <a:rPr lang="en-US" sz="1496" b="1" dirty="0">
                <a:solidFill>
                  <a:srgbClr val="F1F5F9"/>
                </a:solidFill>
                <a:latin typeface="Century Gothic" pitchFamily="34" charset="0"/>
                <a:ea typeface="Century Gothic" pitchFamily="34" charset="-122"/>
                <a:cs typeface="Century Gothic" pitchFamily="34" charset="-120"/>
              </a:rPr>
              <a:t>CloudWatch</a:t>
            </a:r>
            <a:endParaRPr lang="en-US" sz="1496" dirty="0"/>
          </a:p>
        </p:txBody>
      </p:sp>
      <p:sp>
        <p:nvSpPr>
          <p:cNvPr id="49" name="Shape 33"/>
          <p:cNvSpPr/>
          <p:nvPr/>
        </p:nvSpPr>
        <p:spPr>
          <a:xfrm>
            <a:off x="7601544" y="2171700"/>
            <a:ext cx="4154592" cy="711200"/>
          </a:xfrm>
          <a:prstGeom prst="roundRect">
            <a:avLst>
              <a:gd name="adj" fmla="val 1568"/>
            </a:avLst>
          </a:prstGeom>
          <a:solidFill>
            <a:srgbClr val="1E293B"/>
          </a:solidFill>
          <a:ln/>
        </p:spPr>
      </p:sp>
      <p:sp>
        <p:nvSpPr>
          <p:cNvPr id="50" name="Shape 34"/>
          <p:cNvSpPr/>
          <p:nvPr/>
        </p:nvSpPr>
        <p:spPr>
          <a:xfrm>
            <a:off x="7702890" y="2349500"/>
            <a:ext cx="76010" cy="76200"/>
          </a:xfrm>
          <a:prstGeom prst="roundRect">
            <a:avLst>
              <a:gd name="adj" fmla="val 1002399421"/>
            </a:avLst>
          </a:prstGeom>
          <a:solidFill>
            <a:srgbClr val="6366F1"/>
          </a:solidFill>
          <a:ln/>
        </p:spPr>
      </p:sp>
      <p:sp>
        <p:nvSpPr>
          <p:cNvPr id="51" name="Text 35"/>
          <p:cNvSpPr txBox="1"/>
          <p:nvPr/>
        </p:nvSpPr>
        <p:spPr>
          <a:xfrm>
            <a:off x="7829572" y="2273300"/>
            <a:ext cx="481394"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Tools</a:t>
            </a:r>
            <a:endParaRPr lang="en-US" sz="1496" dirty="0"/>
          </a:p>
        </p:txBody>
      </p:sp>
      <p:sp>
        <p:nvSpPr>
          <p:cNvPr id="52" name="Text 36"/>
          <p:cNvSpPr txBox="1"/>
          <p:nvPr/>
        </p:nvSpPr>
        <p:spPr>
          <a:xfrm>
            <a:off x="7702890" y="2552700"/>
            <a:ext cx="3951900"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Each tool is a module — plug in or out</a:t>
            </a:r>
            <a:endParaRPr lang="en-US" sz="1496" dirty="0"/>
          </a:p>
        </p:txBody>
      </p:sp>
      <p:sp>
        <p:nvSpPr>
          <p:cNvPr id="53" name="Shape 37"/>
          <p:cNvSpPr/>
          <p:nvPr/>
        </p:nvSpPr>
        <p:spPr>
          <a:xfrm>
            <a:off x="7601544" y="3035300"/>
            <a:ext cx="4154592" cy="711200"/>
          </a:xfrm>
          <a:prstGeom prst="roundRect">
            <a:avLst>
              <a:gd name="adj" fmla="val 1568"/>
            </a:avLst>
          </a:prstGeom>
          <a:solidFill>
            <a:srgbClr val="1E293B"/>
          </a:solidFill>
          <a:ln/>
        </p:spPr>
      </p:sp>
      <p:sp>
        <p:nvSpPr>
          <p:cNvPr id="54" name="Shape 38"/>
          <p:cNvSpPr/>
          <p:nvPr/>
        </p:nvSpPr>
        <p:spPr>
          <a:xfrm>
            <a:off x="7702890" y="3213100"/>
            <a:ext cx="76010" cy="76200"/>
          </a:xfrm>
          <a:prstGeom prst="roundRect">
            <a:avLst>
              <a:gd name="adj" fmla="val 1002399421"/>
            </a:avLst>
          </a:prstGeom>
          <a:solidFill>
            <a:srgbClr val="22D3EE"/>
          </a:solidFill>
          <a:ln/>
        </p:spPr>
      </p:sp>
      <p:sp>
        <p:nvSpPr>
          <p:cNvPr id="55" name="Text 39"/>
          <p:cNvSpPr txBox="1"/>
          <p:nvPr/>
        </p:nvSpPr>
        <p:spPr>
          <a:xfrm>
            <a:off x="7829572" y="3136900"/>
            <a:ext cx="1494854"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Shared Services</a:t>
            </a:r>
            <a:endParaRPr lang="en-US" sz="1496" dirty="0"/>
          </a:p>
        </p:txBody>
      </p:sp>
      <p:sp>
        <p:nvSpPr>
          <p:cNvPr id="56" name="Text 40"/>
          <p:cNvSpPr txBox="1"/>
          <p:nvPr/>
        </p:nvSpPr>
        <p:spPr>
          <a:xfrm>
            <a:off x="7702890" y="3416300"/>
            <a:ext cx="3951900"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Reused across all tools — no duplication</a:t>
            </a:r>
            <a:endParaRPr lang="en-US" sz="1496" dirty="0"/>
          </a:p>
        </p:txBody>
      </p:sp>
      <p:sp>
        <p:nvSpPr>
          <p:cNvPr id="57" name="Shape 41"/>
          <p:cNvSpPr/>
          <p:nvPr/>
        </p:nvSpPr>
        <p:spPr>
          <a:xfrm>
            <a:off x="7601544" y="3898900"/>
            <a:ext cx="4154592" cy="939800"/>
          </a:xfrm>
          <a:prstGeom prst="roundRect">
            <a:avLst>
              <a:gd name="adj" fmla="val 1187"/>
            </a:avLst>
          </a:prstGeom>
          <a:solidFill>
            <a:srgbClr val="1E293B"/>
          </a:solidFill>
          <a:ln/>
        </p:spPr>
      </p:sp>
      <p:sp>
        <p:nvSpPr>
          <p:cNvPr id="58" name="Shape 42"/>
          <p:cNvSpPr/>
          <p:nvPr/>
        </p:nvSpPr>
        <p:spPr>
          <a:xfrm>
            <a:off x="7702890" y="4076700"/>
            <a:ext cx="76010" cy="76200"/>
          </a:xfrm>
          <a:prstGeom prst="roundRect">
            <a:avLst>
              <a:gd name="adj" fmla="val 1002399421"/>
            </a:avLst>
          </a:prstGeom>
          <a:solidFill>
            <a:srgbClr val="94A3B8"/>
          </a:solidFill>
          <a:ln/>
        </p:spPr>
      </p:sp>
      <p:sp>
        <p:nvSpPr>
          <p:cNvPr id="59" name="Text 43"/>
          <p:cNvSpPr txBox="1"/>
          <p:nvPr/>
        </p:nvSpPr>
        <p:spPr>
          <a:xfrm>
            <a:off x="7829572" y="4000500"/>
            <a:ext cx="1304830" cy="228600"/>
          </a:xfrm>
          <a:prstGeom prst="rect">
            <a:avLst/>
          </a:prstGeom>
          <a:noFill/>
          <a:ln/>
        </p:spPr>
        <p:txBody>
          <a:bodyPr wrap="square" lIns="0" tIns="0" rIns="0" bIns="0" rtlCol="0" anchor="ctr"/>
          <a:lstStyle/>
          <a:p>
            <a:pPr algn="l" indent="0" marL="0">
              <a:buNone/>
            </a:pPr>
            <a:r>
              <a:rPr lang="en-US" sz="1496" b="1" dirty="0">
                <a:solidFill>
                  <a:srgbClr val="94A3B8"/>
                </a:solidFill>
                <a:latin typeface="Century Gothic" pitchFamily="34" charset="0"/>
                <a:ea typeface="Century Gothic" pitchFamily="34" charset="-122"/>
                <a:cs typeface="Century Gothic" pitchFamily="34" charset="-120"/>
              </a:rPr>
              <a:t>Infrastructure</a:t>
            </a:r>
            <a:endParaRPr lang="en-US" sz="1496" dirty="0"/>
          </a:p>
        </p:txBody>
      </p:sp>
      <p:sp>
        <p:nvSpPr>
          <p:cNvPr id="60" name="Text 44"/>
          <p:cNvSpPr txBox="1"/>
          <p:nvPr/>
        </p:nvSpPr>
        <p:spPr>
          <a:xfrm>
            <a:off x="7702890" y="4279900"/>
            <a:ext cx="3951900" cy="4572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Managed AWS services — low ops overhead</a:t>
            </a:r>
            <a:endParaRPr lang="en-US" sz="1496" dirty="0"/>
          </a:p>
        </p:txBody>
      </p:sp>
      <p:sp>
        <p:nvSpPr>
          <p:cNvPr id="61" name="Text 45"/>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62" name="Text 46"/>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760887" cy="279400"/>
          </a:xfrm>
          <a:prstGeom prst="roundRect">
            <a:avLst>
              <a:gd name="adj" fmla="val 11771223"/>
            </a:avLst>
          </a:prstGeom>
          <a:solidFill>
            <a:srgbClr val="22D3EE"/>
          </a:solidFill>
          <a:ln/>
        </p:spPr>
      </p:sp>
      <p:sp>
        <p:nvSpPr>
          <p:cNvPr id="3" name="Text 1"/>
          <p:cNvSpPr txBox="1"/>
          <p:nvPr/>
        </p:nvSpPr>
        <p:spPr>
          <a:xfrm>
            <a:off x="532067" y="279400"/>
            <a:ext cx="1507522"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Strategy</a:t>
            </a:r>
            <a:endParaRPr lang="en-US" sz="1496" dirty="0"/>
          </a:p>
        </p:txBody>
      </p:sp>
      <p:sp>
        <p:nvSpPr>
          <p:cNvPr id="4" name="Text 2"/>
          <p:cNvSpPr txBox="1"/>
          <p:nvPr/>
        </p:nvSpPr>
        <p:spPr>
          <a:xfrm>
            <a:off x="2267617" y="203200"/>
            <a:ext cx="4060174"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Migration Philosophy</a:t>
            </a:r>
            <a:endParaRPr lang="en-US" sz="2993" dirty="0"/>
          </a:p>
        </p:txBody>
      </p:sp>
      <p:sp>
        <p:nvSpPr>
          <p:cNvPr id="5" name="Text 3"/>
          <p:cNvSpPr txBox="1"/>
          <p:nvPr/>
        </p:nvSpPr>
        <p:spPr>
          <a:xfrm>
            <a:off x="810768" y="736600"/>
            <a:ext cx="10539984" cy="304800"/>
          </a:xfrm>
          <a:prstGeom prst="rect">
            <a:avLst/>
          </a:prstGeom>
          <a:noFill/>
          <a:ln/>
        </p:spPr>
        <p:txBody>
          <a:bodyPr wrap="square" lIns="0" tIns="0" rIns="0" bIns="0" rtlCol="0" anchor="ctr"/>
          <a:lstStyle/>
          <a:p>
            <a:pPr algn="ctr" indent="0" marL="0">
              <a:buNone/>
            </a:pPr>
            <a:endParaRPr lang="en-US" sz="2394" dirty="0"/>
          </a:p>
          <a:p>
            <a:pPr algn="ctr" indent="0" marL="0">
              <a:buNone/>
            </a:pPr>
            <a:r>
              <a:rPr lang="en-US" sz="2394" b="1" i="1" dirty="0">
                <a:solidFill>
                  <a:srgbClr val="F1F5F9"/>
                </a:solidFill>
                <a:latin typeface="Century Gothic" pitchFamily="34" charset="0"/>
                <a:ea typeface="Century Gothic" pitchFamily="34" charset="-122"/>
                <a:cs typeface="Century Gothic" pitchFamily="34" charset="-120"/>
              </a:rPr>
              <a:t>          </a:t>
            </a:r>
            <a:endParaRPr lang="en-US" sz="2394" dirty="0"/>
          </a:p>
          <a:p>
            <a:pPr algn="ctr" indent="0" marL="0">
              <a:buNone/>
            </a:pPr>
            <a:r>
              <a:rPr lang="en-US" sz="2394" b="1" i="1" dirty="0">
                <a:solidFill>
                  <a:srgbClr val="22D3EE"/>
                </a:solidFill>
                <a:latin typeface="Century Gothic" pitchFamily="34" charset="0"/>
                <a:ea typeface="Century Gothic" pitchFamily="34" charset="-122"/>
                <a:cs typeface="Century Gothic" pitchFamily="34" charset="-120"/>
              </a:rPr>
              <a:t>“</a:t>
            </a:r>
            <a:pPr algn="ctr" indent="0" marL="0">
              <a:buNone/>
            </a:pPr>
            <a:r>
              <a:rPr lang="en-US" sz="2394" b="1" i="1" dirty="0">
                <a:solidFill>
                  <a:srgbClr val="F1F5F9"/>
                </a:solidFill>
                <a:latin typeface="Century Gothic" pitchFamily="34" charset="0"/>
                <a:ea typeface="Century Gothic" pitchFamily="34" charset="-122"/>
                <a:cs typeface="Century Gothic" pitchFamily="34" charset="-120"/>
              </a:rPr>
              <a:t> No big bang. Designer-first. Always an escape hatch. </a:t>
            </a:r>
            <a:pPr algn="ctr" indent="0" marL="0">
              <a:buNone/>
            </a:pPr>
            <a:r>
              <a:rPr lang="en-US" sz="2394" b="1" i="1" dirty="0">
                <a:solidFill>
                  <a:srgbClr val="22D3EE"/>
                </a:solidFill>
                <a:latin typeface="Century Gothic" pitchFamily="34" charset="0"/>
                <a:ea typeface="Century Gothic" pitchFamily="34" charset="-122"/>
                <a:cs typeface="Century Gothic" pitchFamily="34" charset="-120"/>
              </a:rPr>
              <a:t>”</a:t>
            </a:r>
            <a:pPr algn="ctr" indent="0" marL="0">
              <a:buNone/>
            </a:pPr>
            <a:endParaRPr lang="en-US" sz="2394" dirty="0"/>
          </a:p>
          <a:p>
            <a:pPr algn="ctr" indent="0" marL="0">
              <a:buNone/>
            </a:pPr>
            <a:r>
              <a:rPr lang="en-US" sz="2394" b="1" i="1" dirty="0">
                <a:solidFill>
                  <a:srgbClr val="F1F5F9"/>
                </a:solidFill>
                <a:latin typeface="Century Gothic" pitchFamily="34" charset="0"/>
                <a:ea typeface="Century Gothic" pitchFamily="34" charset="-122"/>
                <a:cs typeface="Century Gothic" pitchFamily="34" charset="-120"/>
              </a:rPr>
              <a:t>        </a:t>
            </a:r>
            <a:endParaRPr lang="en-US" sz="2394" dirty="0"/>
          </a:p>
        </p:txBody>
      </p:sp>
      <p:sp>
        <p:nvSpPr>
          <p:cNvPr id="6" name="Shape 4"/>
          <p:cNvSpPr/>
          <p:nvPr/>
        </p:nvSpPr>
        <p:spPr>
          <a:xfrm>
            <a:off x="405384" y="1244600"/>
            <a:ext cx="2723674" cy="5029200"/>
          </a:xfrm>
          <a:prstGeom prst="roundRect">
            <a:avLst>
              <a:gd name="adj" fmla="val 509"/>
            </a:avLst>
          </a:prstGeom>
          <a:solidFill>
            <a:srgbClr val="1E293B"/>
          </a:solidFill>
          <a:ln w="25337">
            <a:solidFill>
              <a:srgbClr val="22D3EE"/>
            </a:solidFill>
            <a:prstDash val="solid"/>
          </a:ln>
        </p:spPr>
      </p:sp>
      <p:pic>
        <p:nvPicPr>
          <p:cNvPr id="7" name="Image 0" descr="preencoded.png">    </p:cNvPr>
          <p:cNvPicPr>
            <a:picLocks noChangeAspect="1"/>
          </p:cNvPicPr>
          <p:nvPr/>
        </p:nvPicPr>
        <p:blipFill>
          <a:blip r:embed="rId1"/>
          <a:srcRect l="0" r="0" t="0" b="0"/>
          <a:stretch/>
        </p:blipFill>
        <p:spPr>
          <a:xfrm>
            <a:off x="1615202" y="3060700"/>
            <a:ext cx="304038" cy="304800"/>
          </a:xfrm>
          <a:prstGeom prst="rect">
            <a:avLst/>
          </a:prstGeom>
        </p:spPr>
      </p:pic>
      <p:sp>
        <p:nvSpPr>
          <p:cNvPr id="8" name="Text 5"/>
          <p:cNvSpPr txBox="1"/>
          <p:nvPr/>
        </p:nvSpPr>
        <p:spPr>
          <a:xfrm>
            <a:off x="962787" y="3467100"/>
            <a:ext cx="1608868"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Designer First</a:t>
            </a:r>
            <a:endParaRPr lang="en-US" sz="1795" dirty="0"/>
          </a:p>
        </p:txBody>
      </p:sp>
      <p:sp>
        <p:nvSpPr>
          <p:cNvPr id="9" name="Text 6"/>
          <p:cNvSpPr txBox="1"/>
          <p:nvPr/>
        </p:nvSpPr>
        <p:spPr>
          <a:xfrm>
            <a:off x="557403" y="3797300"/>
            <a:ext cx="2419636"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Every decision prioritises designer workflow continuity</a:t>
            </a:r>
            <a:endParaRPr lang="en-US" sz="1496" dirty="0"/>
          </a:p>
        </p:txBody>
      </p:sp>
      <p:sp>
        <p:nvSpPr>
          <p:cNvPr id="10" name="Shape 7"/>
          <p:cNvSpPr/>
          <p:nvPr/>
        </p:nvSpPr>
        <p:spPr>
          <a:xfrm>
            <a:off x="3281077" y="1244600"/>
            <a:ext cx="2723674" cy="5029200"/>
          </a:xfrm>
          <a:prstGeom prst="roundRect">
            <a:avLst>
              <a:gd name="adj" fmla="val 509"/>
            </a:avLst>
          </a:prstGeom>
          <a:solidFill>
            <a:srgbClr val="1E293B"/>
          </a:solidFill>
          <a:ln w="25337">
            <a:solidFill>
              <a:srgbClr val="22D3EE"/>
            </a:solidFill>
            <a:prstDash val="solid"/>
          </a:ln>
        </p:spPr>
      </p:sp>
      <p:pic>
        <p:nvPicPr>
          <p:cNvPr id="11" name="Image 1" descr="preencoded.png">    </p:cNvPr>
          <p:cNvPicPr>
            <a:picLocks noChangeAspect="1"/>
          </p:cNvPicPr>
          <p:nvPr/>
        </p:nvPicPr>
        <p:blipFill>
          <a:blip r:embed="rId2"/>
          <a:srcRect l="0" r="0" t="0" b="0"/>
          <a:stretch/>
        </p:blipFill>
        <p:spPr>
          <a:xfrm>
            <a:off x="4490895" y="3175000"/>
            <a:ext cx="304038" cy="304800"/>
          </a:xfrm>
          <a:prstGeom prst="rect">
            <a:avLst/>
          </a:prstGeom>
        </p:spPr>
      </p:pic>
      <p:sp>
        <p:nvSpPr>
          <p:cNvPr id="12" name="Text 8"/>
          <p:cNvSpPr txBox="1"/>
          <p:nvPr/>
        </p:nvSpPr>
        <p:spPr>
          <a:xfrm>
            <a:off x="3629454" y="3581400"/>
            <a:ext cx="2026920"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Phased Approach</a:t>
            </a:r>
            <a:endParaRPr lang="en-US" sz="1795" dirty="0"/>
          </a:p>
        </p:txBody>
      </p:sp>
      <p:sp>
        <p:nvSpPr>
          <p:cNvPr id="13" name="Text 9"/>
          <p:cNvSpPr txBox="1"/>
          <p:nvPr/>
        </p:nvSpPr>
        <p:spPr>
          <a:xfrm>
            <a:off x="3433096" y="3911600"/>
            <a:ext cx="2419636" cy="4572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18-month roadmap — no single disruptive cutover</a:t>
            </a:r>
            <a:endParaRPr lang="en-US" sz="1496" dirty="0"/>
          </a:p>
        </p:txBody>
      </p:sp>
      <p:sp>
        <p:nvSpPr>
          <p:cNvPr id="14" name="Shape 10"/>
          <p:cNvSpPr/>
          <p:nvPr/>
        </p:nvSpPr>
        <p:spPr>
          <a:xfrm>
            <a:off x="6156770" y="1244600"/>
            <a:ext cx="2723674" cy="5029200"/>
          </a:xfrm>
          <a:prstGeom prst="roundRect">
            <a:avLst>
              <a:gd name="adj" fmla="val 509"/>
            </a:avLst>
          </a:prstGeom>
          <a:solidFill>
            <a:srgbClr val="1E293B"/>
          </a:solidFill>
          <a:ln w="25337">
            <a:solidFill>
              <a:srgbClr val="22D3EE"/>
            </a:solidFill>
            <a:prstDash val="solid"/>
          </a:ln>
        </p:spPr>
      </p:sp>
      <p:pic>
        <p:nvPicPr>
          <p:cNvPr id="15" name="Image 2" descr="preencoded.png">    </p:cNvPr>
          <p:cNvPicPr>
            <a:picLocks noChangeAspect="1"/>
          </p:cNvPicPr>
          <p:nvPr/>
        </p:nvPicPr>
        <p:blipFill>
          <a:blip r:embed="rId3"/>
          <a:srcRect l="0" r="0" t="0" b="0"/>
          <a:stretch/>
        </p:blipFill>
        <p:spPr>
          <a:xfrm>
            <a:off x="7366587" y="3060700"/>
            <a:ext cx="304038" cy="304800"/>
          </a:xfrm>
          <a:prstGeom prst="rect">
            <a:avLst/>
          </a:prstGeom>
        </p:spPr>
      </p:pic>
      <p:sp>
        <p:nvSpPr>
          <p:cNvPr id="16" name="Text 11"/>
          <p:cNvSpPr txBox="1"/>
          <p:nvPr/>
        </p:nvSpPr>
        <p:spPr>
          <a:xfrm>
            <a:off x="6600158" y="3467100"/>
            <a:ext cx="1836896"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Always Rollback</a:t>
            </a:r>
            <a:endParaRPr lang="en-US" sz="1795" dirty="0"/>
          </a:p>
        </p:txBody>
      </p:sp>
      <p:sp>
        <p:nvSpPr>
          <p:cNvPr id="17" name="Text 12"/>
          <p:cNvSpPr txBox="1"/>
          <p:nvPr/>
        </p:nvSpPr>
        <p:spPr>
          <a:xfrm>
            <a:off x="6308789" y="3797300"/>
            <a:ext cx="2419636"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Every phase has an instant rollback mechanism</a:t>
            </a:r>
            <a:endParaRPr lang="en-US" sz="1496" dirty="0"/>
          </a:p>
        </p:txBody>
      </p:sp>
      <p:sp>
        <p:nvSpPr>
          <p:cNvPr id="18" name="Shape 13"/>
          <p:cNvSpPr/>
          <p:nvPr/>
        </p:nvSpPr>
        <p:spPr>
          <a:xfrm>
            <a:off x="9032462" y="1244600"/>
            <a:ext cx="2723674" cy="5029200"/>
          </a:xfrm>
          <a:prstGeom prst="roundRect">
            <a:avLst>
              <a:gd name="adj" fmla="val 509"/>
            </a:avLst>
          </a:prstGeom>
          <a:solidFill>
            <a:srgbClr val="1E293B"/>
          </a:solidFill>
          <a:ln w="25337">
            <a:solidFill>
              <a:srgbClr val="22D3EE"/>
            </a:solidFill>
            <a:prstDash val="solid"/>
          </a:ln>
        </p:spPr>
      </p:sp>
      <p:pic>
        <p:nvPicPr>
          <p:cNvPr id="19" name="Image 3" descr="preencoded.png">    </p:cNvPr>
          <p:cNvPicPr>
            <a:picLocks noChangeAspect="1"/>
          </p:cNvPicPr>
          <p:nvPr/>
        </p:nvPicPr>
        <p:blipFill>
          <a:blip r:embed="rId4"/>
          <a:srcRect l="0" r="0" t="0" b="0"/>
          <a:stretch/>
        </p:blipFill>
        <p:spPr>
          <a:xfrm>
            <a:off x="10242280" y="3060700"/>
            <a:ext cx="304038" cy="304800"/>
          </a:xfrm>
          <a:prstGeom prst="rect">
            <a:avLst/>
          </a:prstGeom>
        </p:spPr>
      </p:pic>
      <p:sp>
        <p:nvSpPr>
          <p:cNvPr id="20" name="Text 14"/>
          <p:cNvSpPr txBox="1"/>
          <p:nvPr/>
        </p:nvSpPr>
        <p:spPr>
          <a:xfrm>
            <a:off x="9501188" y="3467100"/>
            <a:ext cx="1786223"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Zero Disruption</a:t>
            </a:r>
            <a:endParaRPr lang="en-US" sz="1795" dirty="0"/>
          </a:p>
        </p:txBody>
      </p:sp>
      <p:sp>
        <p:nvSpPr>
          <p:cNvPr id="21" name="Text 15"/>
          <p:cNvSpPr txBox="1"/>
          <p:nvPr/>
        </p:nvSpPr>
        <p:spPr>
          <a:xfrm>
            <a:off x="9184481" y="3797300"/>
            <a:ext cx="2419636"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Blackout periods respected during product launches</a:t>
            </a:r>
            <a:endParaRPr lang="en-US" sz="1496" dirty="0"/>
          </a:p>
        </p:txBody>
      </p:sp>
      <p:sp>
        <p:nvSpPr>
          <p:cNvPr id="22" name="Text 16"/>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23" name="Text 17"/>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912906" cy="279400"/>
          </a:xfrm>
          <a:prstGeom prst="roundRect">
            <a:avLst>
              <a:gd name="adj" fmla="val 10835762"/>
            </a:avLst>
          </a:prstGeom>
          <a:solidFill>
            <a:srgbClr val="22D3EE"/>
          </a:solidFill>
          <a:ln/>
        </p:spPr>
      </p:sp>
      <p:sp>
        <p:nvSpPr>
          <p:cNvPr id="3" name="Text 1"/>
          <p:cNvSpPr txBox="1"/>
          <p:nvPr/>
        </p:nvSpPr>
        <p:spPr>
          <a:xfrm>
            <a:off x="532067" y="279400"/>
            <a:ext cx="1659541"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Roadmap</a:t>
            </a:r>
            <a:endParaRPr lang="en-US" sz="1496" dirty="0"/>
          </a:p>
        </p:txBody>
      </p:sp>
      <p:sp>
        <p:nvSpPr>
          <p:cNvPr id="4" name="Text 2"/>
          <p:cNvSpPr txBox="1"/>
          <p:nvPr/>
        </p:nvSpPr>
        <p:spPr>
          <a:xfrm>
            <a:off x="2419636" y="203200"/>
            <a:ext cx="5719715"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18-Month Migration Roadmap</a:t>
            </a:r>
            <a:endParaRPr lang="en-US" sz="2993" dirty="0"/>
          </a:p>
        </p:txBody>
      </p:sp>
      <p:sp>
        <p:nvSpPr>
          <p:cNvPr id="5" name="Text 3"/>
          <p:cNvSpPr txBox="1"/>
          <p:nvPr/>
        </p:nvSpPr>
        <p:spPr>
          <a:xfrm>
            <a:off x="1165479" y="685800"/>
            <a:ext cx="588282"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a:t>
            </a:r>
            <a:endParaRPr lang="en-US" sz="1496" dirty="0"/>
          </a:p>
        </p:txBody>
      </p:sp>
      <p:sp>
        <p:nvSpPr>
          <p:cNvPr id="6" name="Text 4"/>
          <p:cNvSpPr txBox="1"/>
          <p:nvPr/>
        </p:nvSpPr>
        <p:spPr>
          <a:xfrm>
            <a:off x="1753761"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2</a:t>
            </a:r>
            <a:endParaRPr lang="en-US" sz="1496" dirty="0"/>
          </a:p>
        </p:txBody>
      </p:sp>
      <p:sp>
        <p:nvSpPr>
          <p:cNvPr id="7" name="Text 5"/>
          <p:cNvSpPr txBox="1"/>
          <p:nvPr/>
        </p:nvSpPr>
        <p:spPr>
          <a:xfrm>
            <a:off x="2342142" y="685800"/>
            <a:ext cx="588282"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3</a:t>
            </a:r>
            <a:endParaRPr lang="en-US" sz="1496" dirty="0"/>
          </a:p>
        </p:txBody>
      </p:sp>
      <p:sp>
        <p:nvSpPr>
          <p:cNvPr id="8" name="Text 6"/>
          <p:cNvSpPr txBox="1"/>
          <p:nvPr/>
        </p:nvSpPr>
        <p:spPr>
          <a:xfrm>
            <a:off x="2930424"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4</a:t>
            </a:r>
            <a:endParaRPr lang="en-US" sz="1496" dirty="0"/>
          </a:p>
        </p:txBody>
      </p:sp>
      <p:sp>
        <p:nvSpPr>
          <p:cNvPr id="9" name="Text 7"/>
          <p:cNvSpPr txBox="1"/>
          <p:nvPr/>
        </p:nvSpPr>
        <p:spPr>
          <a:xfrm>
            <a:off x="3518804"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5</a:t>
            </a:r>
            <a:endParaRPr lang="en-US" sz="1496" dirty="0"/>
          </a:p>
        </p:txBody>
      </p:sp>
      <p:sp>
        <p:nvSpPr>
          <p:cNvPr id="10" name="Text 8"/>
          <p:cNvSpPr txBox="1"/>
          <p:nvPr/>
        </p:nvSpPr>
        <p:spPr>
          <a:xfrm>
            <a:off x="4107185"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6</a:t>
            </a:r>
            <a:endParaRPr lang="en-US" sz="1496" dirty="0"/>
          </a:p>
        </p:txBody>
      </p:sp>
      <p:sp>
        <p:nvSpPr>
          <p:cNvPr id="11" name="Text 9"/>
          <p:cNvSpPr txBox="1"/>
          <p:nvPr/>
        </p:nvSpPr>
        <p:spPr>
          <a:xfrm>
            <a:off x="4695566"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7</a:t>
            </a:r>
            <a:endParaRPr lang="en-US" sz="1496" dirty="0"/>
          </a:p>
        </p:txBody>
      </p:sp>
      <p:sp>
        <p:nvSpPr>
          <p:cNvPr id="12" name="Text 10"/>
          <p:cNvSpPr txBox="1"/>
          <p:nvPr/>
        </p:nvSpPr>
        <p:spPr>
          <a:xfrm>
            <a:off x="5283947"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8</a:t>
            </a:r>
            <a:endParaRPr lang="en-US" sz="1496" dirty="0"/>
          </a:p>
        </p:txBody>
      </p:sp>
      <p:sp>
        <p:nvSpPr>
          <p:cNvPr id="13" name="Text 11"/>
          <p:cNvSpPr txBox="1"/>
          <p:nvPr/>
        </p:nvSpPr>
        <p:spPr>
          <a:xfrm>
            <a:off x="5872328"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9</a:t>
            </a:r>
            <a:endParaRPr lang="en-US" sz="1496" dirty="0"/>
          </a:p>
        </p:txBody>
      </p:sp>
      <p:sp>
        <p:nvSpPr>
          <p:cNvPr id="14" name="Text 12"/>
          <p:cNvSpPr txBox="1"/>
          <p:nvPr/>
        </p:nvSpPr>
        <p:spPr>
          <a:xfrm>
            <a:off x="6460709"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10</a:t>
            </a:r>
            <a:endParaRPr lang="en-US" sz="1496" dirty="0"/>
          </a:p>
        </p:txBody>
      </p:sp>
      <p:sp>
        <p:nvSpPr>
          <p:cNvPr id="15" name="Text 13"/>
          <p:cNvSpPr txBox="1"/>
          <p:nvPr/>
        </p:nvSpPr>
        <p:spPr>
          <a:xfrm>
            <a:off x="7049089"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11</a:t>
            </a:r>
            <a:endParaRPr lang="en-US" sz="1496" dirty="0"/>
          </a:p>
        </p:txBody>
      </p:sp>
      <p:sp>
        <p:nvSpPr>
          <p:cNvPr id="16" name="Text 14"/>
          <p:cNvSpPr txBox="1"/>
          <p:nvPr/>
        </p:nvSpPr>
        <p:spPr>
          <a:xfrm>
            <a:off x="7637470"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12</a:t>
            </a:r>
            <a:endParaRPr lang="en-US" sz="1496" dirty="0"/>
          </a:p>
        </p:txBody>
      </p:sp>
      <p:sp>
        <p:nvSpPr>
          <p:cNvPr id="17" name="Text 15"/>
          <p:cNvSpPr txBox="1"/>
          <p:nvPr/>
        </p:nvSpPr>
        <p:spPr>
          <a:xfrm>
            <a:off x="8225851"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13</a:t>
            </a:r>
            <a:endParaRPr lang="en-US" sz="1496" dirty="0"/>
          </a:p>
        </p:txBody>
      </p:sp>
      <p:sp>
        <p:nvSpPr>
          <p:cNvPr id="18" name="Text 16"/>
          <p:cNvSpPr txBox="1"/>
          <p:nvPr/>
        </p:nvSpPr>
        <p:spPr>
          <a:xfrm>
            <a:off x="8814232"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14</a:t>
            </a:r>
            <a:endParaRPr lang="en-US" sz="1496" dirty="0"/>
          </a:p>
        </p:txBody>
      </p:sp>
      <p:sp>
        <p:nvSpPr>
          <p:cNvPr id="19" name="Text 17"/>
          <p:cNvSpPr txBox="1"/>
          <p:nvPr/>
        </p:nvSpPr>
        <p:spPr>
          <a:xfrm>
            <a:off x="9402613"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15</a:t>
            </a:r>
            <a:endParaRPr lang="en-US" sz="1496" dirty="0"/>
          </a:p>
        </p:txBody>
      </p:sp>
      <p:sp>
        <p:nvSpPr>
          <p:cNvPr id="20" name="Text 18"/>
          <p:cNvSpPr txBox="1"/>
          <p:nvPr/>
        </p:nvSpPr>
        <p:spPr>
          <a:xfrm>
            <a:off x="9990994"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16</a:t>
            </a:r>
            <a:endParaRPr lang="en-US" sz="1496" dirty="0"/>
          </a:p>
        </p:txBody>
      </p:sp>
      <p:sp>
        <p:nvSpPr>
          <p:cNvPr id="21" name="Text 19"/>
          <p:cNvSpPr txBox="1"/>
          <p:nvPr/>
        </p:nvSpPr>
        <p:spPr>
          <a:xfrm>
            <a:off x="10579374"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17</a:t>
            </a:r>
            <a:endParaRPr lang="en-US" sz="1496" dirty="0"/>
          </a:p>
        </p:txBody>
      </p:sp>
      <p:sp>
        <p:nvSpPr>
          <p:cNvPr id="22" name="Text 20"/>
          <p:cNvSpPr txBox="1"/>
          <p:nvPr/>
        </p:nvSpPr>
        <p:spPr>
          <a:xfrm>
            <a:off x="11167755" y="685800"/>
            <a:ext cx="588381" cy="228600"/>
          </a:xfrm>
          <a:prstGeom prst="rect">
            <a:avLst/>
          </a:prstGeom>
          <a:noFill/>
          <a:ln/>
        </p:spPr>
        <p:txBody>
          <a:bodyPr wrap="square" lIns="0" tIns="0" rIns="0" bIns="0" rtlCol="0" anchor="ctr"/>
          <a:lstStyle/>
          <a:p>
            <a:pPr algn="ctr" indent="0" marL="0">
              <a:buNone/>
            </a:pPr>
            <a:r>
              <a:rPr lang="en-US" sz="1496" dirty="0">
                <a:solidFill>
                  <a:srgbClr val="64748B"/>
                </a:solidFill>
                <a:latin typeface="Century Gothic" pitchFamily="34" charset="0"/>
                <a:ea typeface="Century Gothic" pitchFamily="34" charset="-122"/>
                <a:cs typeface="Century Gothic" pitchFamily="34" charset="-120"/>
              </a:rPr>
              <a:t>18</a:t>
            </a:r>
            <a:endParaRPr lang="en-US" sz="1496" dirty="0"/>
          </a:p>
        </p:txBody>
      </p:sp>
      <p:sp>
        <p:nvSpPr>
          <p:cNvPr id="23" name="Text 21"/>
          <p:cNvSpPr txBox="1"/>
          <p:nvPr/>
        </p:nvSpPr>
        <p:spPr>
          <a:xfrm>
            <a:off x="405384" y="1066800"/>
            <a:ext cx="760095"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P0</a:t>
            </a:r>
            <a:endParaRPr lang="en-US" sz="1496" dirty="0"/>
          </a:p>
        </p:txBody>
      </p:sp>
      <p:sp>
        <p:nvSpPr>
          <p:cNvPr id="24" name="Shape 22"/>
          <p:cNvSpPr/>
          <p:nvPr/>
        </p:nvSpPr>
        <p:spPr>
          <a:xfrm>
            <a:off x="1165479" y="1016000"/>
            <a:ext cx="1175475" cy="330200"/>
          </a:xfrm>
          <a:prstGeom prst="roundRect">
            <a:avLst>
              <a:gd name="adj" fmla="val 11938"/>
            </a:avLst>
          </a:prstGeom>
          <a:solidFill>
            <a:srgbClr val="6366F1"/>
          </a:solidFill>
          <a:ln/>
        </p:spPr>
      </p:sp>
      <p:sp>
        <p:nvSpPr>
          <p:cNvPr id="25" name="Text 23"/>
          <p:cNvSpPr txBox="1"/>
          <p:nvPr/>
        </p:nvSpPr>
        <p:spPr>
          <a:xfrm>
            <a:off x="1216152" y="1066800"/>
            <a:ext cx="110213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Foundation</a:t>
            </a:r>
            <a:endParaRPr lang="en-US" sz="1496" dirty="0"/>
          </a:p>
        </p:txBody>
      </p:sp>
      <p:sp>
        <p:nvSpPr>
          <p:cNvPr id="26" name="Text 24"/>
          <p:cNvSpPr txBox="1"/>
          <p:nvPr/>
        </p:nvSpPr>
        <p:spPr>
          <a:xfrm>
            <a:off x="405384" y="1473200"/>
            <a:ext cx="760095"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P1</a:t>
            </a:r>
            <a:endParaRPr lang="en-US" sz="1496" dirty="0"/>
          </a:p>
        </p:txBody>
      </p:sp>
      <p:sp>
        <p:nvSpPr>
          <p:cNvPr id="27" name="Shape 25"/>
          <p:cNvSpPr/>
          <p:nvPr/>
        </p:nvSpPr>
        <p:spPr>
          <a:xfrm>
            <a:off x="2340954" y="1422400"/>
            <a:ext cx="1175475" cy="330200"/>
          </a:xfrm>
          <a:prstGeom prst="roundRect">
            <a:avLst>
              <a:gd name="adj" fmla="val 11938"/>
            </a:avLst>
          </a:prstGeom>
          <a:solidFill>
            <a:srgbClr val="22D3EE"/>
          </a:solidFill>
          <a:ln/>
        </p:spPr>
      </p:sp>
      <p:sp>
        <p:nvSpPr>
          <p:cNvPr id="28" name="Text 26"/>
          <p:cNvSpPr txBox="1"/>
          <p:nvPr/>
        </p:nvSpPr>
        <p:spPr>
          <a:xfrm>
            <a:off x="2391627" y="1473200"/>
            <a:ext cx="988124"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Quick Win</a:t>
            </a:r>
            <a:endParaRPr lang="en-US" sz="1496" dirty="0"/>
          </a:p>
        </p:txBody>
      </p:sp>
      <p:sp>
        <p:nvSpPr>
          <p:cNvPr id="29" name="Text 27"/>
          <p:cNvSpPr txBox="1"/>
          <p:nvPr/>
        </p:nvSpPr>
        <p:spPr>
          <a:xfrm>
            <a:off x="405384" y="1879600"/>
            <a:ext cx="760095"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P2</a:t>
            </a:r>
            <a:endParaRPr lang="en-US" sz="1496" dirty="0"/>
          </a:p>
        </p:txBody>
      </p:sp>
      <p:sp>
        <p:nvSpPr>
          <p:cNvPr id="30" name="Shape 28"/>
          <p:cNvSpPr/>
          <p:nvPr/>
        </p:nvSpPr>
        <p:spPr>
          <a:xfrm>
            <a:off x="3516528" y="1828800"/>
            <a:ext cx="1175475" cy="330200"/>
          </a:xfrm>
          <a:prstGeom prst="roundRect">
            <a:avLst>
              <a:gd name="adj" fmla="val 11938"/>
            </a:avLst>
          </a:prstGeom>
          <a:solidFill>
            <a:srgbClr val="34D399"/>
          </a:solidFill>
          <a:ln/>
        </p:spPr>
      </p:sp>
      <p:sp>
        <p:nvSpPr>
          <p:cNvPr id="31" name="Text 29"/>
          <p:cNvSpPr txBox="1"/>
          <p:nvPr/>
        </p:nvSpPr>
        <p:spPr>
          <a:xfrm>
            <a:off x="3567201" y="1879600"/>
            <a:ext cx="867775"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Low-Risk</a:t>
            </a:r>
            <a:endParaRPr lang="en-US" sz="1496" dirty="0"/>
          </a:p>
        </p:txBody>
      </p:sp>
      <p:sp>
        <p:nvSpPr>
          <p:cNvPr id="32" name="Text 30"/>
          <p:cNvSpPr txBox="1"/>
          <p:nvPr/>
        </p:nvSpPr>
        <p:spPr>
          <a:xfrm>
            <a:off x="405384" y="2286000"/>
            <a:ext cx="760095"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P3</a:t>
            </a:r>
            <a:endParaRPr lang="en-US" sz="1496" dirty="0"/>
          </a:p>
        </p:txBody>
      </p:sp>
      <p:sp>
        <p:nvSpPr>
          <p:cNvPr id="33" name="Shape 31"/>
          <p:cNvSpPr/>
          <p:nvPr/>
        </p:nvSpPr>
        <p:spPr>
          <a:xfrm>
            <a:off x="4692102" y="2235200"/>
            <a:ext cx="2351049" cy="330200"/>
          </a:xfrm>
          <a:prstGeom prst="roundRect">
            <a:avLst>
              <a:gd name="adj" fmla="val 5969"/>
            </a:avLst>
          </a:prstGeom>
          <a:solidFill>
            <a:srgbClr val="FBBF24"/>
          </a:solidFill>
          <a:ln/>
        </p:spPr>
      </p:sp>
      <p:sp>
        <p:nvSpPr>
          <p:cNvPr id="34" name="Text 32"/>
          <p:cNvSpPr txBox="1"/>
          <p:nvPr/>
        </p:nvSpPr>
        <p:spPr>
          <a:xfrm>
            <a:off x="4742775" y="2286000"/>
            <a:ext cx="1830562"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Critical Legacy Tool</a:t>
            </a:r>
            <a:endParaRPr lang="en-US" sz="1496" dirty="0"/>
          </a:p>
        </p:txBody>
      </p:sp>
      <p:sp>
        <p:nvSpPr>
          <p:cNvPr id="35" name="Text 33"/>
          <p:cNvSpPr txBox="1"/>
          <p:nvPr/>
        </p:nvSpPr>
        <p:spPr>
          <a:xfrm>
            <a:off x="405384" y="2692400"/>
            <a:ext cx="760095" cy="228600"/>
          </a:xfrm>
          <a:prstGeom prst="rect">
            <a:avLst/>
          </a:prstGeom>
          <a:noFill/>
          <a:ln/>
        </p:spPr>
        <p:txBody>
          <a:bodyPr wrap="square" lIns="0" tIns="0" rIns="0" bIns="0" rtlCol="0" anchor="ctr"/>
          <a:lstStyle/>
          <a:p>
            <a:pPr algn="l" indent="0" marL="0">
              <a:buNone/>
            </a:pPr>
            <a:r>
              <a:rPr lang="en-US" sz="1496" b="1" dirty="0">
                <a:solidFill>
                  <a:srgbClr val="F472B6"/>
                </a:solidFill>
                <a:latin typeface="Century Gothic" pitchFamily="34" charset="0"/>
                <a:ea typeface="Century Gothic" pitchFamily="34" charset="-122"/>
                <a:cs typeface="Century Gothic" pitchFamily="34" charset="-120"/>
              </a:rPr>
              <a:t>P4</a:t>
            </a:r>
            <a:endParaRPr lang="en-US" sz="1496" dirty="0"/>
          </a:p>
        </p:txBody>
      </p:sp>
      <p:sp>
        <p:nvSpPr>
          <p:cNvPr id="36" name="Shape 34"/>
          <p:cNvSpPr/>
          <p:nvPr/>
        </p:nvSpPr>
        <p:spPr>
          <a:xfrm>
            <a:off x="7043250" y="2641600"/>
            <a:ext cx="3526623" cy="330200"/>
          </a:xfrm>
          <a:prstGeom prst="roundRect">
            <a:avLst>
              <a:gd name="adj" fmla="val 3979"/>
            </a:avLst>
          </a:prstGeom>
          <a:solidFill>
            <a:srgbClr val="F472B6"/>
          </a:solidFill>
          <a:ln/>
        </p:spPr>
      </p:sp>
      <p:sp>
        <p:nvSpPr>
          <p:cNvPr id="37" name="Text 35"/>
          <p:cNvSpPr txBox="1"/>
          <p:nvPr/>
        </p:nvSpPr>
        <p:spPr>
          <a:xfrm>
            <a:off x="7093923" y="2692400"/>
            <a:ext cx="1773555"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Desktop Migration</a:t>
            </a:r>
            <a:endParaRPr lang="en-US" sz="1496" dirty="0"/>
          </a:p>
        </p:txBody>
      </p:sp>
      <p:sp>
        <p:nvSpPr>
          <p:cNvPr id="38" name="Text 36"/>
          <p:cNvSpPr txBox="1"/>
          <p:nvPr/>
        </p:nvSpPr>
        <p:spPr>
          <a:xfrm>
            <a:off x="405384" y="3098800"/>
            <a:ext cx="760095" cy="228600"/>
          </a:xfrm>
          <a:prstGeom prst="rect">
            <a:avLst/>
          </a:prstGeom>
          <a:noFill/>
          <a:ln/>
        </p:spPr>
        <p:txBody>
          <a:bodyPr wrap="square" lIns="0" tIns="0" rIns="0" bIns="0" rtlCol="0" anchor="ctr"/>
          <a:lstStyle/>
          <a:p>
            <a:pPr algn="l" indent="0" marL="0">
              <a:buNone/>
            </a:pPr>
            <a:r>
              <a:rPr lang="en-US" sz="1496" b="1" dirty="0">
                <a:solidFill>
                  <a:srgbClr val="A78BFA"/>
                </a:solidFill>
                <a:latin typeface="Century Gothic" pitchFamily="34" charset="0"/>
                <a:ea typeface="Century Gothic" pitchFamily="34" charset="-122"/>
                <a:cs typeface="Century Gothic" pitchFamily="34" charset="-120"/>
              </a:rPr>
              <a:t>P5</a:t>
            </a:r>
            <a:endParaRPr lang="en-US" sz="1496" dirty="0"/>
          </a:p>
        </p:txBody>
      </p:sp>
      <p:sp>
        <p:nvSpPr>
          <p:cNvPr id="39" name="Shape 37"/>
          <p:cNvSpPr/>
          <p:nvPr/>
        </p:nvSpPr>
        <p:spPr>
          <a:xfrm>
            <a:off x="7636283" y="3048000"/>
            <a:ext cx="4109165" cy="330200"/>
          </a:xfrm>
          <a:prstGeom prst="roundRect">
            <a:avLst>
              <a:gd name="adj" fmla="val 3415"/>
            </a:avLst>
          </a:prstGeom>
          <a:solidFill>
            <a:srgbClr val="A78BFA"/>
          </a:solidFill>
          <a:ln/>
        </p:spPr>
      </p:sp>
      <p:sp>
        <p:nvSpPr>
          <p:cNvPr id="40" name="Text 38"/>
          <p:cNvSpPr txBox="1"/>
          <p:nvPr/>
        </p:nvSpPr>
        <p:spPr>
          <a:xfrm>
            <a:off x="7686956" y="3098800"/>
            <a:ext cx="1304830"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AI Integration</a:t>
            </a:r>
            <a:endParaRPr lang="en-US" sz="1496" dirty="0"/>
          </a:p>
        </p:txBody>
      </p:sp>
      <p:sp>
        <p:nvSpPr>
          <p:cNvPr id="41" name="Shape 39"/>
          <p:cNvSpPr/>
          <p:nvPr/>
        </p:nvSpPr>
        <p:spPr>
          <a:xfrm>
            <a:off x="405384" y="3530600"/>
            <a:ext cx="1828385" cy="2794000"/>
          </a:xfrm>
          <a:prstGeom prst="roundRect">
            <a:avLst>
              <a:gd name="adj" fmla="val 909"/>
            </a:avLst>
          </a:prstGeom>
          <a:solidFill>
            <a:srgbClr val="1E293B"/>
          </a:solidFill>
          <a:ln w="12700">
            <a:solidFill>
              <a:srgbClr val="E5E7EB"/>
            </a:solidFill>
            <a:prstDash val="solid"/>
          </a:ln>
        </p:spPr>
      </p:sp>
      <p:sp>
        <p:nvSpPr>
          <p:cNvPr id="42" name="Text 40"/>
          <p:cNvSpPr txBox="1"/>
          <p:nvPr/>
        </p:nvSpPr>
        <p:spPr>
          <a:xfrm>
            <a:off x="506730" y="3606800"/>
            <a:ext cx="1651029" cy="2286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Phase 0</a:t>
            </a:r>
            <a:endParaRPr lang="en-US" sz="1496" dirty="0"/>
          </a:p>
        </p:txBody>
      </p:sp>
      <p:sp>
        <p:nvSpPr>
          <p:cNvPr id="43" name="Text 41"/>
          <p:cNvSpPr txBox="1"/>
          <p:nvPr/>
        </p:nvSpPr>
        <p:spPr>
          <a:xfrm>
            <a:off x="506730" y="3835400"/>
            <a:ext cx="165102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Foundation</a:t>
            </a:r>
            <a:endParaRPr lang="en-US" sz="1496" dirty="0"/>
          </a:p>
        </p:txBody>
      </p:sp>
      <p:sp>
        <p:nvSpPr>
          <p:cNvPr id="44" name="Text 42"/>
          <p:cNvSpPr txBox="1"/>
          <p:nvPr/>
        </p:nvSpPr>
        <p:spPr>
          <a:xfrm>
            <a:off x="506730" y="4064000"/>
            <a:ext cx="165102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1–2</a:t>
            </a:r>
            <a:endParaRPr lang="en-US" sz="1496" dirty="0"/>
          </a:p>
        </p:txBody>
      </p:sp>
      <p:sp>
        <p:nvSpPr>
          <p:cNvPr id="45" name="Shape 43"/>
          <p:cNvSpPr/>
          <p:nvPr/>
        </p:nvSpPr>
        <p:spPr>
          <a:xfrm>
            <a:off x="2309778" y="3530600"/>
            <a:ext cx="1828484" cy="2794000"/>
          </a:xfrm>
          <a:prstGeom prst="roundRect">
            <a:avLst>
              <a:gd name="adj" fmla="val 909"/>
            </a:avLst>
          </a:prstGeom>
          <a:solidFill>
            <a:srgbClr val="1E293B"/>
          </a:solidFill>
          <a:ln w="12700">
            <a:solidFill>
              <a:srgbClr val="E5E7EB"/>
            </a:solidFill>
            <a:prstDash val="solid"/>
          </a:ln>
        </p:spPr>
      </p:sp>
      <p:sp>
        <p:nvSpPr>
          <p:cNvPr id="46" name="Text 44"/>
          <p:cNvSpPr txBox="1"/>
          <p:nvPr/>
        </p:nvSpPr>
        <p:spPr>
          <a:xfrm>
            <a:off x="2411124" y="3606800"/>
            <a:ext cx="165112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Phase 1</a:t>
            </a:r>
            <a:endParaRPr lang="en-US" sz="1496" dirty="0"/>
          </a:p>
        </p:txBody>
      </p:sp>
      <p:sp>
        <p:nvSpPr>
          <p:cNvPr id="47" name="Text 45"/>
          <p:cNvSpPr txBox="1"/>
          <p:nvPr/>
        </p:nvSpPr>
        <p:spPr>
          <a:xfrm>
            <a:off x="2411124" y="3835400"/>
            <a:ext cx="165112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Quick Win</a:t>
            </a:r>
            <a:endParaRPr lang="en-US" sz="1496" dirty="0"/>
          </a:p>
        </p:txBody>
      </p:sp>
      <p:sp>
        <p:nvSpPr>
          <p:cNvPr id="48" name="Text 46"/>
          <p:cNvSpPr txBox="1"/>
          <p:nvPr/>
        </p:nvSpPr>
        <p:spPr>
          <a:xfrm>
            <a:off x="2411124" y="4064000"/>
            <a:ext cx="16511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3–4</a:t>
            </a:r>
            <a:endParaRPr lang="en-US" sz="1496" dirty="0"/>
          </a:p>
        </p:txBody>
      </p:sp>
      <p:sp>
        <p:nvSpPr>
          <p:cNvPr id="49" name="Shape 47"/>
          <p:cNvSpPr/>
          <p:nvPr/>
        </p:nvSpPr>
        <p:spPr>
          <a:xfrm>
            <a:off x="4214272" y="3530600"/>
            <a:ext cx="1828385" cy="2794000"/>
          </a:xfrm>
          <a:prstGeom prst="roundRect">
            <a:avLst>
              <a:gd name="adj" fmla="val 909"/>
            </a:avLst>
          </a:prstGeom>
          <a:solidFill>
            <a:srgbClr val="1E293B"/>
          </a:solidFill>
          <a:ln w="12700">
            <a:solidFill>
              <a:srgbClr val="E5E7EB"/>
            </a:solidFill>
            <a:prstDash val="solid"/>
          </a:ln>
        </p:spPr>
      </p:sp>
      <p:sp>
        <p:nvSpPr>
          <p:cNvPr id="50" name="Text 48"/>
          <p:cNvSpPr txBox="1"/>
          <p:nvPr/>
        </p:nvSpPr>
        <p:spPr>
          <a:xfrm>
            <a:off x="4315618" y="3606800"/>
            <a:ext cx="1651029"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Phase 2</a:t>
            </a:r>
            <a:endParaRPr lang="en-US" sz="1496" dirty="0"/>
          </a:p>
        </p:txBody>
      </p:sp>
      <p:sp>
        <p:nvSpPr>
          <p:cNvPr id="51" name="Text 49"/>
          <p:cNvSpPr txBox="1"/>
          <p:nvPr/>
        </p:nvSpPr>
        <p:spPr>
          <a:xfrm>
            <a:off x="4315618" y="3835400"/>
            <a:ext cx="165102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Low-Risk</a:t>
            </a:r>
            <a:endParaRPr lang="en-US" sz="1496" dirty="0"/>
          </a:p>
        </p:txBody>
      </p:sp>
      <p:sp>
        <p:nvSpPr>
          <p:cNvPr id="52" name="Text 50"/>
          <p:cNvSpPr txBox="1"/>
          <p:nvPr/>
        </p:nvSpPr>
        <p:spPr>
          <a:xfrm>
            <a:off x="4315618" y="4064000"/>
            <a:ext cx="165102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5–6</a:t>
            </a:r>
            <a:endParaRPr lang="en-US" sz="1496" dirty="0"/>
          </a:p>
        </p:txBody>
      </p:sp>
      <p:sp>
        <p:nvSpPr>
          <p:cNvPr id="53" name="Shape 51"/>
          <p:cNvSpPr/>
          <p:nvPr/>
        </p:nvSpPr>
        <p:spPr>
          <a:xfrm>
            <a:off x="6118666" y="3530600"/>
            <a:ext cx="1828484" cy="2794000"/>
          </a:xfrm>
          <a:prstGeom prst="roundRect">
            <a:avLst>
              <a:gd name="adj" fmla="val 909"/>
            </a:avLst>
          </a:prstGeom>
          <a:solidFill>
            <a:srgbClr val="1E293B"/>
          </a:solidFill>
          <a:ln w="12700">
            <a:solidFill>
              <a:srgbClr val="E5E7EB"/>
            </a:solidFill>
            <a:prstDash val="solid"/>
          </a:ln>
        </p:spPr>
      </p:sp>
      <p:sp>
        <p:nvSpPr>
          <p:cNvPr id="54" name="Text 52"/>
          <p:cNvSpPr txBox="1"/>
          <p:nvPr/>
        </p:nvSpPr>
        <p:spPr>
          <a:xfrm>
            <a:off x="6220012" y="3606800"/>
            <a:ext cx="1651128"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Phase 3</a:t>
            </a:r>
            <a:endParaRPr lang="en-US" sz="1496" dirty="0"/>
          </a:p>
        </p:txBody>
      </p:sp>
      <p:sp>
        <p:nvSpPr>
          <p:cNvPr id="55" name="Text 53"/>
          <p:cNvSpPr txBox="1"/>
          <p:nvPr/>
        </p:nvSpPr>
        <p:spPr>
          <a:xfrm>
            <a:off x="6220012" y="3835400"/>
            <a:ext cx="165112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Legacy Tool</a:t>
            </a:r>
            <a:endParaRPr lang="en-US" sz="1496" dirty="0"/>
          </a:p>
        </p:txBody>
      </p:sp>
      <p:sp>
        <p:nvSpPr>
          <p:cNvPr id="56" name="Text 54"/>
          <p:cNvSpPr txBox="1"/>
          <p:nvPr/>
        </p:nvSpPr>
        <p:spPr>
          <a:xfrm>
            <a:off x="6220012" y="4064000"/>
            <a:ext cx="16511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7–10</a:t>
            </a:r>
            <a:endParaRPr lang="en-US" sz="1496" dirty="0"/>
          </a:p>
        </p:txBody>
      </p:sp>
      <p:sp>
        <p:nvSpPr>
          <p:cNvPr id="57" name="Shape 55"/>
          <p:cNvSpPr/>
          <p:nvPr/>
        </p:nvSpPr>
        <p:spPr>
          <a:xfrm>
            <a:off x="8023159" y="3530600"/>
            <a:ext cx="1828484" cy="2794000"/>
          </a:xfrm>
          <a:prstGeom prst="roundRect">
            <a:avLst>
              <a:gd name="adj" fmla="val 909"/>
            </a:avLst>
          </a:prstGeom>
          <a:solidFill>
            <a:srgbClr val="1E293B"/>
          </a:solidFill>
          <a:ln w="12700">
            <a:solidFill>
              <a:srgbClr val="E5E7EB"/>
            </a:solidFill>
            <a:prstDash val="solid"/>
          </a:ln>
        </p:spPr>
      </p:sp>
      <p:sp>
        <p:nvSpPr>
          <p:cNvPr id="58" name="Text 56"/>
          <p:cNvSpPr txBox="1"/>
          <p:nvPr/>
        </p:nvSpPr>
        <p:spPr>
          <a:xfrm>
            <a:off x="8124505" y="3606800"/>
            <a:ext cx="1651128" cy="228600"/>
          </a:xfrm>
          <a:prstGeom prst="rect">
            <a:avLst/>
          </a:prstGeom>
          <a:noFill/>
          <a:ln/>
        </p:spPr>
        <p:txBody>
          <a:bodyPr wrap="square" lIns="0" tIns="0" rIns="0" bIns="0" rtlCol="0" anchor="ctr"/>
          <a:lstStyle/>
          <a:p>
            <a:pPr algn="l" indent="0" marL="0">
              <a:buNone/>
            </a:pPr>
            <a:r>
              <a:rPr lang="en-US" sz="1496" b="1" dirty="0">
                <a:solidFill>
                  <a:srgbClr val="F472B6"/>
                </a:solidFill>
                <a:latin typeface="Century Gothic" pitchFamily="34" charset="0"/>
                <a:ea typeface="Century Gothic" pitchFamily="34" charset="-122"/>
                <a:cs typeface="Century Gothic" pitchFamily="34" charset="-120"/>
              </a:rPr>
              <a:t>Phase 4</a:t>
            </a:r>
            <a:endParaRPr lang="en-US" sz="1496" dirty="0"/>
          </a:p>
        </p:txBody>
      </p:sp>
      <p:sp>
        <p:nvSpPr>
          <p:cNvPr id="59" name="Text 57"/>
          <p:cNvSpPr txBox="1"/>
          <p:nvPr/>
        </p:nvSpPr>
        <p:spPr>
          <a:xfrm>
            <a:off x="8124505" y="3835400"/>
            <a:ext cx="165112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Desktop</a:t>
            </a:r>
            <a:endParaRPr lang="en-US" sz="1496" dirty="0"/>
          </a:p>
        </p:txBody>
      </p:sp>
      <p:sp>
        <p:nvSpPr>
          <p:cNvPr id="60" name="Text 58"/>
          <p:cNvSpPr txBox="1"/>
          <p:nvPr/>
        </p:nvSpPr>
        <p:spPr>
          <a:xfrm>
            <a:off x="8124505" y="4064000"/>
            <a:ext cx="16511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11–16</a:t>
            </a:r>
            <a:endParaRPr lang="en-US" sz="1496" dirty="0"/>
          </a:p>
        </p:txBody>
      </p:sp>
      <p:sp>
        <p:nvSpPr>
          <p:cNvPr id="61" name="Shape 59"/>
          <p:cNvSpPr/>
          <p:nvPr/>
        </p:nvSpPr>
        <p:spPr>
          <a:xfrm>
            <a:off x="9927652" y="3530600"/>
            <a:ext cx="1828484" cy="2794000"/>
          </a:xfrm>
          <a:prstGeom prst="roundRect">
            <a:avLst>
              <a:gd name="adj" fmla="val 909"/>
            </a:avLst>
          </a:prstGeom>
          <a:solidFill>
            <a:srgbClr val="1E293B"/>
          </a:solidFill>
          <a:ln w="12700">
            <a:solidFill>
              <a:srgbClr val="E5E7EB"/>
            </a:solidFill>
            <a:prstDash val="solid"/>
          </a:ln>
        </p:spPr>
      </p:sp>
      <p:sp>
        <p:nvSpPr>
          <p:cNvPr id="62" name="Text 60"/>
          <p:cNvSpPr txBox="1"/>
          <p:nvPr/>
        </p:nvSpPr>
        <p:spPr>
          <a:xfrm>
            <a:off x="10028998" y="3606800"/>
            <a:ext cx="1651128" cy="228600"/>
          </a:xfrm>
          <a:prstGeom prst="rect">
            <a:avLst/>
          </a:prstGeom>
          <a:noFill/>
          <a:ln/>
        </p:spPr>
        <p:txBody>
          <a:bodyPr wrap="square" lIns="0" tIns="0" rIns="0" bIns="0" rtlCol="0" anchor="ctr"/>
          <a:lstStyle/>
          <a:p>
            <a:pPr algn="l" indent="0" marL="0">
              <a:buNone/>
            </a:pPr>
            <a:r>
              <a:rPr lang="en-US" sz="1496" b="1" dirty="0">
                <a:solidFill>
                  <a:srgbClr val="A78BFA"/>
                </a:solidFill>
                <a:latin typeface="Century Gothic" pitchFamily="34" charset="0"/>
                <a:ea typeface="Century Gothic" pitchFamily="34" charset="-122"/>
                <a:cs typeface="Century Gothic" pitchFamily="34" charset="-120"/>
              </a:rPr>
              <a:t>Phase 5</a:t>
            </a:r>
            <a:endParaRPr lang="en-US" sz="1496" dirty="0"/>
          </a:p>
        </p:txBody>
      </p:sp>
      <p:sp>
        <p:nvSpPr>
          <p:cNvPr id="63" name="Text 61"/>
          <p:cNvSpPr txBox="1"/>
          <p:nvPr/>
        </p:nvSpPr>
        <p:spPr>
          <a:xfrm>
            <a:off x="10028998" y="3835400"/>
            <a:ext cx="1651128"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AI</a:t>
            </a:r>
            <a:endParaRPr lang="en-US" sz="1496" dirty="0"/>
          </a:p>
        </p:txBody>
      </p:sp>
      <p:sp>
        <p:nvSpPr>
          <p:cNvPr id="64" name="Text 62"/>
          <p:cNvSpPr txBox="1"/>
          <p:nvPr/>
        </p:nvSpPr>
        <p:spPr>
          <a:xfrm>
            <a:off x="10028998" y="4064000"/>
            <a:ext cx="1651128"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Months 12–18</a:t>
            </a:r>
            <a:endParaRPr lang="en-US" sz="1496" dirty="0"/>
          </a:p>
        </p:txBody>
      </p:sp>
      <p:sp>
        <p:nvSpPr>
          <p:cNvPr id="65" name="Text 63"/>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66" name="Text 64"/>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28266" cy="279400"/>
          </a:xfrm>
          <a:prstGeom prst="roundRect">
            <a:avLst>
              <a:gd name="adj" fmla="val 9739286"/>
            </a:avLst>
          </a:prstGeom>
          <a:solidFill>
            <a:srgbClr val="22D3EE"/>
          </a:solidFill>
          <a:ln/>
        </p:spPr>
      </p:sp>
      <p:sp>
        <p:nvSpPr>
          <p:cNvPr id="3" name="Text 1"/>
          <p:cNvSpPr txBox="1"/>
          <p:nvPr/>
        </p:nvSpPr>
        <p:spPr>
          <a:xfrm>
            <a:off x="532067" y="279400"/>
            <a:ext cx="1874901"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Phases 0 &amp; 1</a:t>
            </a:r>
            <a:endParaRPr lang="en-US" sz="1496" dirty="0"/>
          </a:p>
        </p:txBody>
      </p:sp>
      <p:sp>
        <p:nvSpPr>
          <p:cNvPr id="4" name="Text 2"/>
          <p:cNvSpPr txBox="1"/>
          <p:nvPr/>
        </p:nvSpPr>
        <p:spPr>
          <a:xfrm>
            <a:off x="2634996" y="203200"/>
            <a:ext cx="7005542"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Build Trust Before You Build Systems</a:t>
            </a:r>
            <a:endParaRPr lang="en-US" sz="2993" dirty="0"/>
          </a:p>
        </p:txBody>
      </p:sp>
      <p:sp>
        <p:nvSpPr>
          <p:cNvPr id="5" name="Shape 3"/>
          <p:cNvSpPr/>
          <p:nvPr/>
        </p:nvSpPr>
        <p:spPr>
          <a:xfrm>
            <a:off x="405384" y="685800"/>
            <a:ext cx="5574030" cy="5638800"/>
          </a:xfrm>
          <a:prstGeom prst="roundRect">
            <a:avLst>
              <a:gd name="adj" fmla="val 222"/>
            </a:avLst>
          </a:prstGeom>
          <a:solidFill>
            <a:srgbClr val="1E293B"/>
          </a:solidFill>
          <a:ln w="25337">
            <a:solidFill>
              <a:srgbClr val="6366F1"/>
            </a:solidFill>
            <a:prstDash val="solid"/>
          </a:ln>
        </p:spPr>
      </p:sp>
      <p:sp>
        <p:nvSpPr>
          <p:cNvPr id="6" name="Shape 4"/>
          <p:cNvSpPr/>
          <p:nvPr/>
        </p:nvSpPr>
        <p:spPr>
          <a:xfrm>
            <a:off x="608076" y="914400"/>
            <a:ext cx="969121" cy="279400"/>
          </a:xfrm>
          <a:prstGeom prst="roundRect">
            <a:avLst>
              <a:gd name="adj" fmla="val 21388235"/>
            </a:avLst>
          </a:prstGeom>
          <a:solidFill>
            <a:srgbClr val="6366F1"/>
          </a:solidFill>
          <a:ln/>
        </p:spPr>
      </p:sp>
      <p:sp>
        <p:nvSpPr>
          <p:cNvPr id="7" name="Text 5"/>
          <p:cNvSpPr txBox="1"/>
          <p:nvPr/>
        </p:nvSpPr>
        <p:spPr>
          <a:xfrm>
            <a:off x="709422" y="939800"/>
            <a:ext cx="766429"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Phase 0</a:t>
            </a:r>
            <a:endParaRPr lang="en-US" sz="1496" dirty="0"/>
          </a:p>
        </p:txBody>
      </p:sp>
      <p:sp>
        <p:nvSpPr>
          <p:cNvPr id="8" name="Text 6"/>
          <p:cNvSpPr txBox="1"/>
          <p:nvPr/>
        </p:nvSpPr>
        <p:spPr>
          <a:xfrm>
            <a:off x="1653207" y="927100"/>
            <a:ext cx="1330166"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Foundation</a:t>
            </a:r>
            <a:endParaRPr lang="en-US" sz="1795" dirty="0"/>
          </a:p>
        </p:txBody>
      </p:sp>
      <p:pic>
        <p:nvPicPr>
          <p:cNvPr id="9" name="Image 0" descr="preencoded.png">    </p:cNvPr>
          <p:cNvPicPr>
            <a:picLocks noChangeAspect="1"/>
          </p:cNvPicPr>
          <p:nvPr/>
        </p:nvPicPr>
        <p:blipFill>
          <a:blip r:embed="rId1"/>
          <a:srcRect l="0" r="0" t="0" b="0"/>
          <a:stretch/>
        </p:blipFill>
        <p:spPr>
          <a:xfrm>
            <a:off x="608076" y="1295400"/>
            <a:ext cx="126683" cy="127000"/>
          </a:xfrm>
          <a:prstGeom prst="rect">
            <a:avLst/>
          </a:prstGeom>
        </p:spPr>
      </p:pic>
      <p:sp>
        <p:nvSpPr>
          <p:cNvPr id="10" name="Text 7"/>
          <p:cNvSpPr txBox="1"/>
          <p:nvPr/>
        </p:nvSpPr>
        <p:spPr>
          <a:xfrm>
            <a:off x="785432" y="1244600"/>
            <a:ext cx="1051465"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1–2</a:t>
            </a:r>
            <a:endParaRPr lang="en-US" sz="1496" dirty="0"/>
          </a:p>
        </p:txBody>
      </p:sp>
      <p:sp>
        <p:nvSpPr>
          <p:cNvPr id="11" name="Text 8"/>
          <p:cNvSpPr txBox="1"/>
          <p:nvPr/>
        </p:nvSpPr>
        <p:spPr>
          <a:xfrm>
            <a:off x="608076" y="1574800"/>
            <a:ext cx="5168646" cy="228600"/>
          </a:xfrm>
          <a:prstGeom prst="rect">
            <a:avLst/>
          </a:prstGeom>
          <a:noFill/>
          <a:ln/>
        </p:spPr>
        <p:txBody>
          <a:bodyPr wrap="square" lIns="0" tIns="0" rIns="0" bIns="0" rtlCol="0" anchor="ctr"/>
          <a:lstStyle/>
          <a:p>
            <a:pPr algn="l" indent="0" marL="0">
              <a:buNone/>
            </a:pPr>
            <a:r>
              <a:rPr lang="en-US" sz="1496" b="1" i="1" dirty="0">
                <a:solidFill>
                  <a:srgbClr val="F1F5F9"/>
                </a:solidFill>
                <a:latin typeface="Century Gothic" pitchFamily="34" charset="0"/>
                <a:ea typeface="Century Gothic" pitchFamily="34" charset="-122"/>
                <a:cs typeface="Century Gothic" pitchFamily="34" charset="-120"/>
              </a:rPr>
              <a:t>Zero disruption. Build infrastructure and relationships.</a:t>
            </a:r>
            <a:endParaRPr lang="en-US" sz="1496" dirty="0"/>
          </a:p>
        </p:txBody>
      </p:sp>
      <p:pic>
        <p:nvPicPr>
          <p:cNvPr id="12" name="Image 1" descr="preencoded.png">    </p:cNvPr>
          <p:cNvPicPr>
            <a:picLocks noChangeAspect="1"/>
          </p:cNvPicPr>
          <p:nvPr/>
        </p:nvPicPr>
        <p:blipFill>
          <a:blip r:embed="rId2"/>
          <a:srcRect l="0" r="0" t="0" b="0"/>
          <a:stretch/>
        </p:blipFill>
        <p:spPr>
          <a:xfrm>
            <a:off x="608076" y="1943100"/>
            <a:ext cx="152019" cy="152400"/>
          </a:xfrm>
          <a:prstGeom prst="rect">
            <a:avLst/>
          </a:prstGeom>
        </p:spPr>
      </p:pic>
      <p:sp>
        <p:nvSpPr>
          <p:cNvPr id="13" name="Text 9"/>
          <p:cNvSpPr txBox="1"/>
          <p:nvPr/>
        </p:nvSpPr>
        <p:spPr>
          <a:xfrm>
            <a:off x="836105" y="1905000"/>
            <a:ext cx="319239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Establish designer advisory board</a:t>
            </a:r>
            <a:endParaRPr lang="en-US" sz="1496" dirty="0"/>
          </a:p>
        </p:txBody>
      </p:sp>
      <p:pic>
        <p:nvPicPr>
          <p:cNvPr id="14" name="Image 2" descr="preencoded.png">    </p:cNvPr>
          <p:cNvPicPr>
            <a:picLocks noChangeAspect="1"/>
          </p:cNvPicPr>
          <p:nvPr/>
        </p:nvPicPr>
        <p:blipFill>
          <a:blip r:embed="rId3"/>
          <a:srcRect l="0" r="0" t="0" b="0"/>
          <a:stretch/>
        </p:blipFill>
        <p:spPr>
          <a:xfrm>
            <a:off x="608076" y="2247900"/>
            <a:ext cx="152019" cy="152400"/>
          </a:xfrm>
          <a:prstGeom prst="rect">
            <a:avLst/>
          </a:prstGeom>
        </p:spPr>
      </p:pic>
      <p:sp>
        <p:nvSpPr>
          <p:cNvPr id="15" name="Text 10"/>
          <p:cNvSpPr txBox="1"/>
          <p:nvPr/>
        </p:nvSpPr>
        <p:spPr>
          <a:xfrm>
            <a:off x="836105" y="2209800"/>
            <a:ext cx="2463975"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Set up AWS infrastructure</a:t>
            </a:r>
            <a:endParaRPr lang="en-US" sz="1496" dirty="0"/>
          </a:p>
        </p:txBody>
      </p:sp>
      <p:pic>
        <p:nvPicPr>
          <p:cNvPr id="16" name="Image 3" descr="preencoded.png">    </p:cNvPr>
          <p:cNvPicPr>
            <a:picLocks noChangeAspect="1"/>
          </p:cNvPicPr>
          <p:nvPr/>
        </p:nvPicPr>
        <p:blipFill>
          <a:blip r:embed="rId4"/>
          <a:srcRect l="0" r="0" t="0" b="0"/>
          <a:stretch/>
        </p:blipFill>
        <p:spPr>
          <a:xfrm>
            <a:off x="608076" y="2552700"/>
            <a:ext cx="152019" cy="152400"/>
          </a:xfrm>
          <a:prstGeom prst="rect">
            <a:avLst/>
          </a:prstGeom>
        </p:spPr>
      </p:pic>
      <p:sp>
        <p:nvSpPr>
          <p:cNvPr id="17" name="Text 11"/>
          <p:cNvSpPr txBox="1"/>
          <p:nvPr/>
        </p:nvSpPr>
        <p:spPr>
          <a:xfrm>
            <a:off x="836105" y="2514600"/>
            <a:ext cx="253365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Create shared service layer</a:t>
            </a:r>
            <a:endParaRPr lang="en-US" sz="1496" dirty="0"/>
          </a:p>
        </p:txBody>
      </p:sp>
      <p:pic>
        <p:nvPicPr>
          <p:cNvPr id="18" name="Image 4" descr="preencoded.png">    </p:cNvPr>
          <p:cNvPicPr>
            <a:picLocks noChangeAspect="1"/>
          </p:cNvPicPr>
          <p:nvPr/>
        </p:nvPicPr>
        <p:blipFill>
          <a:blip r:embed="rId5"/>
          <a:srcRect l="0" r="0" t="0" b="0"/>
          <a:stretch/>
        </p:blipFill>
        <p:spPr>
          <a:xfrm>
            <a:off x="608076" y="2857500"/>
            <a:ext cx="152019" cy="152400"/>
          </a:xfrm>
          <a:prstGeom prst="rect">
            <a:avLst/>
          </a:prstGeom>
        </p:spPr>
      </p:pic>
      <p:sp>
        <p:nvSpPr>
          <p:cNvPr id="19" name="Text 12"/>
          <p:cNvSpPr txBox="1"/>
          <p:nvPr/>
        </p:nvSpPr>
        <p:spPr>
          <a:xfrm>
            <a:off x="836105" y="2819400"/>
            <a:ext cx="27173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Build trust with design team</a:t>
            </a:r>
            <a:endParaRPr lang="en-US" sz="1496" dirty="0"/>
          </a:p>
        </p:txBody>
      </p:sp>
      <p:sp>
        <p:nvSpPr>
          <p:cNvPr id="20" name="Shape 13"/>
          <p:cNvSpPr/>
          <p:nvPr/>
        </p:nvSpPr>
        <p:spPr>
          <a:xfrm>
            <a:off x="608076" y="5740400"/>
            <a:ext cx="5168646" cy="381000"/>
          </a:xfrm>
          <a:prstGeom prst="roundRect">
            <a:avLst>
              <a:gd name="adj" fmla="val 2353"/>
            </a:avLst>
          </a:prstGeom>
          <a:solidFill>
            <a:srgbClr val="6366F1">
              <a:alpha val="15000"/>
            </a:srgbClr>
          </a:solidFill>
          <a:ln/>
        </p:spPr>
      </p:sp>
      <p:sp>
        <p:nvSpPr>
          <p:cNvPr id="21" name="Text 14"/>
          <p:cNvSpPr txBox="1"/>
          <p:nvPr/>
        </p:nvSpPr>
        <p:spPr>
          <a:xfrm>
            <a:off x="684086" y="5816600"/>
            <a:ext cx="5016627"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Platform ready. Designers informed, not surprised.</a:t>
            </a:r>
            <a:endParaRPr lang="en-US" sz="1496" dirty="0"/>
          </a:p>
        </p:txBody>
      </p:sp>
      <p:sp>
        <p:nvSpPr>
          <p:cNvPr id="22" name="Shape 15"/>
          <p:cNvSpPr/>
          <p:nvPr/>
        </p:nvSpPr>
        <p:spPr>
          <a:xfrm>
            <a:off x="6182106" y="685800"/>
            <a:ext cx="5574030" cy="5638800"/>
          </a:xfrm>
          <a:prstGeom prst="roundRect">
            <a:avLst>
              <a:gd name="adj" fmla="val 222"/>
            </a:avLst>
          </a:prstGeom>
          <a:solidFill>
            <a:srgbClr val="1E293B"/>
          </a:solidFill>
          <a:ln w="25337">
            <a:solidFill>
              <a:srgbClr val="22D3EE"/>
            </a:solidFill>
            <a:prstDash val="solid"/>
          </a:ln>
        </p:spPr>
      </p:sp>
      <p:sp>
        <p:nvSpPr>
          <p:cNvPr id="23" name="Shape 16"/>
          <p:cNvSpPr/>
          <p:nvPr/>
        </p:nvSpPr>
        <p:spPr>
          <a:xfrm>
            <a:off x="6384798" y="914400"/>
            <a:ext cx="912114" cy="279400"/>
          </a:xfrm>
          <a:prstGeom prst="roundRect">
            <a:avLst>
              <a:gd name="adj" fmla="val 22725000"/>
            </a:avLst>
          </a:prstGeom>
          <a:solidFill>
            <a:srgbClr val="22D3EE"/>
          </a:solidFill>
          <a:ln/>
        </p:spPr>
      </p:sp>
      <p:sp>
        <p:nvSpPr>
          <p:cNvPr id="24" name="Text 17"/>
          <p:cNvSpPr txBox="1"/>
          <p:nvPr/>
        </p:nvSpPr>
        <p:spPr>
          <a:xfrm>
            <a:off x="6486144" y="939800"/>
            <a:ext cx="709422"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Phase 1</a:t>
            </a:r>
            <a:endParaRPr lang="en-US" sz="1496" dirty="0"/>
          </a:p>
        </p:txBody>
      </p:sp>
      <p:sp>
        <p:nvSpPr>
          <p:cNvPr id="25" name="Text 18"/>
          <p:cNvSpPr txBox="1"/>
          <p:nvPr/>
        </p:nvSpPr>
        <p:spPr>
          <a:xfrm>
            <a:off x="7372921" y="927100"/>
            <a:ext cx="1190816"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Quick Win</a:t>
            </a:r>
            <a:endParaRPr lang="en-US" sz="1795" dirty="0"/>
          </a:p>
        </p:txBody>
      </p:sp>
      <p:pic>
        <p:nvPicPr>
          <p:cNvPr id="26" name="Image 5" descr="preencoded.png">    </p:cNvPr>
          <p:cNvPicPr>
            <a:picLocks noChangeAspect="1"/>
          </p:cNvPicPr>
          <p:nvPr/>
        </p:nvPicPr>
        <p:blipFill>
          <a:blip r:embed="rId6"/>
          <a:srcRect l="0" r="0" t="0" b="0"/>
          <a:stretch/>
        </p:blipFill>
        <p:spPr>
          <a:xfrm>
            <a:off x="6384798" y="1295400"/>
            <a:ext cx="126683" cy="127000"/>
          </a:xfrm>
          <a:prstGeom prst="rect">
            <a:avLst/>
          </a:prstGeom>
        </p:spPr>
      </p:pic>
      <p:sp>
        <p:nvSpPr>
          <p:cNvPr id="27" name="Text 19"/>
          <p:cNvSpPr txBox="1"/>
          <p:nvPr/>
        </p:nvSpPr>
        <p:spPr>
          <a:xfrm>
            <a:off x="6562154" y="1244600"/>
            <a:ext cx="1108472"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3–4</a:t>
            </a:r>
            <a:endParaRPr lang="en-US" sz="1496" dirty="0"/>
          </a:p>
        </p:txBody>
      </p:sp>
      <p:sp>
        <p:nvSpPr>
          <p:cNvPr id="28" name="Text 20"/>
          <p:cNvSpPr txBox="1"/>
          <p:nvPr/>
        </p:nvSpPr>
        <p:spPr>
          <a:xfrm>
            <a:off x="6384798" y="1574800"/>
            <a:ext cx="5168646" cy="228600"/>
          </a:xfrm>
          <a:prstGeom prst="rect">
            <a:avLst/>
          </a:prstGeom>
          <a:noFill/>
          <a:ln/>
        </p:spPr>
        <p:txBody>
          <a:bodyPr wrap="square" lIns="0" tIns="0" rIns="0" bIns="0" rtlCol="0" anchor="ctr"/>
          <a:lstStyle/>
          <a:p>
            <a:pPr algn="l" indent="0" marL="0">
              <a:buNone/>
            </a:pPr>
            <a:r>
              <a:rPr lang="en-US" sz="1496" b="1" i="1" dirty="0">
                <a:solidFill>
                  <a:srgbClr val="F1F5F9"/>
                </a:solidFill>
                <a:latin typeface="Century Gothic" pitchFamily="34" charset="0"/>
                <a:ea typeface="Century Gothic" pitchFamily="34" charset="-122"/>
                <a:cs typeface="Century Gothic" pitchFamily="34" charset="-120"/>
              </a:rPr>
              <a:t>Launch the Preview Service. Prove platform value.</a:t>
            </a:r>
            <a:endParaRPr lang="en-US" sz="1496" dirty="0"/>
          </a:p>
        </p:txBody>
      </p:sp>
      <p:pic>
        <p:nvPicPr>
          <p:cNvPr id="29" name="Image 6" descr="preencoded.png">    </p:cNvPr>
          <p:cNvPicPr>
            <a:picLocks noChangeAspect="1"/>
          </p:cNvPicPr>
          <p:nvPr/>
        </p:nvPicPr>
        <p:blipFill>
          <a:blip r:embed="rId7"/>
          <a:srcRect l="0" r="0" t="0" b="0"/>
          <a:stretch/>
        </p:blipFill>
        <p:spPr>
          <a:xfrm>
            <a:off x="6384798" y="1943100"/>
            <a:ext cx="152019" cy="152400"/>
          </a:xfrm>
          <a:prstGeom prst="rect">
            <a:avLst/>
          </a:prstGeom>
        </p:spPr>
      </p:pic>
      <p:sp>
        <p:nvSpPr>
          <p:cNvPr id="30" name="Text 21"/>
          <p:cNvSpPr txBox="1"/>
          <p:nvPr/>
        </p:nvSpPr>
        <p:spPr>
          <a:xfrm>
            <a:off x="6612827" y="1905000"/>
            <a:ext cx="421219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Launch Preview Service as first platform tool</a:t>
            </a:r>
            <a:endParaRPr lang="en-US" sz="1496" dirty="0"/>
          </a:p>
        </p:txBody>
      </p:sp>
      <p:pic>
        <p:nvPicPr>
          <p:cNvPr id="31" name="Image 7" descr="preencoded.png">    </p:cNvPr>
          <p:cNvPicPr>
            <a:picLocks noChangeAspect="1"/>
          </p:cNvPicPr>
          <p:nvPr/>
        </p:nvPicPr>
        <p:blipFill>
          <a:blip r:embed="rId8"/>
          <a:srcRect l="0" r="0" t="0" b="0"/>
          <a:stretch/>
        </p:blipFill>
        <p:spPr>
          <a:xfrm>
            <a:off x="6384798" y="2247900"/>
            <a:ext cx="152019" cy="152400"/>
          </a:xfrm>
          <a:prstGeom prst="rect">
            <a:avLst/>
          </a:prstGeom>
        </p:spPr>
      </p:pic>
      <p:sp>
        <p:nvSpPr>
          <p:cNvPr id="32" name="Text 22"/>
          <p:cNvSpPr txBox="1"/>
          <p:nvPr/>
        </p:nvSpPr>
        <p:spPr>
          <a:xfrm>
            <a:off x="6612827" y="2209800"/>
            <a:ext cx="298337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Designers see immediate value</a:t>
            </a:r>
            <a:endParaRPr lang="en-US" sz="1496" dirty="0"/>
          </a:p>
        </p:txBody>
      </p:sp>
      <p:pic>
        <p:nvPicPr>
          <p:cNvPr id="33" name="Image 8" descr="preencoded.png">    </p:cNvPr>
          <p:cNvPicPr>
            <a:picLocks noChangeAspect="1"/>
          </p:cNvPicPr>
          <p:nvPr/>
        </p:nvPicPr>
        <p:blipFill>
          <a:blip r:embed="rId9"/>
          <a:srcRect l="0" r="0" t="0" b="0"/>
          <a:stretch/>
        </p:blipFill>
        <p:spPr>
          <a:xfrm>
            <a:off x="6384798" y="2552700"/>
            <a:ext cx="152019" cy="152400"/>
          </a:xfrm>
          <a:prstGeom prst="rect">
            <a:avLst/>
          </a:prstGeom>
        </p:spPr>
      </p:pic>
      <p:sp>
        <p:nvSpPr>
          <p:cNvPr id="34" name="Text 23"/>
          <p:cNvSpPr txBox="1"/>
          <p:nvPr/>
        </p:nvSpPr>
        <p:spPr>
          <a:xfrm>
            <a:off x="6612827" y="2514600"/>
            <a:ext cx="316706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Demonstrate ROI to stakeholders</a:t>
            </a:r>
            <a:endParaRPr lang="en-US" sz="1496" dirty="0"/>
          </a:p>
        </p:txBody>
      </p:sp>
      <p:pic>
        <p:nvPicPr>
          <p:cNvPr id="35" name="Image 9" descr="preencoded.png">    </p:cNvPr>
          <p:cNvPicPr>
            <a:picLocks noChangeAspect="1"/>
          </p:cNvPicPr>
          <p:nvPr/>
        </p:nvPicPr>
        <p:blipFill>
          <a:blip r:embed="rId10"/>
          <a:srcRect l="0" r="0" t="0" b="0"/>
          <a:stretch/>
        </p:blipFill>
        <p:spPr>
          <a:xfrm>
            <a:off x="6384798" y="2857500"/>
            <a:ext cx="152019" cy="152400"/>
          </a:xfrm>
          <a:prstGeom prst="rect">
            <a:avLst/>
          </a:prstGeom>
        </p:spPr>
      </p:pic>
      <p:sp>
        <p:nvSpPr>
          <p:cNvPr id="36" name="Text 24"/>
          <p:cNvSpPr txBox="1"/>
          <p:nvPr/>
        </p:nvSpPr>
        <p:spPr>
          <a:xfrm>
            <a:off x="6612827" y="2819400"/>
            <a:ext cx="3794141"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Build confidence in migration approach</a:t>
            </a:r>
            <a:endParaRPr lang="en-US" sz="1496" dirty="0"/>
          </a:p>
        </p:txBody>
      </p:sp>
      <p:sp>
        <p:nvSpPr>
          <p:cNvPr id="37" name="Shape 25"/>
          <p:cNvSpPr/>
          <p:nvPr/>
        </p:nvSpPr>
        <p:spPr>
          <a:xfrm>
            <a:off x="6384798" y="5740400"/>
            <a:ext cx="5168646" cy="381000"/>
          </a:xfrm>
          <a:prstGeom prst="roundRect">
            <a:avLst>
              <a:gd name="adj" fmla="val 2353"/>
            </a:avLst>
          </a:prstGeom>
          <a:solidFill>
            <a:srgbClr val="22D3EE">
              <a:alpha val="15000"/>
            </a:srgbClr>
          </a:solidFill>
          <a:ln/>
        </p:spPr>
      </p:sp>
      <p:sp>
        <p:nvSpPr>
          <p:cNvPr id="38" name="Text 26"/>
          <p:cNvSpPr txBox="1"/>
          <p:nvPr/>
        </p:nvSpPr>
        <p:spPr>
          <a:xfrm>
            <a:off x="6460808" y="5816600"/>
            <a:ext cx="5016627"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First platform tool live. Credibility established.</a:t>
            </a:r>
            <a:endParaRPr lang="en-US" sz="1496" dirty="0"/>
          </a:p>
        </p:txBody>
      </p:sp>
      <p:sp>
        <p:nvSpPr>
          <p:cNvPr id="39" name="Text 27"/>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40" name="Text 28"/>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147268" cy="279400"/>
          </a:xfrm>
          <a:prstGeom prst="roundRect">
            <a:avLst>
              <a:gd name="adj" fmla="val 9653097"/>
            </a:avLst>
          </a:prstGeom>
          <a:solidFill>
            <a:srgbClr val="22D3EE"/>
          </a:solidFill>
          <a:ln/>
        </p:spPr>
      </p:sp>
      <p:sp>
        <p:nvSpPr>
          <p:cNvPr id="3" name="Text 1"/>
          <p:cNvSpPr txBox="1"/>
          <p:nvPr/>
        </p:nvSpPr>
        <p:spPr>
          <a:xfrm>
            <a:off x="532067" y="279400"/>
            <a:ext cx="1893903"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Phases 2 &amp; 3</a:t>
            </a:r>
            <a:endParaRPr lang="en-US" sz="1496" dirty="0"/>
          </a:p>
        </p:txBody>
      </p:sp>
      <p:sp>
        <p:nvSpPr>
          <p:cNvPr id="4" name="Text 2"/>
          <p:cNvSpPr txBox="1"/>
          <p:nvPr/>
        </p:nvSpPr>
        <p:spPr>
          <a:xfrm>
            <a:off x="2653998" y="203200"/>
            <a:ext cx="4047506"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Consolidation Begins</a:t>
            </a:r>
            <a:endParaRPr lang="en-US" sz="2993" dirty="0"/>
          </a:p>
        </p:txBody>
      </p:sp>
      <p:sp>
        <p:nvSpPr>
          <p:cNvPr id="5" name="Shape 3"/>
          <p:cNvSpPr/>
          <p:nvPr/>
        </p:nvSpPr>
        <p:spPr>
          <a:xfrm>
            <a:off x="405384" y="685800"/>
            <a:ext cx="5574030" cy="5638800"/>
          </a:xfrm>
          <a:prstGeom prst="roundRect">
            <a:avLst>
              <a:gd name="adj" fmla="val 222"/>
            </a:avLst>
          </a:prstGeom>
          <a:solidFill>
            <a:srgbClr val="1E293B"/>
          </a:solidFill>
          <a:ln w="25337">
            <a:solidFill>
              <a:srgbClr val="34D399"/>
            </a:solidFill>
            <a:prstDash val="solid"/>
          </a:ln>
        </p:spPr>
      </p:sp>
      <p:sp>
        <p:nvSpPr>
          <p:cNvPr id="6" name="Shape 4"/>
          <p:cNvSpPr/>
          <p:nvPr/>
        </p:nvSpPr>
        <p:spPr>
          <a:xfrm>
            <a:off x="608076" y="914400"/>
            <a:ext cx="950119" cy="279400"/>
          </a:xfrm>
          <a:prstGeom prst="roundRect">
            <a:avLst>
              <a:gd name="adj" fmla="val 21816000"/>
            </a:avLst>
          </a:prstGeom>
          <a:solidFill>
            <a:srgbClr val="34D399"/>
          </a:solidFill>
          <a:ln/>
        </p:spPr>
      </p:sp>
      <p:sp>
        <p:nvSpPr>
          <p:cNvPr id="7" name="Text 5"/>
          <p:cNvSpPr txBox="1"/>
          <p:nvPr/>
        </p:nvSpPr>
        <p:spPr>
          <a:xfrm>
            <a:off x="709422" y="939800"/>
            <a:ext cx="747427"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Phase 2</a:t>
            </a:r>
            <a:endParaRPr lang="en-US" sz="1496" dirty="0"/>
          </a:p>
        </p:txBody>
      </p:sp>
      <p:sp>
        <p:nvSpPr>
          <p:cNvPr id="8" name="Text 6"/>
          <p:cNvSpPr txBox="1"/>
          <p:nvPr/>
        </p:nvSpPr>
        <p:spPr>
          <a:xfrm>
            <a:off x="1634204" y="927100"/>
            <a:ext cx="2210610"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Low-Risk Migration</a:t>
            </a:r>
            <a:endParaRPr lang="en-US" sz="1795" dirty="0"/>
          </a:p>
        </p:txBody>
      </p:sp>
      <p:pic>
        <p:nvPicPr>
          <p:cNvPr id="9" name="Image 0" descr="preencoded.png">    </p:cNvPr>
          <p:cNvPicPr>
            <a:picLocks noChangeAspect="1"/>
          </p:cNvPicPr>
          <p:nvPr/>
        </p:nvPicPr>
        <p:blipFill>
          <a:blip r:embed="rId1"/>
          <a:srcRect l="0" r="0" t="0" b="0"/>
          <a:stretch/>
        </p:blipFill>
        <p:spPr>
          <a:xfrm>
            <a:off x="608076" y="1295400"/>
            <a:ext cx="126683" cy="127000"/>
          </a:xfrm>
          <a:prstGeom prst="rect">
            <a:avLst/>
          </a:prstGeom>
        </p:spPr>
      </p:pic>
      <p:sp>
        <p:nvSpPr>
          <p:cNvPr id="10" name="Text 7"/>
          <p:cNvSpPr txBox="1"/>
          <p:nvPr/>
        </p:nvSpPr>
        <p:spPr>
          <a:xfrm>
            <a:off x="785432" y="1244600"/>
            <a:ext cx="1095804"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5–6</a:t>
            </a:r>
            <a:endParaRPr lang="en-US" sz="1496" dirty="0"/>
          </a:p>
        </p:txBody>
      </p:sp>
      <p:sp>
        <p:nvSpPr>
          <p:cNvPr id="11" name="Text 8"/>
          <p:cNvSpPr txBox="1"/>
          <p:nvPr/>
        </p:nvSpPr>
        <p:spPr>
          <a:xfrm>
            <a:off x="608076" y="1574800"/>
            <a:ext cx="5168646" cy="457200"/>
          </a:xfrm>
          <a:prstGeom prst="rect">
            <a:avLst/>
          </a:prstGeom>
          <a:noFill/>
          <a:ln/>
        </p:spPr>
        <p:txBody>
          <a:bodyPr wrap="square" lIns="0" tIns="0" rIns="0" bIns="0" rtlCol="0" anchor="ctr"/>
          <a:lstStyle/>
          <a:p>
            <a:pPr algn="l" indent="0" marL="0">
              <a:buNone/>
            </a:pPr>
            <a:r>
              <a:rPr lang="en-US" sz="1496" b="1" i="1" dirty="0">
                <a:solidFill>
                  <a:srgbClr val="F1F5F9"/>
                </a:solidFill>
                <a:latin typeface="Century Gothic" pitchFamily="34" charset="0"/>
                <a:ea typeface="Century Gothic" pitchFamily="34" charset="-122"/>
                <a:cs typeface="Century Gothic" pitchFamily="34" charset="-120"/>
              </a:rPr>
              <a:t>Consolidate scripts and utilities. Low risk, visible progress.</a:t>
            </a:r>
            <a:endParaRPr lang="en-US" sz="1496" dirty="0"/>
          </a:p>
        </p:txBody>
      </p:sp>
      <p:pic>
        <p:nvPicPr>
          <p:cNvPr id="12" name="Image 1" descr="preencoded.png">    </p:cNvPr>
          <p:cNvPicPr>
            <a:picLocks noChangeAspect="1"/>
          </p:cNvPicPr>
          <p:nvPr/>
        </p:nvPicPr>
        <p:blipFill>
          <a:blip r:embed="rId2"/>
          <a:srcRect l="0" r="0" t="0" b="0"/>
          <a:stretch/>
        </p:blipFill>
        <p:spPr>
          <a:xfrm>
            <a:off x="608076" y="2171700"/>
            <a:ext cx="152019" cy="152400"/>
          </a:xfrm>
          <a:prstGeom prst="rect">
            <a:avLst/>
          </a:prstGeom>
        </p:spPr>
      </p:pic>
      <p:sp>
        <p:nvSpPr>
          <p:cNvPr id="13" name="Text 9"/>
          <p:cNvSpPr txBox="1"/>
          <p:nvPr/>
        </p:nvSpPr>
        <p:spPr>
          <a:xfrm>
            <a:off x="836105" y="2133600"/>
            <a:ext cx="395249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Migrate ad-hoc scripts to shared platform</a:t>
            </a:r>
            <a:endParaRPr lang="en-US" sz="1496" dirty="0"/>
          </a:p>
        </p:txBody>
      </p:sp>
      <p:pic>
        <p:nvPicPr>
          <p:cNvPr id="14" name="Image 2" descr="preencoded.png">    </p:cNvPr>
          <p:cNvPicPr>
            <a:picLocks noChangeAspect="1"/>
          </p:cNvPicPr>
          <p:nvPr/>
        </p:nvPicPr>
        <p:blipFill>
          <a:blip r:embed="rId3"/>
          <a:srcRect l="0" r="0" t="0" b="0"/>
          <a:stretch/>
        </p:blipFill>
        <p:spPr>
          <a:xfrm>
            <a:off x="608076" y="2476500"/>
            <a:ext cx="152019" cy="152400"/>
          </a:xfrm>
          <a:prstGeom prst="rect">
            <a:avLst/>
          </a:prstGeom>
        </p:spPr>
      </p:pic>
      <p:sp>
        <p:nvSpPr>
          <p:cNvPr id="15" name="Text 10"/>
          <p:cNvSpPr txBox="1"/>
          <p:nvPr/>
        </p:nvSpPr>
        <p:spPr>
          <a:xfrm>
            <a:off x="836105" y="2438400"/>
            <a:ext cx="330007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Standardize APIs and data formats</a:t>
            </a:r>
            <a:endParaRPr lang="en-US" sz="1496" dirty="0"/>
          </a:p>
        </p:txBody>
      </p:sp>
      <p:pic>
        <p:nvPicPr>
          <p:cNvPr id="16" name="Image 3" descr="preencoded.png">    </p:cNvPr>
          <p:cNvPicPr>
            <a:picLocks noChangeAspect="1"/>
          </p:cNvPicPr>
          <p:nvPr/>
        </p:nvPicPr>
        <p:blipFill>
          <a:blip r:embed="rId4"/>
          <a:srcRect l="0" r="0" t="0" b="0"/>
          <a:stretch/>
        </p:blipFill>
        <p:spPr>
          <a:xfrm>
            <a:off x="608076" y="2781300"/>
            <a:ext cx="152019" cy="152400"/>
          </a:xfrm>
          <a:prstGeom prst="rect">
            <a:avLst/>
          </a:prstGeom>
        </p:spPr>
      </p:pic>
      <p:sp>
        <p:nvSpPr>
          <p:cNvPr id="17" name="Text 11"/>
          <p:cNvSpPr txBox="1"/>
          <p:nvPr/>
        </p:nvSpPr>
        <p:spPr>
          <a:xfrm>
            <a:off x="836105" y="2743200"/>
            <a:ext cx="2812352"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Move to shared infrastructure</a:t>
            </a:r>
            <a:endParaRPr lang="en-US" sz="1496" dirty="0"/>
          </a:p>
        </p:txBody>
      </p:sp>
      <p:sp>
        <p:nvSpPr>
          <p:cNvPr id="18" name="Shape 12"/>
          <p:cNvSpPr/>
          <p:nvPr/>
        </p:nvSpPr>
        <p:spPr>
          <a:xfrm>
            <a:off x="608076" y="5740400"/>
            <a:ext cx="5168646" cy="381000"/>
          </a:xfrm>
          <a:prstGeom prst="roundRect">
            <a:avLst>
              <a:gd name="adj" fmla="val 2353"/>
            </a:avLst>
          </a:prstGeom>
          <a:solidFill>
            <a:srgbClr val="34D399">
              <a:alpha val="15000"/>
            </a:srgbClr>
          </a:solidFill>
          <a:ln/>
        </p:spPr>
      </p:sp>
      <p:sp>
        <p:nvSpPr>
          <p:cNvPr id="19" name="Text 13"/>
          <p:cNvSpPr txBox="1"/>
          <p:nvPr/>
        </p:nvSpPr>
        <p:spPr>
          <a:xfrm>
            <a:off x="684086" y="5816600"/>
            <a:ext cx="5016627"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Multiple tools unified. Developer productivity up.</a:t>
            </a:r>
            <a:endParaRPr lang="en-US" sz="1496" dirty="0"/>
          </a:p>
        </p:txBody>
      </p:sp>
      <p:sp>
        <p:nvSpPr>
          <p:cNvPr id="20" name="Shape 14"/>
          <p:cNvSpPr/>
          <p:nvPr/>
        </p:nvSpPr>
        <p:spPr>
          <a:xfrm>
            <a:off x="6182106" y="685800"/>
            <a:ext cx="5574030" cy="5638800"/>
          </a:xfrm>
          <a:prstGeom prst="roundRect">
            <a:avLst>
              <a:gd name="adj" fmla="val 222"/>
            </a:avLst>
          </a:prstGeom>
          <a:solidFill>
            <a:srgbClr val="1E293B"/>
          </a:solidFill>
          <a:ln w="25337">
            <a:solidFill>
              <a:srgbClr val="FBBF24"/>
            </a:solidFill>
            <a:prstDash val="solid"/>
          </a:ln>
        </p:spPr>
      </p:sp>
      <p:sp>
        <p:nvSpPr>
          <p:cNvPr id="21" name="Shape 15"/>
          <p:cNvSpPr/>
          <p:nvPr/>
        </p:nvSpPr>
        <p:spPr>
          <a:xfrm>
            <a:off x="6384798" y="914400"/>
            <a:ext cx="950119" cy="279400"/>
          </a:xfrm>
          <a:prstGeom prst="roundRect">
            <a:avLst>
              <a:gd name="adj" fmla="val 21816000"/>
            </a:avLst>
          </a:prstGeom>
          <a:solidFill>
            <a:srgbClr val="FBBF24"/>
          </a:solidFill>
          <a:ln/>
        </p:spPr>
      </p:sp>
      <p:sp>
        <p:nvSpPr>
          <p:cNvPr id="22" name="Text 16"/>
          <p:cNvSpPr txBox="1"/>
          <p:nvPr/>
        </p:nvSpPr>
        <p:spPr>
          <a:xfrm>
            <a:off x="6486144" y="939800"/>
            <a:ext cx="747427"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Phase 3</a:t>
            </a:r>
            <a:endParaRPr lang="en-US" sz="1496" dirty="0"/>
          </a:p>
        </p:txBody>
      </p:sp>
      <p:sp>
        <p:nvSpPr>
          <p:cNvPr id="23" name="Text 17"/>
          <p:cNvSpPr txBox="1"/>
          <p:nvPr/>
        </p:nvSpPr>
        <p:spPr>
          <a:xfrm>
            <a:off x="7410926" y="927100"/>
            <a:ext cx="2204276"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Critical Legacy Tool</a:t>
            </a:r>
            <a:endParaRPr lang="en-US" sz="1795" dirty="0"/>
          </a:p>
        </p:txBody>
      </p:sp>
      <p:pic>
        <p:nvPicPr>
          <p:cNvPr id="24" name="Image 4" descr="preencoded.png">    </p:cNvPr>
          <p:cNvPicPr>
            <a:picLocks noChangeAspect="1"/>
          </p:cNvPicPr>
          <p:nvPr/>
        </p:nvPicPr>
        <p:blipFill>
          <a:blip r:embed="rId5"/>
          <a:srcRect l="0" r="0" t="0" b="0"/>
          <a:stretch/>
        </p:blipFill>
        <p:spPr>
          <a:xfrm>
            <a:off x="6384798" y="1295400"/>
            <a:ext cx="126683" cy="127000"/>
          </a:xfrm>
          <a:prstGeom prst="rect">
            <a:avLst/>
          </a:prstGeom>
        </p:spPr>
      </p:pic>
      <p:sp>
        <p:nvSpPr>
          <p:cNvPr id="25" name="Text 18"/>
          <p:cNvSpPr txBox="1"/>
          <p:nvPr/>
        </p:nvSpPr>
        <p:spPr>
          <a:xfrm>
            <a:off x="6562154" y="1244600"/>
            <a:ext cx="1171813"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Months 7–10</a:t>
            </a:r>
            <a:endParaRPr lang="en-US" sz="1496" dirty="0"/>
          </a:p>
        </p:txBody>
      </p:sp>
      <p:sp>
        <p:nvSpPr>
          <p:cNvPr id="26" name="Shape 19"/>
          <p:cNvSpPr/>
          <p:nvPr/>
        </p:nvSpPr>
        <p:spPr>
          <a:xfrm>
            <a:off x="6384798" y="1524000"/>
            <a:ext cx="5168646" cy="279400"/>
          </a:xfrm>
          <a:prstGeom prst="roundRect">
            <a:avLst>
              <a:gd name="adj" fmla="val 4010294"/>
            </a:avLst>
          </a:prstGeom>
          <a:solidFill>
            <a:srgbClr val="FBBF24">
              <a:alpha val="20000"/>
            </a:srgbClr>
          </a:solidFill>
          <a:ln/>
        </p:spPr>
      </p:sp>
      <p:sp>
        <p:nvSpPr>
          <p:cNvPr id="27" name="Text 20"/>
          <p:cNvSpPr txBox="1"/>
          <p:nvPr/>
        </p:nvSpPr>
        <p:spPr>
          <a:xfrm>
            <a:off x="6460808" y="1549400"/>
            <a:ext cx="5016627"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Highest Risk Phase</a:t>
            </a:r>
            <a:endParaRPr lang="en-US" sz="1496" dirty="0"/>
          </a:p>
        </p:txBody>
      </p:sp>
      <p:sp>
        <p:nvSpPr>
          <p:cNvPr id="28" name="Text 21"/>
          <p:cNvSpPr txBox="1"/>
          <p:nvPr/>
        </p:nvSpPr>
        <p:spPr>
          <a:xfrm>
            <a:off x="6384798" y="1879600"/>
            <a:ext cx="5168646" cy="457200"/>
          </a:xfrm>
          <a:prstGeom prst="rect">
            <a:avLst/>
          </a:prstGeom>
          <a:noFill/>
          <a:ln/>
        </p:spPr>
        <p:txBody>
          <a:bodyPr wrap="square" lIns="0" tIns="0" rIns="0" bIns="0" rtlCol="0" anchor="ctr"/>
          <a:lstStyle/>
          <a:p>
            <a:pPr algn="l" indent="0" marL="0">
              <a:buNone/>
            </a:pPr>
            <a:r>
              <a:rPr lang="en-US" sz="1496" b="1" i="1" dirty="0">
                <a:solidFill>
                  <a:srgbClr val="F1F5F9"/>
                </a:solidFill>
                <a:latin typeface="Century Gothic" pitchFamily="34" charset="0"/>
                <a:ea typeface="Century Gothic" pitchFamily="34" charset="-122"/>
                <a:cs typeface="Century Gothic" pitchFamily="34" charset="-120"/>
              </a:rPr>
              <a:t>Reverse-engineer the undocumented tool. Zero regression.</a:t>
            </a:r>
            <a:endParaRPr lang="en-US" sz="1496" dirty="0"/>
          </a:p>
        </p:txBody>
      </p:sp>
      <p:pic>
        <p:nvPicPr>
          <p:cNvPr id="29" name="Image 5" descr="preencoded.png">    </p:cNvPr>
          <p:cNvPicPr>
            <a:picLocks noChangeAspect="1"/>
          </p:cNvPicPr>
          <p:nvPr/>
        </p:nvPicPr>
        <p:blipFill>
          <a:blip r:embed="rId6"/>
          <a:srcRect l="0" r="0" t="0" b="0"/>
          <a:stretch/>
        </p:blipFill>
        <p:spPr>
          <a:xfrm>
            <a:off x="6384798" y="2476500"/>
            <a:ext cx="152019" cy="152400"/>
          </a:xfrm>
          <a:prstGeom prst="rect">
            <a:avLst/>
          </a:prstGeom>
        </p:spPr>
      </p:pic>
      <p:sp>
        <p:nvSpPr>
          <p:cNvPr id="30" name="Text 22"/>
          <p:cNvSpPr txBox="1"/>
          <p:nvPr/>
        </p:nvSpPr>
        <p:spPr>
          <a:xfrm>
            <a:off x="6612827" y="2438400"/>
            <a:ext cx="416152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Capture input/output pairs from production</a:t>
            </a:r>
            <a:endParaRPr lang="en-US" sz="1496" dirty="0"/>
          </a:p>
        </p:txBody>
      </p:sp>
      <p:pic>
        <p:nvPicPr>
          <p:cNvPr id="31" name="Image 6" descr="preencoded.png">    </p:cNvPr>
          <p:cNvPicPr>
            <a:picLocks noChangeAspect="1"/>
          </p:cNvPicPr>
          <p:nvPr/>
        </p:nvPicPr>
        <p:blipFill>
          <a:blip r:embed="rId7"/>
          <a:srcRect l="0" r="0" t="0" b="0"/>
          <a:stretch/>
        </p:blipFill>
        <p:spPr>
          <a:xfrm>
            <a:off x="6384798" y="2781300"/>
            <a:ext cx="152019" cy="152400"/>
          </a:xfrm>
          <a:prstGeom prst="rect">
            <a:avLst/>
          </a:prstGeom>
        </p:spPr>
      </p:pic>
      <p:sp>
        <p:nvSpPr>
          <p:cNvPr id="32" name="Text 23"/>
          <p:cNvSpPr txBox="1"/>
          <p:nvPr/>
        </p:nvSpPr>
        <p:spPr>
          <a:xfrm>
            <a:off x="6612827" y="2743200"/>
            <a:ext cx="4193191"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Shadow mode — run old and new in parallel</a:t>
            </a:r>
            <a:endParaRPr lang="en-US" sz="1496" dirty="0"/>
          </a:p>
        </p:txBody>
      </p:sp>
      <p:pic>
        <p:nvPicPr>
          <p:cNvPr id="33" name="Image 7" descr="preencoded.png">    </p:cNvPr>
          <p:cNvPicPr>
            <a:picLocks noChangeAspect="1"/>
          </p:cNvPicPr>
          <p:nvPr/>
        </p:nvPicPr>
        <p:blipFill>
          <a:blip r:embed="rId8"/>
          <a:srcRect l="0" r="0" t="0" b="0"/>
          <a:stretch/>
        </p:blipFill>
        <p:spPr>
          <a:xfrm>
            <a:off x="6384798" y="3086100"/>
            <a:ext cx="152019" cy="152400"/>
          </a:xfrm>
          <a:prstGeom prst="rect">
            <a:avLst/>
          </a:prstGeom>
        </p:spPr>
      </p:pic>
      <p:sp>
        <p:nvSpPr>
          <p:cNvPr id="34" name="Text 24"/>
          <p:cNvSpPr txBox="1"/>
          <p:nvPr/>
        </p:nvSpPr>
        <p:spPr>
          <a:xfrm>
            <a:off x="6612827" y="3048000"/>
            <a:ext cx="327474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3-stage rollout: 10% → 50% → 100%</a:t>
            </a:r>
            <a:endParaRPr lang="en-US" sz="1496" dirty="0"/>
          </a:p>
        </p:txBody>
      </p:sp>
      <p:pic>
        <p:nvPicPr>
          <p:cNvPr id="35" name="Image 8" descr="preencoded.png">    </p:cNvPr>
          <p:cNvPicPr>
            <a:picLocks noChangeAspect="1"/>
          </p:cNvPicPr>
          <p:nvPr/>
        </p:nvPicPr>
        <p:blipFill>
          <a:blip r:embed="rId9"/>
          <a:srcRect l="0" r="0" t="0" b="0"/>
          <a:stretch/>
        </p:blipFill>
        <p:spPr>
          <a:xfrm>
            <a:off x="6384798" y="3390900"/>
            <a:ext cx="152019" cy="152400"/>
          </a:xfrm>
          <a:prstGeom prst="rect">
            <a:avLst/>
          </a:prstGeom>
        </p:spPr>
      </p:pic>
      <p:sp>
        <p:nvSpPr>
          <p:cNvPr id="36" name="Text 25"/>
          <p:cNvSpPr txBox="1"/>
          <p:nvPr/>
        </p:nvSpPr>
        <p:spPr>
          <a:xfrm>
            <a:off x="6612827" y="3352800"/>
            <a:ext cx="2850356"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Instant rollback at every stage</a:t>
            </a:r>
            <a:endParaRPr lang="en-US" sz="1496" dirty="0"/>
          </a:p>
        </p:txBody>
      </p:sp>
      <p:sp>
        <p:nvSpPr>
          <p:cNvPr id="37" name="Shape 26"/>
          <p:cNvSpPr/>
          <p:nvPr/>
        </p:nvSpPr>
        <p:spPr>
          <a:xfrm>
            <a:off x="6384798" y="5740400"/>
            <a:ext cx="5168646" cy="381000"/>
          </a:xfrm>
          <a:prstGeom prst="roundRect">
            <a:avLst>
              <a:gd name="adj" fmla="val 2353"/>
            </a:avLst>
          </a:prstGeom>
          <a:solidFill>
            <a:srgbClr val="34D399">
              <a:alpha val="15000"/>
            </a:srgbClr>
          </a:solidFill>
          <a:ln/>
        </p:spPr>
      </p:sp>
      <p:sp>
        <p:nvSpPr>
          <p:cNvPr id="38" name="Text 27"/>
          <p:cNvSpPr txBox="1"/>
          <p:nvPr/>
        </p:nvSpPr>
        <p:spPr>
          <a:xfrm>
            <a:off x="6460808" y="5816600"/>
            <a:ext cx="5016627"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Legacy tool replaced without a single regression.</a:t>
            </a:r>
            <a:endParaRPr lang="en-US" sz="1496" dirty="0"/>
          </a:p>
        </p:txBody>
      </p:sp>
      <p:sp>
        <p:nvSpPr>
          <p:cNvPr id="39" name="Text 28"/>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40" name="Text 29"/>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716548" cy="279400"/>
          </a:xfrm>
          <a:prstGeom prst="roundRect">
            <a:avLst>
              <a:gd name="adj" fmla="val 12075277"/>
            </a:avLst>
          </a:prstGeom>
          <a:solidFill>
            <a:srgbClr val="22D3EE"/>
          </a:solidFill>
          <a:ln/>
        </p:spPr>
      </p:sp>
      <p:sp>
        <p:nvSpPr>
          <p:cNvPr id="3" name="Text 1"/>
          <p:cNvSpPr txBox="1"/>
          <p:nvPr/>
        </p:nvSpPr>
        <p:spPr>
          <a:xfrm>
            <a:off x="532067" y="279400"/>
            <a:ext cx="1463183"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Phase 3</a:t>
            </a:r>
            <a:endParaRPr lang="en-US" sz="1496" dirty="0"/>
          </a:p>
        </p:txBody>
      </p:sp>
      <p:sp>
        <p:nvSpPr>
          <p:cNvPr id="4" name="Text 2"/>
          <p:cNvSpPr txBox="1"/>
          <p:nvPr/>
        </p:nvSpPr>
        <p:spPr>
          <a:xfrm>
            <a:off x="2223278" y="203200"/>
            <a:ext cx="5808393"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Safe Legacy Tool Replacement</a:t>
            </a:r>
            <a:endParaRPr lang="en-US" sz="2993" dirty="0"/>
          </a:p>
        </p:txBody>
      </p:sp>
      <p:sp>
        <p:nvSpPr>
          <p:cNvPr id="5" name="Text 3"/>
          <p:cNvSpPr txBox="1"/>
          <p:nvPr/>
        </p:nvSpPr>
        <p:spPr>
          <a:xfrm>
            <a:off x="405384" y="2120900"/>
            <a:ext cx="2414489" cy="762000"/>
          </a:xfrm>
          <a:prstGeom prst="rect">
            <a:avLst/>
          </a:prstGeom>
          <a:noFill/>
          <a:ln/>
        </p:spPr>
        <p:txBody>
          <a:bodyPr wrap="square" lIns="0" tIns="0" rIns="0" bIns="0" rtlCol="0" anchor="ctr"/>
          <a:lstStyle/>
          <a:p>
            <a:pPr algn="l" indent="0" marL="0">
              <a:buNone/>
            </a:pPr>
            <a:r>
              <a:rPr lang="en-US" sz="1795" b="1" i="1" dirty="0">
                <a:solidFill>
                  <a:srgbClr val="F1F5F9"/>
                </a:solidFill>
                <a:latin typeface="Century Gothic" pitchFamily="34" charset="0"/>
                <a:ea typeface="Century Gothic" pitchFamily="34" charset="-122"/>
                <a:cs typeface="Century Gothic" pitchFamily="34" charset="-120"/>
              </a:rPr>
              <a:t>Poorly documented. Business-critical. Can't break it.</a:t>
            </a:r>
            <a:endParaRPr lang="en-US" sz="1795" dirty="0"/>
          </a:p>
        </p:txBody>
      </p:sp>
      <p:sp>
        <p:nvSpPr>
          <p:cNvPr id="6" name="Shape 4"/>
          <p:cNvSpPr/>
          <p:nvPr/>
        </p:nvSpPr>
        <p:spPr>
          <a:xfrm>
            <a:off x="405384" y="3035300"/>
            <a:ext cx="2414489" cy="990600"/>
          </a:xfrm>
          <a:prstGeom prst="roundRect">
            <a:avLst>
              <a:gd name="adj" fmla="val 2906"/>
            </a:avLst>
          </a:prstGeom>
          <a:solidFill>
            <a:srgbClr val="FBBF24">
              <a:alpha val="15000"/>
            </a:srgbClr>
          </a:solidFill>
          <a:ln/>
        </p:spPr>
      </p:sp>
      <p:pic>
        <p:nvPicPr>
          <p:cNvPr id="7" name="Image 0" descr="preencoded.png">    </p:cNvPr>
          <p:cNvPicPr>
            <a:picLocks noChangeAspect="1"/>
          </p:cNvPicPr>
          <p:nvPr/>
        </p:nvPicPr>
        <p:blipFill>
          <a:blip r:embed="rId1"/>
          <a:srcRect l="0" r="0" t="0" b="0"/>
          <a:stretch/>
        </p:blipFill>
        <p:spPr>
          <a:xfrm>
            <a:off x="532067" y="3175000"/>
            <a:ext cx="202692" cy="203200"/>
          </a:xfrm>
          <a:prstGeom prst="rect">
            <a:avLst/>
          </a:prstGeom>
        </p:spPr>
      </p:pic>
      <p:sp>
        <p:nvSpPr>
          <p:cNvPr id="8" name="Text 5"/>
          <p:cNvSpPr txBox="1"/>
          <p:nvPr/>
        </p:nvSpPr>
        <p:spPr>
          <a:xfrm>
            <a:off x="810768" y="3162300"/>
            <a:ext cx="912114"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High Risk</a:t>
            </a:r>
            <a:endParaRPr lang="en-US" sz="1496" dirty="0"/>
          </a:p>
        </p:txBody>
      </p:sp>
      <p:sp>
        <p:nvSpPr>
          <p:cNvPr id="9" name="Text 6"/>
          <p:cNvSpPr txBox="1"/>
          <p:nvPr/>
        </p:nvSpPr>
        <p:spPr>
          <a:xfrm>
            <a:off x="532067" y="3441700"/>
            <a:ext cx="2161124"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No documentation, no tests, active usage</a:t>
            </a:r>
            <a:endParaRPr lang="en-US" sz="1496" dirty="0"/>
          </a:p>
        </p:txBody>
      </p:sp>
      <p:sp>
        <p:nvSpPr>
          <p:cNvPr id="10" name="Shape 7"/>
          <p:cNvSpPr/>
          <p:nvPr/>
        </p:nvSpPr>
        <p:spPr>
          <a:xfrm>
            <a:off x="405384" y="4178300"/>
            <a:ext cx="2414489" cy="711200"/>
          </a:xfrm>
          <a:prstGeom prst="roundRect">
            <a:avLst>
              <a:gd name="adj" fmla="val 4048"/>
            </a:avLst>
          </a:prstGeom>
          <a:solidFill>
            <a:srgbClr val="6366F1">
              <a:alpha val="15000"/>
            </a:srgbClr>
          </a:solidFill>
          <a:ln/>
        </p:spPr>
      </p:sp>
      <p:sp>
        <p:nvSpPr>
          <p:cNvPr id="11" name="Text 8"/>
          <p:cNvSpPr txBox="1"/>
          <p:nvPr/>
        </p:nvSpPr>
        <p:spPr>
          <a:xfrm>
            <a:off x="532067" y="4305300"/>
            <a:ext cx="2161124" cy="457200"/>
          </a:xfrm>
          <a:prstGeom prst="rect">
            <a:avLst/>
          </a:prstGeom>
          <a:noFill/>
          <a:ln/>
        </p:spPr>
        <p:txBody>
          <a:bodyPr wrap="square" lIns="0" tIns="0" rIns="0" bIns="0" rtlCol="0" anchor="ctr"/>
          <a:lstStyle/>
          <a:p>
            <a:pPr algn="l" indent="0" marL="0">
              <a:buNone/>
            </a:pPr>
            <a:r>
              <a:rPr lang="en-US" sz="1496" b="1" dirty="0">
                <a:solidFill>
                  <a:srgbClr val="6366F1"/>
                </a:solidFill>
                <a:latin typeface="Century Gothic" pitchFamily="34" charset="0"/>
                <a:ea typeface="Century Gothic" pitchFamily="34" charset="-122"/>
                <a:cs typeface="Century Gothic" pitchFamily="34" charset="-120"/>
              </a:rPr>
              <a:t>Prove it works before replacing it.</a:t>
            </a:r>
            <a:endParaRPr lang="en-US" sz="1496" dirty="0"/>
          </a:p>
        </p:txBody>
      </p:sp>
      <p:sp>
        <p:nvSpPr>
          <p:cNvPr id="12" name="Shape 9"/>
          <p:cNvSpPr/>
          <p:nvPr/>
        </p:nvSpPr>
        <p:spPr>
          <a:xfrm>
            <a:off x="3022565" y="685800"/>
            <a:ext cx="1841350" cy="5638800"/>
          </a:xfrm>
          <a:prstGeom prst="roundRect">
            <a:avLst>
              <a:gd name="adj" fmla="val 671"/>
            </a:avLst>
          </a:prstGeom>
          <a:solidFill>
            <a:srgbClr val="334155"/>
          </a:solidFill>
          <a:ln/>
        </p:spPr>
      </p:sp>
      <p:pic>
        <p:nvPicPr>
          <p:cNvPr id="13" name="Image 1" descr="preencoded.png">    </p:cNvPr>
          <p:cNvPicPr>
            <a:picLocks noChangeAspect="1"/>
          </p:cNvPicPr>
          <p:nvPr/>
        </p:nvPicPr>
        <p:blipFill>
          <a:blip r:embed="rId2"/>
          <a:srcRect l="0" r="0" t="0" b="0"/>
          <a:stretch/>
        </p:blipFill>
        <p:spPr>
          <a:xfrm>
            <a:off x="3816508" y="2501900"/>
            <a:ext cx="253365" cy="254000"/>
          </a:xfrm>
          <a:prstGeom prst="rect">
            <a:avLst/>
          </a:prstGeom>
        </p:spPr>
      </p:pic>
      <p:sp>
        <p:nvSpPr>
          <p:cNvPr id="14" name="Text 10"/>
          <p:cNvSpPr txBox="1"/>
          <p:nvPr/>
        </p:nvSpPr>
        <p:spPr>
          <a:xfrm>
            <a:off x="3480800" y="2832100"/>
            <a:ext cx="924782" cy="254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Capture</a:t>
            </a:r>
            <a:endParaRPr lang="en-US" sz="1795" dirty="0"/>
          </a:p>
        </p:txBody>
      </p:sp>
      <p:sp>
        <p:nvSpPr>
          <p:cNvPr id="15" name="Text 11"/>
          <p:cNvSpPr txBox="1"/>
          <p:nvPr/>
        </p:nvSpPr>
        <p:spPr>
          <a:xfrm>
            <a:off x="3149248" y="3136900"/>
            <a:ext cx="1587985" cy="13716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Record production input/output pairs as behavioral test cases</a:t>
            </a:r>
            <a:endParaRPr lang="en-US" sz="1496" dirty="0"/>
          </a:p>
        </p:txBody>
      </p:sp>
      <p:sp>
        <p:nvSpPr>
          <p:cNvPr id="16" name="Text 12"/>
          <p:cNvSpPr txBox="1"/>
          <p:nvPr/>
        </p:nvSpPr>
        <p:spPr>
          <a:xfrm>
            <a:off x="4939925" y="3352800"/>
            <a:ext cx="304038" cy="304800"/>
          </a:xfrm>
          <a:prstGeom prst="rect">
            <a:avLst/>
          </a:prstGeom>
          <a:noFill/>
          <a:ln/>
        </p:spPr>
        <p:txBody>
          <a:bodyPr wrap="square" lIns="0" tIns="0" rIns="0" bIns="0" rtlCol="0" anchor="ctr"/>
          <a:lstStyle/>
          <a:p>
            <a:pPr algn="l" indent="0" marL="0">
              <a:buNone/>
            </a:pPr>
            <a:r>
              <a:rPr lang="en-US" sz="2394" b="1" dirty="0">
                <a:solidFill>
                  <a:srgbClr val="6366F1"/>
                </a:solidFill>
                <a:latin typeface="Century Gothic" pitchFamily="34" charset="0"/>
                <a:ea typeface="Century Gothic" pitchFamily="34" charset="-122"/>
                <a:cs typeface="Century Gothic" pitchFamily="34" charset="-120"/>
              </a:rPr>
              <a:t>→</a:t>
            </a:r>
            <a:endParaRPr lang="en-US" sz="2394" dirty="0"/>
          </a:p>
        </p:txBody>
      </p:sp>
      <p:sp>
        <p:nvSpPr>
          <p:cNvPr id="17" name="Shape 13"/>
          <p:cNvSpPr/>
          <p:nvPr/>
        </p:nvSpPr>
        <p:spPr>
          <a:xfrm>
            <a:off x="5319972" y="685800"/>
            <a:ext cx="1841350" cy="5638800"/>
          </a:xfrm>
          <a:prstGeom prst="roundRect">
            <a:avLst>
              <a:gd name="adj" fmla="val 671"/>
            </a:avLst>
          </a:prstGeom>
          <a:solidFill>
            <a:srgbClr val="334155"/>
          </a:solidFill>
          <a:ln/>
        </p:spPr>
      </p:sp>
      <p:pic>
        <p:nvPicPr>
          <p:cNvPr id="18" name="Image 2" descr="preencoded.png">    </p:cNvPr>
          <p:cNvPicPr>
            <a:picLocks noChangeAspect="1"/>
          </p:cNvPicPr>
          <p:nvPr/>
        </p:nvPicPr>
        <p:blipFill>
          <a:blip r:embed="rId3"/>
          <a:srcRect l="0" r="0" t="0" b="0"/>
          <a:stretch/>
        </p:blipFill>
        <p:spPr>
          <a:xfrm>
            <a:off x="6113915" y="2489200"/>
            <a:ext cx="253365" cy="254000"/>
          </a:xfrm>
          <a:prstGeom prst="rect">
            <a:avLst/>
          </a:prstGeom>
        </p:spPr>
      </p:pic>
      <p:sp>
        <p:nvSpPr>
          <p:cNvPr id="19" name="Text 14"/>
          <p:cNvSpPr txBox="1"/>
          <p:nvPr/>
        </p:nvSpPr>
        <p:spPr>
          <a:xfrm>
            <a:off x="5446655" y="2819400"/>
            <a:ext cx="1587985" cy="5080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Shadow Mode</a:t>
            </a:r>
            <a:endParaRPr lang="en-US" sz="1795" dirty="0"/>
          </a:p>
        </p:txBody>
      </p:sp>
      <p:sp>
        <p:nvSpPr>
          <p:cNvPr id="20" name="Text 15"/>
          <p:cNvSpPr txBox="1"/>
          <p:nvPr/>
        </p:nvSpPr>
        <p:spPr>
          <a:xfrm>
            <a:off x="5446655" y="3378200"/>
            <a:ext cx="1587985" cy="11430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Run new implementation in parallel — compare outputs</a:t>
            </a:r>
            <a:endParaRPr lang="en-US" sz="1496" dirty="0"/>
          </a:p>
        </p:txBody>
      </p:sp>
      <p:sp>
        <p:nvSpPr>
          <p:cNvPr id="21" name="Text 16"/>
          <p:cNvSpPr txBox="1"/>
          <p:nvPr/>
        </p:nvSpPr>
        <p:spPr>
          <a:xfrm>
            <a:off x="7237332" y="3352800"/>
            <a:ext cx="304038" cy="304800"/>
          </a:xfrm>
          <a:prstGeom prst="rect">
            <a:avLst/>
          </a:prstGeom>
          <a:noFill/>
          <a:ln/>
        </p:spPr>
        <p:txBody>
          <a:bodyPr wrap="square" lIns="0" tIns="0" rIns="0" bIns="0" rtlCol="0" anchor="ctr"/>
          <a:lstStyle/>
          <a:p>
            <a:pPr algn="l" indent="0" marL="0">
              <a:buNone/>
            </a:pPr>
            <a:r>
              <a:rPr lang="en-US" sz="2394" b="1" dirty="0">
                <a:solidFill>
                  <a:srgbClr val="6366F1"/>
                </a:solidFill>
                <a:latin typeface="Century Gothic" pitchFamily="34" charset="0"/>
                <a:ea typeface="Century Gothic" pitchFamily="34" charset="-122"/>
                <a:cs typeface="Century Gothic" pitchFamily="34" charset="-120"/>
              </a:rPr>
              <a:t>→</a:t>
            </a:r>
            <a:endParaRPr lang="en-US" sz="2394" dirty="0"/>
          </a:p>
        </p:txBody>
      </p:sp>
      <p:sp>
        <p:nvSpPr>
          <p:cNvPr id="22" name="Shape 17"/>
          <p:cNvSpPr/>
          <p:nvPr/>
        </p:nvSpPr>
        <p:spPr>
          <a:xfrm>
            <a:off x="7617379" y="685800"/>
            <a:ext cx="1841350" cy="5638800"/>
          </a:xfrm>
          <a:prstGeom prst="roundRect">
            <a:avLst>
              <a:gd name="adj" fmla="val 671"/>
            </a:avLst>
          </a:prstGeom>
          <a:solidFill>
            <a:srgbClr val="334155"/>
          </a:solidFill>
          <a:ln/>
        </p:spPr>
      </p:sp>
      <p:pic>
        <p:nvPicPr>
          <p:cNvPr id="23" name="Image 3" descr="preencoded.png">    </p:cNvPr>
          <p:cNvPicPr>
            <a:picLocks noChangeAspect="1"/>
          </p:cNvPicPr>
          <p:nvPr/>
        </p:nvPicPr>
        <p:blipFill>
          <a:blip r:embed="rId4"/>
          <a:srcRect l="0" r="0" t="0" b="0"/>
          <a:stretch/>
        </p:blipFill>
        <p:spPr>
          <a:xfrm>
            <a:off x="8411322" y="2686050"/>
            <a:ext cx="253365" cy="254000"/>
          </a:xfrm>
          <a:prstGeom prst="rect">
            <a:avLst/>
          </a:prstGeom>
        </p:spPr>
      </p:pic>
      <p:sp>
        <p:nvSpPr>
          <p:cNvPr id="24" name="Text 18"/>
          <p:cNvSpPr txBox="1"/>
          <p:nvPr/>
        </p:nvSpPr>
        <p:spPr>
          <a:xfrm>
            <a:off x="7744062" y="3016250"/>
            <a:ext cx="1587985" cy="5715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Graduated Rollout</a:t>
            </a:r>
            <a:endParaRPr lang="en-US" sz="1795" dirty="0"/>
          </a:p>
        </p:txBody>
      </p:sp>
      <p:sp>
        <p:nvSpPr>
          <p:cNvPr id="25" name="Text 19"/>
          <p:cNvSpPr txBox="1"/>
          <p:nvPr/>
        </p:nvSpPr>
        <p:spPr>
          <a:xfrm>
            <a:off x="7744062" y="3638550"/>
            <a:ext cx="1587985"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10% → 50% → 100% — monitor at each step</a:t>
            </a:r>
            <a:endParaRPr lang="en-US" sz="1496" dirty="0"/>
          </a:p>
        </p:txBody>
      </p:sp>
      <p:sp>
        <p:nvSpPr>
          <p:cNvPr id="26" name="Text 20"/>
          <p:cNvSpPr txBox="1"/>
          <p:nvPr/>
        </p:nvSpPr>
        <p:spPr>
          <a:xfrm>
            <a:off x="9534739" y="3352800"/>
            <a:ext cx="304038" cy="304800"/>
          </a:xfrm>
          <a:prstGeom prst="rect">
            <a:avLst/>
          </a:prstGeom>
          <a:noFill/>
          <a:ln/>
        </p:spPr>
        <p:txBody>
          <a:bodyPr wrap="square" lIns="0" tIns="0" rIns="0" bIns="0" rtlCol="0" anchor="ctr"/>
          <a:lstStyle/>
          <a:p>
            <a:pPr algn="l" indent="0" marL="0">
              <a:buNone/>
            </a:pPr>
            <a:r>
              <a:rPr lang="en-US" sz="2394" b="1" dirty="0">
                <a:solidFill>
                  <a:srgbClr val="6366F1"/>
                </a:solidFill>
                <a:latin typeface="Century Gothic" pitchFamily="34" charset="0"/>
                <a:ea typeface="Century Gothic" pitchFamily="34" charset="-122"/>
                <a:cs typeface="Century Gothic" pitchFamily="34" charset="-120"/>
              </a:rPr>
              <a:t>→</a:t>
            </a:r>
            <a:endParaRPr lang="en-US" sz="2394" dirty="0"/>
          </a:p>
        </p:txBody>
      </p:sp>
      <p:sp>
        <p:nvSpPr>
          <p:cNvPr id="27" name="Shape 21"/>
          <p:cNvSpPr/>
          <p:nvPr/>
        </p:nvSpPr>
        <p:spPr>
          <a:xfrm>
            <a:off x="9914786" y="685800"/>
            <a:ext cx="1841350" cy="5638800"/>
          </a:xfrm>
          <a:prstGeom prst="roundRect">
            <a:avLst>
              <a:gd name="adj" fmla="val 671"/>
            </a:avLst>
          </a:prstGeom>
          <a:solidFill>
            <a:srgbClr val="334155"/>
          </a:solidFill>
          <a:ln/>
        </p:spPr>
      </p:sp>
      <p:pic>
        <p:nvPicPr>
          <p:cNvPr id="28" name="Image 4" descr="preencoded.png">    </p:cNvPr>
          <p:cNvPicPr>
            <a:picLocks noChangeAspect="1"/>
          </p:cNvPicPr>
          <p:nvPr/>
        </p:nvPicPr>
        <p:blipFill>
          <a:blip r:embed="rId5"/>
          <a:srcRect l="0" r="0" t="0" b="0"/>
          <a:stretch/>
        </p:blipFill>
        <p:spPr>
          <a:xfrm>
            <a:off x="10708729" y="2686050"/>
            <a:ext cx="253365" cy="254000"/>
          </a:xfrm>
          <a:prstGeom prst="rect">
            <a:avLst/>
          </a:prstGeom>
        </p:spPr>
      </p:pic>
      <p:sp>
        <p:nvSpPr>
          <p:cNvPr id="29" name="Text 22"/>
          <p:cNvSpPr txBox="1"/>
          <p:nvPr/>
        </p:nvSpPr>
        <p:spPr>
          <a:xfrm>
            <a:off x="10041469" y="3016250"/>
            <a:ext cx="1587985" cy="571500"/>
          </a:xfrm>
          <a:prstGeom prst="rect">
            <a:avLst/>
          </a:prstGeom>
          <a:noFill/>
          <a:ln/>
        </p:spPr>
        <p:txBody>
          <a:bodyPr wrap="square" lIns="0" tIns="0" rIns="0" bIns="0" rtlCol="0" anchor="ctr"/>
          <a:lstStyle/>
          <a:p>
            <a:pPr algn="ctr" indent="0" marL="0">
              <a:buNone/>
            </a:pPr>
            <a:r>
              <a:rPr lang="en-US" sz="1795" b="1" dirty="0">
                <a:solidFill>
                  <a:srgbClr val="F1F5F9"/>
                </a:solidFill>
                <a:latin typeface="Century Gothic" pitchFamily="34" charset="0"/>
                <a:ea typeface="Century Gothic" pitchFamily="34" charset="-122"/>
                <a:cs typeface="Century Gothic" pitchFamily="34" charset="-120"/>
              </a:rPr>
              <a:t>Validate &amp; Retire</a:t>
            </a:r>
            <a:endParaRPr lang="en-US" sz="1795" dirty="0"/>
          </a:p>
        </p:txBody>
      </p:sp>
      <p:sp>
        <p:nvSpPr>
          <p:cNvPr id="30" name="Text 23"/>
          <p:cNvSpPr txBox="1"/>
          <p:nvPr/>
        </p:nvSpPr>
        <p:spPr>
          <a:xfrm>
            <a:off x="10041469" y="3638550"/>
            <a:ext cx="1587985" cy="685800"/>
          </a:xfrm>
          <a:prstGeom prst="rect">
            <a:avLst/>
          </a:prstGeom>
          <a:noFill/>
          <a:ln/>
        </p:spPr>
        <p:txBody>
          <a:bodyPr wrap="square" lIns="0" tIns="0" rIns="0" bIns="0" rtlCol="0" anchor="ctr"/>
          <a:lstStyle/>
          <a:p>
            <a:pPr algn="ctr" indent="0" marL="0">
              <a:buNone/>
            </a:pPr>
            <a:r>
              <a:rPr lang="en-US" sz="1496" dirty="0">
                <a:solidFill>
                  <a:srgbClr val="94A3B8"/>
                </a:solidFill>
                <a:latin typeface="Century Gothic" pitchFamily="34" charset="0"/>
                <a:ea typeface="Century Gothic" pitchFamily="34" charset="-122"/>
                <a:cs typeface="Century Gothic" pitchFamily="34" charset="-120"/>
              </a:rPr>
              <a:t>Only retire old tool after 100% validation</a:t>
            </a:r>
            <a:endParaRPr lang="en-US" sz="1496" dirty="0"/>
          </a:p>
        </p:txBody>
      </p:sp>
      <p:sp>
        <p:nvSpPr>
          <p:cNvPr id="31" name="Text 24"/>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2" name="Text 25"/>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735550" cy="279400"/>
          </a:xfrm>
          <a:prstGeom prst="roundRect">
            <a:avLst>
              <a:gd name="adj" fmla="val 11943066"/>
            </a:avLst>
          </a:prstGeom>
          <a:solidFill>
            <a:srgbClr val="22D3EE"/>
          </a:solidFill>
          <a:ln/>
        </p:spPr>
      </p:sp>
      <p:sp>
        <p:nvSpPr>
          <p:cNvPr id="3" name="Text 1"/>
          <p:cNvSpPr txBox="1"/>
          <p:nvPr/>
        </p:nvSpPr>
        <p:spPr>
          <a:xfrm>
            <a:off x="532067" y="279400"/>
            <a:ext cx="1482185"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Phase 4</a:t>
            </a:r>
            <a:endParaRPr lang="en-US" sz="1496" dirty="0"/>
          </a:p>
        </p:txBody>
      </p:sp>
      <p:sp>
        <p:nvSpPr>
          <p:cNvPr id="4" name="Text 2"/>
          <p:cNvSpPr txBox="1"/>
          <p:nvPr/>
        </p:nvSpPr>
        <p:spPr>
          <a:xfrm>
            <a:off x="2242280" y="203200"/>
            <a:ext cx="6289786"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Desktop Migration (Months 11–16)</a:t>
            </a:r>
            <a:endParaRPr lang="en-US" sz="2993" dirty="0"/>
          </a:p>
        </p:txBody>
      </p:sp>
      <p:sp>
        <p:nvSpPr>
          <p:cNvPr id="5" name="Shape 3"/>
          <p:cNvSpPr/>
          <p:nvPr/>
        </p:nvSpPr>
        <p:spPr>
          <a:xfrm>
            <a:off x="405384" y="685800"/>
            <a:ext cx="5776722" cy="5638800"/>
          </a:xfrm>
          <a:prstGeom prst="roundRect">
            <a:avLst>
              <a:gd name="adj" fmla="val 213"/>
            </a:avLst>
          </a:prstGeom>
          <a:solidFill>
            <a:srgbClr val="1E293B"/>
          </a:solidFill>
          <a:ln w="25337">
            <a:solidFill>
              <a:srgbClr val="F472B6"/>
            </a:solidFill>
            <a:prstDash val="solid"/>
          </a:ln>
        </p:spPr>
      </p:sp>
      <p:sp>
        <p:nvSpPr>
          <p:cNvPr id="6" name="Shape 4"/>
          <p:cNvSpPr/>
          <p:nvPr/>
        </p:nvSpPr>
        <p:spPr>
          <a:xfrm>
            <a:off x="608076" y="914400"/>
            <a:ext cx="969121" cy="279400"/>
          </a:xfrm>
          <a:prstGeom prst="roundRect">
            <a:avLst>
              <a:gd name="adj" fmla="val 21388235"/>
            </a:avLst>
          </a:prstGeom>
          <a:solidFill>
            <a:srgbClr val="F472B6"/>
          </a:solidFill>
          <a:ln/>
        </p:spPr>
      </p:sp>
      <p:sp>
        <p:nvSpPr>
          <p:cNvPr id="7" name="Text 5"/>
          <p:cNvSpPr txBox="1"/>
          <p:nvPr/>
        </p:nvSpPr>
        <p:spPr>
          <a:xfrm>
            <a:off x="709422" y="939800"/>
            <a:ext cx="766429"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Phase 4</a:t>
            </a:r>
            <a:endParaRPr lang="en-US" sz="1496" dirty="0"/>
          </a:p>
        </p:txBody>
      </p:sp>
      <p:sp>
        <p:nvSpPr>
          <p:cNvPr id="8" name="Text 6"/>
          <p:cNvSpPr txBox="1"/>
          <p:nvPr/>
        </p:nvSpPr>
        <p:spPr>
          <a:xfrm>
            <a:off x="1653207" y="927100"/>
            <a:ext cx="2134600"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Desktop Migration</a:t>
            </a:r>
            <a:endParaRPr lang="en-US" sz="1795" dirty="0"/>
          </a:p>
        </p:txBody>
      </p:sp>
      <p:sp>
        <p:nvSpPr>
          <p:cNvPr id="9" name="Text 7"/>
          <p:cNvSpPr txBox="1"/>
          <p:nvPr/>
        </p:nvSpPr>
        <p:spPr>
          <a:xfrm>
            <a:off x="608076" y="1244600"/>
            <a:ext cx="5371338" cy="457200"/>
          </a:xfrm>
          <a:prstGeom prst="rect">
            <a:avLst/>
          </a:prstGeom>
          <a:noFill/>
          <a:ln/>
        </p:spPr>
        <p:txBody>
          <a:bodyPr wrap="square" lIns="0" tIns="0" rIns="0" bIns="0" rtlCol="0" anchor="ctr"/>
          <a:lstStyle/>
          <a:p>
            <a:pPr algn="l" indent="0" marL="0">
              <a:buNone/>
            </a:pPr>
            <a:r>
              <a:rPr lang="en-US" sz="1496" b="1" i="1" dirty="0">
                <a:solidFill>
                  <a:srgbClr val="F1F5F9"/>
                </a:solidFill>
                <a:latin typeface="Century Gothic" pitchFamily="34" charset="0"/>
                <a:ea typeface="Century Gothic" pitchFamily="34" charset="-122"/>
                <a:cs typeface="Century Gothic" pitchFamily="34" charset="-120"/>
              </a:rPr>
              <a:t>Migrate desktop apps without disrupting familiar workflows.</a:t>
            </a:r>
            <a:endParaRPr lang="en-US" sz="1496" dirty="0"/>
          </a:p>
        </p:txBody>
      </p:sp>
      <p:pic>
        <p:nvPicPr>
          <p:cNvPr id="10" name="Image 0" descr="preencoded.png">    </p:cNvPr>
          <p:cNvPicPr>
            <a:picLocks noChangeAspect="1"/>
          </p:cNvPicPr>
          <p:nvPr/>
        </p:nvPicPr>
        <p:blipFill>
          <a:blip r:embed="rId1"/>
          <a:srcRect l="0" r="0" t="0" b="0"/>
          <a:stretch/>
        </p:blipFill>
        <p:spPr>
          <a:xfrm>
            <a:off x="608076" y="1866900"/>
            <a:ext cx="152019" cy="152400"/>
          </a:xfrm>
          <a:prstGeom prst="rect">
            <a:avLst/>
          </a:prstGeom>
        </p:spPr>
      </p:pic>
      <p:sp>
        <p:nvSpPr>
          <p:cNvPr id="11" name="Text 8"/>
          <p:cNvSpPr txBox="1"/>
          <p:nvPr/>
        </p:nvSpPr>
        <p:spPr>
          <a:xfrm>
            <a:off x="836105" y="1828800"/>
            <a:ext cx="304671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Preserve familiar UI/UX patterns</a:t>
            </a:r>
            <a:endParaRPr lang="en-US" sz="1496" dirty="0"/>
          </a:p>
        </p:txBody>
      </p:sp>
      <p:pic>
        <p:nvPicPr>
          <p:cNvPr id="12" name="Image 1" descr="preencoded.png">    </p:cNvPr>
          <p:cNvPicPr>
            <a:picLocks noChangeAspect="1"/>
          </p:cNvPicPr>
          <p:nvPr/>
        </p:nvPicPr>
        <p:blipFill>
          <a:blip r:embed="rId2"/>
          <a:srcRect l="0" r="0" t="0" b="0"/>
          <a:stretch/>
        </p:blipFill>
        <p:spPr>
          <a:xfrm>
            <a:off x="608076" y="2197100"/>
            <a:ext cx="152019" cy="152400"/>
          </a:xfrm>
          <a:prstGeom prst="rect">
            <a:avLst/>
          </a:prstGeom>
        </p:spPr>
      </p:pic>
      <p:sp>
        <p:nvSpPr>
          <p:cNvPr id="13" name="Text 9"/>
          <p:cNvSpPr txBox="1"/>
          <p:nvPr/>
        </p:nvSpPr>
        <p:spPr>
          <a:xfrm>
            <a:off x="836105" y="2159000"/>
            <a:ext cx="352177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Gradual feature parity — no big bang</a:t>
            </a:r>
            <a:endParaRPr lang="en-US" sz="1496" dirty="0"/>
          </a:p>
        </p:txBody>
      </p:sp>
      <p:pic>
        <p:nvPicPr>
          <p:cNvPr id="14" name="Image 2" descr="preencoded.png">    </p:cNvPr>
          <p:cNvPicPr>
            <a:picLocks noChangeAspect="1"/>
          </p:cNvPicPr>
          <p:nvPr/>
        </p:nvPicPr>
        <p:blipFill>
          <a:blip r:embed="rId3"/>
          <a:srcRect l="0" r="0" t="0" b="0"/>
          <a:stretch/>
        </p:blipFill>
        <p:spPr>
          <a:xfrm>
            <a:off x="608076" y="2527300"/>
            <a:ext cx="152019" cy="152400"/>
          </a:xfrm>
          <a:prstGeom prst="rect">
            <a:avLst/>
          </a:prstGeom>
        </p:spPr>
      </p:pic>
      <p:sp>
        <p:nvSpPr>
          <p:cNvPr id="15" name="Text 10"/>
          <p:cNvSpPr txBox="1"/>
          <p:nvPr/>
        </p:nvSpPr>
        <p:spPr>
          <a:xfrm>
            <a:off x="836105" y="2489200"/>
            <a:ext cx="2419636"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Designer-led beta testing</a:t>
            </a:r>
            <a:endParaRPr lang="en-US" sz="1496" dirty="0"/>
          </a:p>
        </p:txBody>
      </p:sp>
      <p:pic>
        <p:nvPicPr>
          <p:cNvPr id="16" name="Image 3" descr="preencoded.png">    </p:cNvPr>
          <p:cNvPicPr>
            <a:picLocks noChangeAspect="1"/>
          </p:cNvPicPr>
          <p:nvPr/>
        </p:nvPicPr>
        <p:blipFill>
          <a:blip r:embed="rId4"/>
          <a:srcRect l="0" r="0" t="0" b="0"/>
          <a:stretch/>
        </p:blipFill>
        <p:spPr>
          <a:xfrm>
            <a:off x="608076" y="2857500"/>
            <a:ext cx="152019" cy="152400"/>
          </a:xfrm>
          <a:prstGeom prst="rect">
            <a:avLst/>
          </a:prstGeom>
        </p:spPr>
      </p:pic>
      <p:sp>
        <p:nvSpPr>
          <p:cNvPr id="17" name="Text 11"/>
          <p:cNvSpPr txBox="1"/>
          <p:nvPr/>
        </p:nvSpPr>
        <p:spPr>
          <a:xfrm>
            <a:off x="836105" y="2819400"/>
            <a:ext cx="2863025"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Rollback available throughout</a:t>
            </a:r>
            <a:endParaRPr lang="en-US" sz="1496" dirty="0"/>
          </a:p>
        </p:txBody>
      </p:sp>
      <p:sp>
        <p:nvSpPr>
          <p:cNvPr id="18" name="Shape 12"/>
          <p:cNvSpPr/>
          <p:nvPr/>
        </p:nvSpPr>
        <p:spPr>
          <a:xfrm>
            <a:off x="608076" y="5740400"/>
            <a:ext cx="5371338" cy="381000"/>
          </a:xfrm>
          <a:prstGeom prst="roundRect">
            <a:avLst>
              <a:gd name="adj" fmla="val 2264"/>
            </a:avLst>
          </a:prstGeom>
          <a:solidFill>
            <a:srgbClr val="F472B6">
              <a:alpha val="15000"/>
            </a:srgbClr>
          </a:solidFill>
          <a:ln/>
        </p:spPr>
      </p:sp>
      <p:sp>
        <p:nvSpPr>
          <p:cNvPr id="19" name="Text 13"/>
          <p:cNvSpPr txBox="1"/>
          <p:nvPr/>
        </p:nvSpPr>
        <p:spPr>
          <a:xfrm>
            <a:off x="684086" y="5816600"/>
            <a:ext cx="5219319"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Designers adopt voluntarily, not by mandate.</a:t>
            </a:r>
            <a:endParaRPr lang="en-US" sz="1496" dirty="0"/>
          </a:p>
        </p:txBody>
      </p:sp>
      <p:sp>
        <p:nvSpPr>
          <p:cNvPr id="20" name="Text 14"/>
          <p:cNvSpPr txBox="1"/>
          <p:nvPr/>
        </p:nvSpPr>
        <p:spPr>
          <a:xfrm>
            <a:off x="6384798" y="685800"/>
            <a:ext cx="5371338" cy="254000"/>
          </a:xfrm>
          <a:prstGeom prst="rect">
            <a:avLst/>
          </a:prstGeom>
          <a:noFill/>
          <a:ln/>
        </p:spPr>
        <p:txBody>
          <a:bodyPr wrap="square" lIns="0" tIns="0" rIns="0" bIns="0" rtlCol="0" anchor="ctr"/>
          <a:lstStyle/>
          <a:p>
            <a:pPr algn="l" indent="0" marL="0">
              <a:buNone/>
            </a:pPr>
            <a:r>
              <a:rPr lang="en-US" sz="1795" b="1" dirty="0">
                <a:solidFill>
                  <a:srgbClr val="22D3EE"/>
                </a:solidFill>
                <a:latin typeface="Century Gothic" pitchFamily="34" charset="0"/>
                <a:ea typeface="Century Gothic" pitchFamily="34" charset="-122"/>
                <a:cs typeface="Century Gothic" pitchFamily="34" charset="-120"/>
              </a:rPr>
              <a:t>Change Management</a:t>
            </a:r>
            <a:endParaRPr lang="en-US" sz="1795" dirty="0"/>
          </a:p>
        </p:txBody>
      </p:sp>
      <p:sp>
        <p:nvSpPr>
          <p:cNvPr id="21" name="Shape 15"/>
          <p:cNvSpPr/>
          <p:nvPr/>
        </p:nvSpPr>
        <p:spPr>
          <a:xfrm>
            <a:off x="6384798" y="1066800"/>
            <a:ext cx="5371338" cy="1667867"/>
          </a:xfrm>
          <a:prstGeom prst="roundRect">
            <a:avLst>
              <a:gd name="adj" fmla="val 776"/>
            </a:avLst>
          </a:prstGeom>
          <a:solidFill>
            <a:srgbClr val="334155"/>
          </a:solidFill>
          <a:ln/>
        </p:spPr>
      </p:sp>
      <p:pic>
        <p:nvPicPr>
          <p:cNvPr id="22" name="Image 4" descr="preencoded.png">    </p:cNvPr>
          <p:cNvPicPr>
            <a:picLocks noChangeAspect="1"/>
          </p:cNvPicPr>
          <p:nvPr/>
        </p:nvPicPr>
        <p:blipFill>
          <a:blip r:embed="rId5"/>
          <a:srcRect l="0" r="0" t="0" b="0"/>
          <a:stretch/>
        </p:blipFill>
        <p:spPr>
          <a:xfrm>
            <a:off x="6536817" y="1773734"/>
            <a:ext cx="253365" cy="254000"/>
          </a:xfrm>
          <a:prstGeom prst="rect">
            <a:avLst/>
          </a:prstGeom>
        </p:spPr>
      </p:pic>
      <p:sp>
        <p:nvSpPr>
          <p:cNvPr id="23" name="Text 16"/>
          <p:cNvSpPr txBox="1"/>
          <p:nvPr/>
        </p:nvSpPr>
        <p:spPr>
          <a:xfrm>
            <a:off x="6916865" y="1557834"/>
            <a:ext cx="468725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Change Champions</a:t>
            </a:r>
            <a:endParaRPr lang="en-US" sz="1496" dirty="0"/>
          </a:p>
        </p:txBody>
      </p:sp>
      <p:sp>
        <p:nvSpPr>
          <p:cNvPr id="24" name="Text 17"/>
          <p:cNvSpPr txBox="1"/>
          <p:nvPr/>
        </p:nvSpPr>
        <p:spPr>
          <a:xfrm>
            <a:off x="6916865" y="1786434"/>
            <a:ext cx="4687253" cy="4572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Designers from the team lead adoption internally</a:t>
            </a:r>
            <a:endParaRPr lang="en-US" sz="1496" dirty="0"/>
          </a:p>
        </p:txBody>
      </p:sp>
      <p:sp>
        <p:nvSpPr>
          <p:cNvPr id="25" name="Shape 18"/>
          <p:cNvSpPr/>
          <p:nvPr/>
        </p:nvSpPr>
        <p:spPr>
          <a:xfrm>
            <a:off x="6384798" y="2861667"/>
            <a:ext cx="5371338" cy="1667966"/>
          </a:xfrm>
          <a:prstGeom prst="roundRect">
            <a:avLst>
              <a:gd name="adj" fmla="val 776"/>
            </a:avLst>
          </a:prstGeom>
          <a:solidFill>
            <a:srgbClr val="334155"/>
          </a:solidFill>
          <a:ln/>
        </p:spPr>
      </p:sp>
      <p:pic>
        <p:nvPicPr>
          <p:cNvPr id="26" name="Image 5" descr="preencoded.png">    </p:cNvPr>
          <p:cNvPicPr>
            <a:picLocks noChangeAspect="1"/>
          </p:cNvPicPr>
          <p:nvPr/>
        </p:nvPicPr>
        <p:blipFill>
          <a:blip r:embed="rId6"/>
          <a:srcRect l="0" r="0" t="0" b="0"/>
          <a:stretch/>
        </p:blipFill>
        <p:spPr>
          <a:xfrm>
            <a:off x="6536817" y="3568601"/>
            <a:ext cx="253365" cy="254000"/>
          </a:xfrm>
          <a:prstGeom prst="rect">
            <a:avLst/>
          </a:prstGeom>
        </p:spPr>
      </p:pic>
      <p:sp>
        <p:nvSpPr>
          <p:cNvPr id="27" name="Text 19"/>
          <p:cNvSpPr txBox="1"/>
          <p:nvPr/>
        </p:nvSpPr>
        <p:spPr>
          <a:xfrm>
            <a:off x="6916865" y="3467001"/>
            <a:ext cx="468725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Muscle Memory Preserved</a:t>
            </a:r>
            <a:endParaRPr lang="en-US" sz="1496" dirty="0"/>
          </a:p>
        </p:txBody>
      </p:sp>
      <p:sp>
        <p:nvSpPr>
          <p:cNvPr id="28" name="Text 20"/>
          <p:cNvSpPr txBox="1"/>
          <p:nvPr/>
        </p:nvSpPr>
        <p:spPr>
          <a:xfrm>
            <a:off x="6916865" y="3695601"/>
            <a:ext cx="4687253"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Shortcuts, layouts, and workflows carried forward</a:t>
            </a:r>
            <a:endParaRPr lang="en-US" sz="1496" dirty="0"/>
          </a:p>
        </p:txBody>
      </p:sp>
      <p:sp>
        <p:nvSpPr>
          <p:cNvPr id="29" name="Shape 21"/>
          <p:cNvSpPr/>
          <p:nvPr/>
        </p:nvSpPr>
        <p:spPr>
          <a:xfrm>
            <a:off x="6384798" y="4656634"/>
            <a:ext cx="5371338" cy="1667966"/>
          </a:xfrm>
          <a:prstGeom prst="roundRect">
            <a:avLst>
              <a:gd name="adj" fmla="val 776"/>
            </a:avLst>
          </a:prstGeom>
          <a:solidFill>
            <a:srgbClr val="334155"/>
          </a:solidFill>
          <a:ln/>
        </p:spPr>
      </p:sp>
      <p:pic>
        <p:nvPicPr>
          <p:cNvPr id="30" name="Image 6" descr="preencoded.png">    </p:cNvPr>
          <p:cNvPicPr>
            <a:picLocks noChangeAspect="1"/>
          </p:cNvPicPr>
          <p:nvPr/>
        </p:nvPicPr>
        <p:blipFill>
          <a:blip r:embed="rId7"/>
          <a:srcRect l="0" r="0" t="0" b="0"/>
          <a:stretch/>
        </p:blipFill>
        <p:spPr>
          <a:xfrm>
            <a:off x="6536817" y="5363567"/>
            <a:ext cx="253365" cy="254000"/>
          </a:xfrm>
          <a:prstGeom prst="rect">
            <a:avLst/>
          </a:prstGeom>
        </p:spPr>
      </p:pic>
      <p:sp>
        <p:nvSpPr>
          <p:cNvPr id="31" name="Text 22"/>
          <p:cNvSpPr txBox="1"/>
          <p:nvPr/>
        </p:nvSpPr>
        <p:spPr>
          <a:xfrm>
            <a:off x="6916865" y="5261967"/>
            <a:ext cx="468725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Blackout Periods</a:t>
            </a:r>
            <a:endParaRPr lang="en-US" sz="1496" dirty="0"/>
          </a:p>
        </p:txBody>
      </p:sp>
      <p:sp>
        <p:nvSpPr>
          <p:cNvPr id="32" name="Text 23"/>
          <p:cNvSpPr txBox="1"/>
          <p:nvPr/>
        </p:nvSpPr>
        <p:spPr>
          <a:xfrm>
            <a:off x="6916865" y="5490567"/>
            <a:ext cx="4687253"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No migrations during product launch windows</a:t>
            </a:r>
            <a:endParaRPr lang="en-US" sz="1496" dirty="0"/>
          </a:p>
        </p:txBody>
      </p:sp>
      <p:sp>
        <p:nvSpPr>
          <p:cNvPr id="33" name="Text 24"/>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4" name="Text 25"/>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1716548" cy="279400"/>
          </a:xfrm>
          <a:prstGeom prst="roundRect">
            <a:avLst>
              <a:gd name="adj" fmla="val 12075277"/>
            </a:avLst>
          </a:prstGeom>
          <a:solidFill>
            <a:srgbClr val="22D3EE"/>
          </a:solidFill>
          <a:ln/>
        </p:spPr>
      </p:sp>
      <p:sp>
        <p:nvSpPr>
          <p:cNvPr id="3" name="Text 1"/>
          <p:cNvSpPr txBox="1"/>
          <p:nvPr/>
        </p:nvSpPr>
        <p:spPr>
          <a:xfrm>
            <a:off x="532067" y="279400"/>
            <a:ext cx="1463183"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Phase 5</a:t>
            </a:r>
            <a:endParaRPr lang="en-US" sz="1496" dirty="0"/>
          </a:p>
        </p:txBody>
      </p:sp>
      <p:sp>
        <p:nvSpPr>
          <p:cNvPr id="4" name="Text 2"/>
          <p:cNvSpPr txBox="1"/>
          <p:nvPr/>
        </p:nvSpPr>
        <p:spPr>
          <a:xfrm>
            <a:off x="2223278" y="203200"/>
            <a:ext cx="4908947"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AI Strategy (Months 12–18)</a:t>
            </a:r>
            <a:endParaRPr lang="en-US" sz="2993" dirty="0"/>
          </a:p>
        </p:txBody>
      </p:sp>
      <p:sp>
        <p:nvSpPr>
          <p:cNvPr id="5" name="Text 3"/>
          <p:cNvSpPr txBox="1"/>
          <p:nvPr/>
        </p:nvSpPr>
        <p:spPr>
          <a:xfrm>
            <a:off x="405384" y="2616200"/>
            <a:ext cx="4514648" cy="254000"/>
          </a:xfrm>
          <a:prstGeom prst="rect">
            <a:avLst/>
          </a:prstGeom>
          <a:noFill/>
          <a:ln/>
        </p:spPr>
        <p:txBody>
          <a:bodyPr wrap="square" lIns="0" tIns="0" rIns="0" bIns="0" rtlCol="0" anchor="ctr"/>
          <a:lstStyle/>
          <a:p>
            <a:pPr algn="l" indent="0" marL="0">
              <a:buNone/>
            </a:pPr>
            <a:r>
              <a:rPr lang="en-US" sz="1795" b="1" i="1" dirty="0">
                <a:solidFill>
                  <a:srgbClr val="F1F5F9"/>
                </a:solidFill>
                <a:latin typeface="Century Gothic" pitchFamily="34" charset="0"/>
                <a:ea typeface="Century Gothic" pitchFamily="34" charset="-122"/>
                <a:cs typeface="Century Gothic" pitchFamily="34" charset="-120"/>
              </a:rPr>
              <a:t>AI as amplification, not replacement</a:t>
            </a:r>
            <a:endParaRPr lang="en-US" sz="1795" dirty="0"/>
          </a:p>
        </p:txBody>
      </p:sp>
      <p:sp>
        <p:nvSpPr>
          <p:cNvPr id="6" name="Text 4"/>
          <p:cNvSpPr txBox="1"/>
          <p:nvPr/>
        </p:nvSpPr>
        <p:spPr>
          <a:xfrm>
            <a:off x="405384" y="3022600"/>
            <a:ext cx="451464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Measured, tested, designer-vetoed</a:t>
            </a:r>
            <a:endParaRPr lang="en-US" sz="1496" dirty="0"/>
          </a:p>
        </p:txBody>
      </p:sp>
      <p:pic>
        <p:nvPicPr>
          <p:cNvPr id="7" name="Image 0" descr="preencoded.png">    </p:cNvPr>
          <p:cNvPicPr>
            <a:picLocks noChangeAspect="1"/>
          </p:cNvPicPr>
          <p:nvPr/>
        </p:nvPicPr>
        <p:blipFill>
          <a:blip r:embed="rId1"/>
          <a:srcRect l="0" r="0" t="0" b="0"/>
          <a:stretch/>
        </p:blipFill>
        <p:spPr>
          <a:xfrm>
            <a:off x="405384" y="3543300"/>
            <a:ext cx="152019" cy="152400"/>
          </a:xfrm>
          <a:prstGeom prst="rect">
            <a:avLst/>
          </a:prstGeom>
        </p:spPr>
      </p:pic>
      <p:sp>
        <p:nvSpPr>
          <p:cNvPr id="8" name="Text 5"/>
          <p:cNvSpPr txBox="1"/>
          <p:nvPr/>
        </p:nvSpPr>
        <p:spPr>
          <a:xfrm>
            <a:off x="633413" y="3505200"/>
            <a:ext cx="205225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A/B test every feature</a:t>
            </a:r>
            <a:endParaRPr lang="en-US" sz="1496" dirty="0"/>
          </a:p>
        </p:txBody>
      </p:sp>
      <p:pic>
        <p:nvPicPr>
          <p:cNvPr id="9" name="Image 1" descr="preencoded.png">    </p:cNvPr>
          <p:cNvPicPr>
            <a:picLocks noChangeAspect="1"/>
          </p:cNvPicPr>
          <p:nvPr/>
        </p:nvPicPr>
        <p:blipFill>
          <a:blip r:embed="rId2"/>
          <a:srcRect l="0" r="0" t="0" b="0"/>
          <a:stretch/>
        </p:blipFill>
        <p:spPr>
          <a:xfrm>
            <a:off x="405384" y="3873500"/>
            <a:ext cx="152019" cy="152400"/>
          </a:xfrm>
          <a:prstGeom prst="rect">
            <a:avLst/>
          </a:prstGeom>
        </p:spPr>
      </p:pic>
      <p:sp>
        <p:nvSpPr>
          <p:cNvPr id="10" name="Text 6"/>
          <p:cNvSpPr txBox="1"/>
          <p:nvPr/>
        </p:nvSpPr>
        <p:spPr>
          <a:xfrm>
            <a:off x="633413" y="3835400"/>
            <a:ext cx="261599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Measurable ROI per feature</a:t>
            </a:r>
            <a:endParaRPr lang="en-US" sz="1496" dirty="0"/>
          </a:p>
        </p:txBody>
      </p:sp>
      <p:pic>
        <p:nvPicPr>
          <p:cNvPr id="11" name="Image 2" descr="preencoded.png">    </p:cNvPr>
          <p:cNvPicPr>
            <a:picLocks noChangeAspect="1"/>
          </p:cNvPicPr>
          <p:nvPr/>
        </p:nvPicPr>
        <p:blipFill>
          <a:blip r:embed="rId3"/>
          <a:srcRect l="0" r="0" t="0" b="0"/>
          <a:stretch/>
        </p:blipFill>
        <p:spPr>
          <a:xfrm>
            <a:off x="405384" y="4203700"/>
            <a:ext cx="152019" cy="152400"/>
          </a:xfrm>
          <a:prstGeom prst="rect">
            <a:avLst/>
          </a:prstGeom>
        </p:spPr>
      </p:pic>
      <p:sp>
        <p:nvSpPr>
          <p:cNvPr id="12" name="Text 7"/>
          <p:cNvSpPr txBox="1"/>
          <p:nvPr/>
        </p:nvSpPr>
        <p:spPr>
          <a:xfrm>
            <a:off x="633413" y="4165600"/>
            <a:ext cx="3084719"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Designer veto on AI suggestions</a:t>
            </a:r>
            <a:endParaRPr lang="en-US" sz="1496" dirty="0"/>
          </a:p>
        </p:txBody>
      </p:sp>
      <p:sp>
        <p:nvSpPr>
          <p:cNvPr id="13" name="Shape 8"/>
          <p:cNvSpPr/>
          <p:nvPr/>
        </p:nvSpPr>
        <p:spPr>
          <a:xfrm>
            <a:off x="5122724" y="685800"/>
            <a:ext cx="6633412" cy="1794867"/>
          </a:xfrm>
          <a:prstGeom prst="roundRect">
            <a:avLst>
              <a:gd name="adj" fmla="val 584"/>
            </a:avLst>
          </a:prstGeom>
          <a:solidFill>
            <a:srgbClr val="1E293B"/>
          </a:solidFill>
          <a:ln w="12700">
            <a:solidFill>
              <a:srgbClr val="E5E7EB"/>
            </a:solidFill>
            <a:prstDash val="solid"/>
          </a:ln>
        </p:spPr>
      </p:sp>
      <p:pic>
        <p:nvPicPr>
          <p:cNvPr id="14" name="Image 3" descr="preencoded.png">    </p:cNvPr>
          <p:cNvPicPr>
            <a:picLocks noChangeAspect="1"/>
          </p:cNvPicPr>
          <p:nvPr/>
        </p:nvPicPr>
        <p:blipFill>
          <a:blip r:embed="rId4"/>
          <a:srcRect l="0" r="0" t="0" b="0"/>
          <a:stretch/>
        </p:blipFill>
        <p:spPr>
          <a:xfrm>
            <a:off x="5300079" y="1456234"/>
            <a:ext cx="253365" cy="254000"/>
          </a:xfrm>
          <a:prstGeom prst="rect">
            <a:avLst/>
          </a:prstGeom>
        </p:spPr>
      </p:pic>
      <p:sp>
        <p:nvSpPr>
          <p:cNvPr id="15" name="Text 9"/>
          <p:cNvSpPr txBox="1"/>
          <p:nvPr/>
        </p:nvSpPr>
        <p:spPr>
          <a:xfrm>
            <a:off x="5705463" y="1151434"/>
            <a:ext cx="3274743"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Tier 1 — Low Risk, High Value</a:t>
            </a:r>
            <a:endParaRPr lang="en-US" sz="1795" dirty="0"/>
          </a:p>
        </p:txBody>
      </p:sp>
      <p:sp>
        <p:nvSpPr>
          <p:cNvPr id="16" name="Shape 10"/>
          <p:cNvSpPr/>
          <p:nvPr/>
        </p:nvSpPr>
        <p:spPr>
          <a:xfrm>
            <a:off x="9056215" y="1138734"/>
            <a:ext cx="1000792" cy="279400"/>
          </a:xfrm>
          <a:prstGeom prst="roundRect">
            <a:avLst>
              <a:gd name="adj" fmla="val 20711392"/>
            </a:avLst>
          </a:prstGeom>
          <a:solidFill>
            <a:srgbClr val="34D399">
              <a:alpha val="20000"/>
            </a:srgbClr>
          </a:solidFill>
          <a:ln/>
        </p:spPr>
      </p:sp>
      <p:sp>
        <p:nvSpPr>
          <p:cNvPr id="17" name="Text 11"/>
          <p:cNvSpPr txBox="1"/>
          <p:nvPr/>
        </p:nvSpPr>
        <p:spPr>
          <a:xfrm>
            <a:off x="9132225" y="1164134"/>
            <a:ext cx="848773" cy="228600"/>
          </a:xfrm>
          <a:prstGeom prst="rect">
            <a:avLst/>
          </a:prstGeom>
          <a:noFill/>
          <a:ln/>
        </p:spPr>
        <p:txBody>
          <a:bodyPr wrap="square" lIns="0" tIns="0" rIns="0" bIns="0" rtlCol="0" anchor="ctr"/>
          <a:lstStyle/>
          <a:p>
            <a:pPr algn="l" indent="0" marL="0">
              <a:buNone/>
            </a:pPr>
            <a:r>
              <a:rPr lang="en-US" sz="1496" b="1" dirty="0">
                <a:solidFill>
                  <a:srgbClr val="34D399"/>
                </a:solidFill>
                <a:latin typeface="Century Gothic" pitchFamily="34" charset="0"/>
                <a:ea typeface="Century Gothic" pitchFamily="34" charset="-122"/>
                <a:cs typeface="Century Gothic" pitchFamily="34" charset="-120"/>
              </a:rPr>
              <a:t>Low Risk</a:t>
            </a:r>
            <a:endParaRPr lang="en-US" sz="1496" dirty="0"/>
          </a:p>
        </p:txBody>
      </p:sp>
      <p:sp>
        <p:nvSpPr>
          <p:cNvPr id="18" name="Shape 12"/>
          <p:cNvSpPr/>
          <p:nvPr/>
        </p:nvSpPr>
        <p:spPr>
          <a:xfrm>
            <a:off x="5705463" y="1468934"/>
            <a:ext cx="1469517" cy="279400"/>
          </a:xfrm>
          <a:prstGeom prst="roundRect">
            <a:avLst>
              <a:gd name="adj" fmla="val 11285"/>
            </a:avLst>
          </a:prstGeom>
          <a:solidFill>
            <a:srgbClr val="334155"/>
          </a:solidFill>
          <a:ln/>
        </p:spPr>
      </p:sp>
      <p:sp>
        <p:nvSpPr>
          <p:cNvPr id="19" name="Text 13"/>
          <p:cNvSpPr txBox="1"/>
          <p:nvPr/>
        </p:nvSpPr>
        <p:spPr>
          <a:xfrm>
            <a:off x="5806809" y="1494334"/>
            <a:ext cx="1266825"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Smart search</a:t>
            </a:r>
            <a:endParaRPr lang="en-US" sz="1496" dirty="0"/>
          </a:p>
        </p:txBody>
      </p:sp>
      <p:sp>
        <p:nvSpPr>
          <p:cNvPr id="20" name="Shape 14"/>
          <p:cNvSpPr/>
          <p:nvPr/>
        </p:nvSpPr>
        <p:spPr>
          <a:xfrm>
            <a:off x="7250990" y="1468934"/>
            <a:ext cx="1488519" cy="279400"/>
          </a:xfrm>
          <a:prstGeom prst="roundRect">
            <a:avLst>
              <a:gd name="adj" fmla="val 11141"/>
            </a:avLst>
          </a:prstGeom>
          <a:solidFill>
            <a:srgbClr val="334155"/>
          </a:solidFill>
          <a:ln/>
        </p:spPr>
      </p:sp>
      <p:sp>
        <p:nvSpPr>
          <p:cNvPr id="21" name="Text 15"/>
          <p:cNvSpPr txBox="1"/>
          <p:nvPr/>
        </p:nvSpPr>
        <p:spPr>
          <a:xfrm>
            <a:off x="7352336" y="1494334"/>
            <a:ext cx="128582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Auto-tagging</a:t>
            </a:r>
            <a:endParaRPr lang="en-US" sz="1496" dirty="0"/>
          </a:p>
        </p:txBody>
      </p:sp>
      <p:sp>
        <p:nvSpPr>
          <p:cNvPr id="22" name="Text 16"/>
          <p:cNvSpPr txBox="1"/>
          <p:nvPr/>
        </p:nvSpPr>
        <p:spPr>
          <a:xfrm>
            <a:off x="5705463" y="1799134"/>
            <a:ext cx="5898654"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Start here</a:t>
            </a:r>
            <a:endParaRPr lang="en-US" sz="1496" dirty="0"/>
          </a:p>
        </p:txBody>
      </p:sp>
      <p:sp>
        <p:nvSpPr>
          <p:cNvPr id="23" name="Shape 17"/>
          <p:cNvSpPr/>
          <p:nvPr/>
        </p:nvSpPr>
        <p:spPr>
          <a:xfrm>
            <a:off x="5122724" y="2607667"/>
            <a:ext cx="6633412" cy="1794966"/>
          </a:xfrm>
          <a:prstGeom prst="roundRect">
            <a:avLst>
              <a:gd name="adj" fmla="val 584"/>
            </a:avLst>
          </a:prstGeom>
          <a:solidFill>
            <a:srgbClr val="1E293B"/>
          </a:solidFill>
          <a:ln w="12700">
            <a:solidFill>
              <a:srgbClr val="E5E7EB"/>
            </a:solidFill>
            <a:prstDash val="solid"/>
          </a:ln>
        </p:spPr>
      </p:sp>
      <p:pic>
        <p:nvPicPr>
          <p:cNvPr id="24" name="Image 4" descr="preencoded.png">    </p:cNvPr>
          <p:cNvPicPr>
            <a:picLocks noChangeAspect="1"/>
          </p:cNvPicPr>
          <p:nvPr/>
        </p:nvPicPr>
        <p:blipFill>
          <a:blip r:embed="rId5"/>
          <a:srcRect l="0" r="0" t="0" b="0"/>
          <a:stretch/>
        </p:blipFill>
        <p:spPr>
          <a:xfrm>
            <a:off x="5300079" y="3378101"/>
            <a:ext cx="253365" cy="254000"/>
          </a:xfrm>
          <a:prstGeom prst="rect">
            <a:avLst/>
          </a:prstGeom>
        </p:spPr>
      </p:pic>
      <p:sp>
        <p:nvSpPr>
          <p:cNvPr id="25" name="Text 18"/>
          <p:cNvSpPr txBox="1"/>
          <p:nvPr/>
        </p:nvSpPr>
        <p:spPr>
          <a:xfrm>
            <a:off x="5705463" y="3073301"/>
            <a:ext cx="3262074"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Tier 2 — Medium Complexity</a:t>
            </a:r>
            <a:endParaRPr lang="en-US" sz="1795" dirty="0"/>
          </a:p>
        </p:txBody>
      </p:sp>
      <p:sp>
        <p:nvSpPr>
          <p:cNvPr id="26" name="Shape 19"/>
          <p:cNvSpPr/>
          <p:nvPr/>
        </p:nvSpPr>
        <p:spPr>
          <a:xfrm>
            <a:off x="9043547" y="3060601"/>
            <a:ext cx="1406176" cy="279400"/>
          </a:xfrm>
          <a:prstGeom prst="roundRect">
            <a:avLst>
              <a:gd name="adj" fmla="val 14740541"/>
            </a:avLst>
          </a:prstGeom>
          <a:solidFill>
            <a:srgbClr val="FBBF24">
              <a:alpha val="20000"/>
            </a:srgbClr>
          </a:solidFill>
          <a:ln/>
        </p:spPr>
      </p:sp>
      <p:sp>
        <p:nvSpPr>
          <p:cNvPr id="27" name="Text 20"/>
          <p:cNvSpPr txBox="1"/>
          <p:nvPr/>
        </p:nvSpPr>
        <p:spPr>
          <a:xfrm>
            <a:off x="9119556" y="3086001"/>
            <a:ext cx="1254157" cy="228600"/>
          </a:xfrm>
          <a:prstGeom prst="rect">
            <a:avLst/>
          </a:prstGeom>
          <a:noFill/>
          <a:ln/>
        </p:spPr>
        <p:txBody>
          <a:bodyPr wrap="square" lIns="0" tIns="0" rIns="0" bIns="0" rtlCol="0" anchor="ctr"/>
          <a:lstStyle/>
          <a:p>
            <a:pPr algn="l" indent="0" marL="0">
              <a:buNone/>
            </a:pPr>
            <a:r>
              <a:rPr lang="en-US" sz="1496" b="1" dirty="0">
                <a:solidFill>
                  <a:srgbClr val="FBBF24"/>
                </a:solidFill>
                <a:latin typeface="Century Gothic" pitchFamily="34" charset="0"/>
                <a:ea typeface="Century Gothic" pitchFamily="34" charset="-122"/>
                <a:cs typeface="Century Gothic" pitchFamily="34" charset="-120"/>
              </a:rPr>
              <a:t>Medium Risk</a:t>
            </a:r>
            <a:endParaRPr lang="en-US" sz="1496" dirty="0"/>
          </a:p>
        </p:txBody>
      </p:sp>
      <p:sp>
        <p:nvSpPr>
          <p:cNvPr id="28" name="Shape 21"/>
          <p:cNvSpPr/>
          <p:nvPr/>
        </p:nvSpPr>
        <p:spPr>
          <a:xfrm>
            <a:off x="5705463" y="3390801"/>
            <a:ext cx="1849564" cy="279400"/>
          </a:xfrm>
          <a:prstGeom prst="roundRect">
            <a:avLst>
              <a:gd name="adj" fmla="val 8966"/>
            </a:avLst>
          </a:prstGeom>
          <a:solidFill>
            <a:srgbClr val="334155"/>
          </a:solidFill>
          <a:ln/>
        </p:spPr>
      </p:sp>
      <p:sp>
        <p:nvSpPr>
          <p:cNvPr id="29" name="Text 22"/>
          <p:cNvSpPr txBox="1"/>
          <p:nvPr/>
        </p:nvSpPr>
        <p:spPr>
          <a:xfrm>
            <a:off x="5806809" y="3416201"/>
            <a:ext cx="1646873"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 variations</a:t>
            </a:r>
            <a:endParaRPr lang="en-US" sz="1496" dirty="0"/>
          </a:p>
        </p:txBody>
      </p:sp>
      <p:sp>
        <p:nvSpPr>
          <p:cNvPr id="30" name="Shape 23"/>
          <p:cNvSpPr/>
          <p:nvPr/>
        </p:nvSpPr>
        <p:spPr>
          <a:xfrm>
            <a:off x="7631037" y="3390801"/>
            <a:ext cx="2014252" cy="279400"/>
          </a:xfrm>
          <a:prstGeom prst="roundRect">
            <a:avLst>
              <a:gd name="adj" fmla="val 8233"/>
            </a:avLst>
          </a:prstGeom>
          <a:solidFill>
            <a:srgbClr val="334155"/>
          </a:solidFill>
          <a:ln/>
        </p:spPr>
      </p:sp>
      <p:sp>
        <p:nvSpPr>
          <p:cNvPr id="31" name="Text 24"/>
          <p:cNvSpPr txBox="1"/>
          <p:nvPr/>
        </p:nvSpPr>
        <p:spPr>
          <a:xfrm>
            <a:off x="7732383" y="3416201"/>
            <a:ext cx="181156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Anomaly detection</a:t>
            </a:r>
            <a:endParaRPr lang="en-US" sz="1496" dirty="0"/>
          </a:p>
        </p:txBody>
      </p:sp>
      <p:sp>
        <p:nvSpPr>
          <p:cNvPr id="32" name="Text 25"/>
          <p:cNvSpPr txBox="1"/>
          <p:nvPr/>
        </p:nvSpPr>
        <p:spPr>
          <a:xfrm>
            <a:off x="5705463" y="3721001"/>
            <a:ext cx="5898654"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Proven demand</a:t>
            </a:r>
            <a:endParaRPr lang="en-US" sz="1496" dirty="0"/>
          </a:p>
        </p:txBody>
      </p:sp>
      <p:sp>
        <p:nvSpPr>
          <p:cNvPr id="33" name="Shape 26"/>
          <p:cNvSpPr/>
          <p:nvPr/>
        </p:nvSpPr>
        <p:spPr>
          <a:xfrm>
            <a:off x="5122724" y="4529634"/>
            <a:ext cx="6633412" cy="1794966"/>
          </a:xfrm>
          <a:prstGeom prst="roundRect">
            <a:avLst>
              <a:gd name="adj" fmla="val 584"/>
            </a:avLst>
          </a:prstGeom>
          <a:solidFill>
            <a:srgbClr val="1E293B"/>
          </a:solidFill>
          <a:ln w="12700">
            <a:solidFill>
              <a:srgbClr val="E5E7EB"/>
            </a:solidFill>
            <a:prstDash val="solid"/>
          </a:ln>
        </p:spPr>
      </p:sp>
      <p:pic>
        <p:nvPicPr>
          <p:cNvPr id="34" name="Image 5" descr="preencoded.png">    </p:cNvPr>
          <p:cNvPicPr>
            <a:picLocks noChangeAspect="1"/>
          </p:cNvPicPr>
          <p:nvPr/>
        </p:nvPicPr>
        <p:blipFill>
          <a:blip r:embed="rId6"/>
          <a:srcRect l="0" r="0" t="0" b="0"/>
          <a:stretch/>
        </p:blipFill>
        <p:spPr>
          <a:xfrm>
            <a:off x="5300079" y="5300067"/>
            <a:ext cx="253365" cy="254000"/>
          </a:xfrm>
          <a:prstGeom prst="rect">
            <a:avLst/>
          </a:prstGeom>
        </p:spPr>
      </p:pic>
      <p:sp>
        <p:nvSpPr>
          <p:cNvPr id="35" name="Text 27"/>
          <p:cNvSpPr txBox="1"/>
          <p:nvPr/>
        </p:nvSpPr>
        <p:spPr>
          <a:xfrm>
            <a:off x="5705463" y="4995267"/>
            <a:ext cx="2476643" cy="254000"/>
          </a:xfrm>
          <a:prstGeom prst="rect">
            <a:avLst/>
          </a:prstGeom>
          <a:noFill/>
          <a:ln/>
        </p:spPr>
        <p:txBody>
          <a:bodyPr wrap="square" lIns="0" tIns="0" rIns="0" bIns="0" rtlCol="0" anchor="ctr"/>
          <a:lstStyle/>
          <a:p>
            <a:pPr algn="l" indent="0" marL="0">
              <a:buNone/>
            </a:pPr>
            <a:r>
              <a:rPr lang="en-US" sz="1795" b="1" dirty="0">
                <a:solidFill>
                  <a:srgbClr val="F1F5F9"/>
                </a:solidFill>
                <a:latin typeface="Century Gothic" pitchFamily="34" charset="0"/>
                <a:ea typeface="Century Gothic" pitchFamily="34" charset="-122"/>
                <a:cs typeface="Century Gothic" pitchFamily="34" charset="-120"/>
              </a:rPr>
              <a:t>Tier 3 — Experimental</a:t>
            </a:r>
            <a:endParaRPr lang="en-US" sz="1795" dirty="0"/>
          </a:p>
        </p:txBody>
      </p:sp>
      <p:sp>
        <p:nvSpPr>
          <p:cNvPr id="36" name="Shape 28"/>
          <p:cNvSpPr/>
          <p:nvPr/>
        </p:nvSpPr>
        <p:spPr>
          <a:xfrm>
            <a:off x="8258115" y="4982567"/>
            <a:ext cx="1102138" cy="279400"/>
          </a:xfrm>
          <a:prstGeom prst="roundRect">
            <a:avLst>
              <a:gd name="adj" fmla="val 18806897"/>
            </a:avLst>
          </a:prstGeom>
          <a:solidFill>
            <a:srgbClr val="A78BFA">
              <a:alpha val="20000"/>
            </a:srgbClr>
          </a:solidFill>
          <a:ln/>
        </p:spPr>
      </p:sp>
      <p:sp>
        <p:nvSpPr>
          <p:cNvPr id="37" name="Text 29"/>
          <p:cNvSpPr txBox="1"/>
          <p:nvPr/>
        </p:nvSpPr>
        <p:spPr>
          <a:xfrm>
            <a:off x="8334125" y="5007967"/>
            <a:ext cx="950119" cy="228600"/>
          </a:xfrm>
          <a:prstGeom prst="rect">
            <a:avLst/>
          </a:prstGeom>
          <a:noFill/>
          <a:ln/>
        </p:spPr>
        <p:txBody>
          <a:bodyPr wrap="square" lIns="0" tIns="0" rIns="0" bIns="0" rtlCol="0" anchor="ctr"/>
          <a:lstStyle/>
          <a:p>
            <a:pPr algn="l" indent="0" marL="0">
              <a:buNone/>
            </a:pPr>
            <a:r>
              <a:rPr lang="en-US" sz="1496" b="1" dirty="0">
                <a:solidFill>
                  <a:srgbClr val="A78BFA"/>
                </a:solidFill>
                <a:latin typeface="Century Gothic" pitchFamily="34" charset="0"/>
                <a:ea typeface="Century Gothic" pitchFamily="34" charset="-122"/>
                <a:cs typeface="Century Gothic" pitchFamily="34" charset="-120"/>
              </a:rPr>
              <a:t>Measured</a:t>
            </a:r>
            <a:endParaRPr lang="en-US" sz="1496" dirty="0"/>
          </a:p>
        </p:txBody>
      </p:sp>
      <p:sp>
        <p:nvSpPr>
          <p:cNvPr id="38" name="Shape 30"/>
          <p:cNvSpPr/>
          <p:nvPr/>
        </p:nvSpPr>
        <p:spPr>
          <a:xfrm>
            <a:off x="5705463" y="5312767"/>
            <a:ext cx="1564529" cy="279400"/>
          </a:xfrm>
          <a:prstGeom prst="roundRect">
            <a:avLst>
              <a:gd name="adj" fmla="val 10600"/>
            </a:avLst>
          </a:prstGeom>
          <a:solidFill>
            <a:srgbClr val="334155"/>
          </a:solidFill>
          <a:ln/>
        </p:spPr>
      </p:sp>
      <p:sp>
        <p:nvSpPr>
          <p:cNvPr id="39" name="Text 31"/>
          <p:cNvSpPr txBox="1"/>
          <p:nvPr/>
        </p:nvSpPr>
        <p:spPr>
          <a:xfrm>
            <a:off x="5806809" y="5338167"/>
            <a:ext cx="1361837"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Text-to-design</a:t>
            </a:r>
            <a:endParaRPr lang="en-US" sz="1496" dirty="0"/>
          </a:p>
        </p:txBody>
      </p:sp>
      <p:sp>
        <p:nvSpPr>
          <p:cNvPr id="40" name="Shape 32"/>
          <p:cNvSpPr/>
          <p:nvPr/>
        </p:nvSpPr>
        <p:spPr>
          <a:xfrm>
            <a:off x="7346001" y="5312767"/>
            <a:ext cx="1437846" cy="279400"/>
          </a:xfrm>
          <a:prstGeom prst="roundRect">
            <a:avLst>
              <a:gd name="adj" fmla="val 11534"/>
            </a:avLst>
          </a:prstGeom>
          <a:solidFill>
            <a:srgbClr val="334155"/>
          </a:solidFill>
          <a:ln/>
        </p:spPr>
      </p:sp>
      <p:sp>
        <p:nvSpPr>
          <p:cNvPr id="41" name="Text 33"/>
          <p:cNvSpPr txBox="1"/>
          <p:nvPr/>
        </p:nvSpPr>
        <p:spPr>
          <a:xfrm>
            <a:off x="7447347" y="5338167"/>
            <a:ext cx="1235154"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Style transfer</a:t>
            </a:r>
            <a:endParaRPr lang="en-US" sz="1496" dirty="0"/>
          </a:p>
        </p:txBody>
      </p:sp>
      <p:sp>
        <p:nvSpPr>
          <p:cNvPr id="42" name="Text 34"/>
          <p:cNvSpPr txBox="1"/>
          <p:nvPr/>
        </p:nvSpPr>
        <p:spPr>
          <a:xfrm>
            <a:off x="5705463" y="5642967"/>
            <a:ext cx="5898654"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Only if ROI proven</a:t>
            </a:r>
            <a:endParaRPr lang="en-US" sz="1496" dirty="0"/>
          </a:p>
        </p:txBody>
      </p:sp>
      <p:sp>
        <p:nvSpPr>
          <p:cNvPr id="43" name="Text 35"/>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44" name="Text 36"/>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3072051" cy="279400"/>
          </a:xfrm>
          <a:prstGeom prst="roundRect">
            <a:avLst>
              <a:gd name="adj" fmla="val 6747216"/>
            </a:avLst>
          </a:prstGeom>
          <a:solidFill>
            <a:srgbClr val="22D3EE"/>
          </a:solidFill>
          <a:ln/>
        </p:spPr>
      </p:sp>
      <p:sp>
        <p:nvSpPr>
          <p:cNvPr id="3" name="Text 1"/>
          <p:cNvSpPr txBox="1"/>
          <p:nvPr/>
        </p:nvSpPr>
        <p:spPr>
          <a:xfrm>
            <a:off x="532067" y="279400"/>
            <a:ext cx="2818686"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Change Management</a:t>
            </a:r>
            <a:endParaRPr lang="en-US" sz="1496" dirty="0"/>
          </a:p>
        </p:txBody>
      </p:sp>
      <p:sp>
        <p:nvSpPr>
          <p:cNvPr id="4" name="Text 2"/>
          <p:cNvSpPr txBox="1"/>
          <p:nvPr/>
        </p:nvSpPr>
        <p:spPr>
          <a:xfrm>
            <a:off x="3578781" y="203200"/>
            <a:ext cx="6745843"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Meeting Designers Where They Are</a:t>
            </a:r>
            <a:endParaRPr lang="en-US" sz="2993" dirty="0"/>
          </a:p>
        </p:txBody>
      </p:sp>
      <p:sp>
        <p:nvSpPr>
          <p:cNvPr id="5" name="Shape 3"/>
          <p:cNvSpPr/>
          <p:nvPr/>
        </p:nvSpPr>
        <p:spPr>
          <a:xfrm>
            <a:off x="405384" y="685800"/>
            <a:ext cx="11350752" cy="482600"/>
          </a:xfrm>
          <a:prstGeom prst="roundRect">
            <a:avLst>
              <a:gd name="adj" fmla="val 1269"/>
            </a:avLst>
          </a:prstGeom>
          <a:solidFill>
            <a:srgbClr val="6366F1"/>
          </a:solidFill>
          <a:ln/>
        </p:spPr>
      </p:sp>
      <p:sp>
        <p:nvSpPr>
          <p:cNvPr id="6" name="Text 4"/>
          <p:cNvSpPr txBox="1"/>
          <p:nvPr/>
        </p:nvSpPr>
        <p:spPr>
          <a:xfrm>
            <a:off x="532067" y="812800"/>
            <a:ext cx="542201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Designer Concern</a:t>
            </a:r>
            <a:endParaRPr lang="en-US" sz="1496" dirty="0"/>
          </a:p>
        </p:txBody>
      </p:sp>
      <p:sp>
        <p:nvSpPr>
          <p:cNvPr id="7" name="Text 5"/>
          <p:cNvSpPr txBox="1"/>
          <p:nvPr/>
        </p:nvSpPr>
        <p:spPr>
          <a:xfrm>
            <a:off x="6207443" y="812800"/>
            <a:ext cx="542201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Our Response</a:t>
            </a:r>
            <a:endParaRPr lang="en-US" sz="1496" dirty="0"/>
          </a:p>
        </p:txBody>
      </p:sp>
      <p:sp>
        <p:nvSpPr>
          <p:cNvPr id="8" name="Shape 6"/>
          <p:cNvSpPr/>
          <p:nvPr/>
        </p:nvSpPr>
        <p:spPr>
          <a:xfrm>
            <a:off x="405384" y="1168400"/>
            <a:ext cx="11350752" cy="1031180"/>
          </a:xfrm>
          <a:prstGeom prst="rect">
            <a:avLst/>
          </a:prstGeom>
          <a:solidFill>
            <a:srgbClr val="1E293B"/>
          </a:solidFill>
          <a:ln/>
        </p:spPr>
      </p:sp>
      <p:sp>
        <p:nvSpPr>
          <p:cNvPr id="9" name="Shape 7"/>
          <p:cNvSpPr/>
          <p:nvPr/>
        </p:nvSpPr>
        <p:spPr>
          <a:xfrm>
            <a:off x="405384" y="1168400"/>
            <a:ext cx="5681710" cy="1031180"/>
          </a:xfrm>
          <a:prstGeom prst="rect">
            <a:avLst/>
          </a:prstGeom>
          <a:noFill/>
          <a:ln w="12700">
            <a:solidFill>
              <a:srgbClr val="E5E7EB"/>
            </a:solidFill>
            <a:prstDash val="solid"/>
          </a:ln>
        </p:spPr>
      </p:sp>
      <p:sp>
        <p:nvSpPr>
          <p:cNvPr id="10" name="Text 8"/>
          <p:cNvSpPr txBox="1"/>
          <p:nvPr/>
        </p:nvSpPr>
        <p:spPr>
          <a:xfrm>
            <a:off x="532067" y="1569641"/>
            <a:ext cx="2045922" cy="228600"/>
          </a:xfrm>
          <a:prstGeom prst="rect">
            <a:avLst/>
          </a:prstGeom>
          <a:noFill/>
          <a:ln/>
        </p:spPr>
        <p:txBody>
          <a:bodyPr wrap="square" lIns="0" tIns="0" rIns="0" bIns="0" rtlCol="0" anchor="ctr"/>
          <a:lstStyle/>
          <a:p>
            <a:pPr algn="l" indent="0" marL="0">
              <a:buNone/>
            </a:pPr>
            <a:r>
              <a:rPr lang="en-US" sz="1496" i="1" dirty="0">
                <a:solidFill>
                  <a:srgbClr val="FBBF24"/>
                </a:solidFill>
                <a:latin typeface="Century Gothic" pitchFamily="34" charset="0"/>
                <a:ea typeface="Century Gothic" pitchFamily="34" charset="-122"/>
                <a:cs typeface="Century Gothic" pitchFamily="34" charset="-120"/>
              </a:rPr>
              <a:t>“I'll lose my workflow”</a:t>
            </a:r>
            <a:endParaRPr lang="en-US" sz="1496" dirty="0"/>
          </a:p>
        </p:txBody>
      </p:sp>
      <p:pic>
        <p:nvPicPr>
          <p:cNvPr id="11" name="Image 0" descr="preencoded.png">    </p:cNvPr>
          <p:cNvPicPr>
            <a:picLocks noChangeAspect="1"/>
          </p:cNvPicPr>
          <p:nvPr/>
        </p:nvPicPr>
        <p:blipFill>
          <a:blip r:embed="rId1"/>
          <a:srcRect l="0" r="0" t="0" b="0"/>
          <a:stretch/>
        </p:blipFill>
        <p:spPr>
          <a:xfrm>
            <a:off x="6213777" y="1607741"/>
            <a:ext cx="152019" cy="152400"/>
          </a:xfrm>
          <a:prstGeom prst="rect">
            <a:avLst/>
          </a:prstGeom>
        </p:spPr>
      </p:pic>
      <p:sp>
        <p:nvSpPr>
          <p:cNvPr id="12" name="Text 9"/>
          <p:cNvSpPr txBox="1"/>
          <p:nvPr/>
        </p:nvSpPr>
        <p:spPr>
          <a:xfrm>
            <a:off x="6441805" y="1455341"/>
            <a:ext cx="5187648"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Preserve shortcuts, layouts, and muscle memory — we studied them first</a:t>
            </a:r>
            <a:endParaRPr lang="en-US" sz="1496" dirty="0"/>
          </a:p>
        </p:txBody>
      </p:sp>
      <p:sp>
        <p:nvSpPr>
          <p:cNvPr id="13" name="Shape 10"/>
          <p:cNvSpPr/>
          <p:nvPr/>
        </p:nvSpPr>
        <p:spPr>
          <a:xfrm>
            <a:off x="405384" y="2199580"/>
            <a:ext cx="11350752" cy="1031280"/>
          </a:xfrm>
          <a:prstGeom prst="rect">
            <a:avLst/>
          </a:prstGeom>
          <a:solidFill>
            <a:srgbClr val="334155"/>
          </a:solidFill>
          <a:ln/>
        </p:spPr>
      </p:sp>
      <p:sp>
        <p:nvSpPr>
          <p:cNvPr id="14" name="Shape 11"/>
          <p:cNvSpPr/>
          <p:nvPr/>
        </p:nvSpPr>
        <p:spPr>
          <a:xfrm>
            <a:off x="405384" y="2199580"/>
            <a:ext cx="5681710" cy="1031280"/>
          </a:xfrm>
          <a:prstGeom prst="rect">
            <a:avLst/>
          </a:prstGeom>
          <a:noFill/>
          <a:ln w="12700">
            <a:solidFill>
              <a:srgbClr val="E5E7EB"/>
            </a:solidFill>
            <a:prstDash val="solid"/>
          </a:ln>
        </p:spPr>
      </p:sp>
      <p:sp>
        <p:nvSpPr>
          <p:cNvPr id="15" name="Text 12"/>
          <p:cNvSpPr txBox="1"/>
          <p:nvPr/>
        </p:nvSpPr>
        <p:spPr>
          <a:xfrm>
            <a:off x="532067" y="2600920"/>
            <a:ext cx="2863025" cy="228600"/>
          </a:xfrm>
          <a:prstGeom prst="rect">
            <a:avLst/>
          </a:prstGeom>
          <a:noFill/>
          <a:ln/>
        </p:spPr>
        <p:txBody>
          <a:bodyPr wrap="square" lIns="0" tIns="0" rIns="0" bIns="0" rtlCol="0" anchor="ctr"/>
          <a:lstStyle/>
          <a:p>
            <a:pPr algn="l" indent="0" marL="0">
              <a:buNone/>
            </a:pPr>
            <a:r>
              <a:rPr lang="en-US" sz="1496" i="1" dirty="0">
                <a:solidFill>
                  <a:srgbClr val="FBBF24"/>
                </a:solidFill>
                <a:latin typeface="Century Gothic" pitchFamily="34" charset="0"/>
                <a:ea typeface="Century Gothic" pitchFamily="34" charset="-122"/>
                <a:cs typeface="Century Gothic" pitchFamily="34" charset="-120"/>
              </a:rPr>
              <a:t>“What if the new tool breaks?”</a:t>
            </a:r>
            <a:endParaRPr lang="en-US" sz="1496" dirty="0"/>
          </a:p>
        </p:txBody>
      </p:sp>
      <p:pic>
        <p:nvPicPr>
          <p:cNvPr id="16" name="Image 1" descr="preencoded.png">    </p:cNvPr>
          <p:cNvPicPr>
            <a:picLocks noChangeAspect="1"/>
          </p:cNvPicPr>
          <p:nvPr/>
        </p:nvPicPr>
        <p:blipFill>
          <a:blip r:embed="rId2"/>
          <a:srcRect l="0" r="0" t="0" b="0"/>
          <a:stretch/>
        </p:blipFill>
        <p:spPr>
          <a:xfrm>
            <a:off x="6213777" y="2639020"/>
            <a:ext cx="152019" cy="152400"/>
          </a:xfrm>
          <a:prstGeom prst="rect">
            <a:avLst/>
          </a:prstGeom>
        </p:spPr>
      </p:pic>
      <p:sp>
        <p:nvSpPr>
          <p:cNvPr id="17" name="Text 13"/>
          <p:cNvSpPr txBox="1"/>
          <p:nvPr/>
        </p:nvSpPr>
        <p:spPr>
          <a:xfrm>
            <a:off x="6441805" y="2486620"/>
            <a:ext cx="5187648"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Instant rollback — old tool stays live throughout migration</a:t>
            </a:r>
            <a:endParaRPr lang="en-US" sz="1496" dirty="0"/>
          </a:p>
        </p:txBody>
      </p:sp>
      <p:sp>
        <p:nvSpPr>
          <p:cNvPr id="18" name="Shape 14"/>
          <p:cNvSpPr/>
          <p:nvPr/>
        </p:nvSpPr>
        <p:spPr>
          <a:xfrm>
            <a:off x="405384" y="3230860"/>
            <a:ext cx="11350752" cy="1031180"/>
          </a:xfrm>
          <a:prstGeom prst="rect">
            <a:avLst/>
          </a:prstGeom>
          <a:solidFill>
            <a:srgbClr val="1E293B"/>
          </a:solidFill>
          <a:ln/>
        </p:spPr>
      </p:sp>
      <p:sp>
        <p:nvSpPr>
          <p:cNvPr id="19" name="Shape 15"/>
          <p:cNvSpPr/>
          <p:nvPr/>
        </p:nvSpPr>
        <p:spPr>
          <a:xfrm>
            <a:off x="405384" y="3230860"/>
            <a:ext cx="5681710" cy="1031180"/>
          </a:xfrm>
          <a:prstGeom prst="rect">
            <a:avLst/>
          </a:prstGeom>
          <a:noFill/>
          <a:ln w="12700">
            <a:solidFill>
              <a:srgbClr val="E5E7EB"/>
            </a:solidFill>
            <a:prstDash val="solid"/>
          </a:ln>
        </p:spPr>
      </p:sp>
      <p:sp>
        <p:nvSpPr>
          <p:cNvPr id="20" name="Text 16"/>
          <p:cNvSpPr txBox="1"/>
          <p:nvPr/>
        </p:nvSpPr>
        <p:spPr>
          <a:xfrm>
            <a:off x="532067" y="3632101"/>
            <a:ext cx="1843230" cy="228600"/>
          </a:xfrm>
          <a:prstGeom prst="rect">
            <a:avLst/>
          </a:prstGeom>
          <a:noFill/>
          <a:ln/>
        </p:spPr>
        <p:txBody>
          <a:bodyPr wrap="square" lIns="0" tIns="0" rIns="0" bIns="0" rtlCol="0" anchor="ctr"/>
          <a:lstStyle/>
          <a:p>
            <a:pPr algn="l" indent="0" marL="0">
              <a:buNone/>
            </a:pPr>
            <a:r>
              <a:rPr lang="en-US" sz="1496" i="1" dirty="0">
                <a:solidFill>
                  <a:srgbClr val="FBBF24"/>
                </a:solidFill>
                <a:latin typeface="Century Gothic" pitchFamily="34" charset="0"/>
                <a:ea typeface="Century Gothic" pitchFamily="34" charset="-122"/>
                <a:cs typeface="Century Gothic" pitchFamily="34" charset="-120"/>
              </a:rPr>
              <a:t>“I wasn't consulted”</a:t>
            </a:r>
            <a:endParaRPr lang="en-US" sz="1496" dirty="0"/>
          </a:p>
        </p:txBody>
      </p:sp>
      <p:pic>
        <p:nvPicPr>
          <p:cNvPr id="21" name="Image 2" descr="preencoded.png">    </p:cNvPr>
          <p:cNvPicPr>
            <a:picLocks noChangeAspect="1"/>
          </p:cNvPicPr>
          <p:nvPr/>
        </p:nvPicPr>
        <p:blipFill>
          <a:blip r:embed="rId3"/>
          <a:srcRect l="0" r="0" t="0" b="0"/>
          <a:stretch/>
        </p:blipFill>
        <p:spPr>
          <a:xfrm>
            <a:off x="6213777" y="3670201"/>
            <a:ext cx="152019" cy="152400"/>
          </a:xfrm>
          <a:prstGeom prst="rect">
            <a:avLst/>
          </a:prstGeom>
        </p:spPr>
      </p:pic>
      <p:sp>
        <p:nvSpPr>
          <p:cNvPr id="22" name="Text 17"/>
          <p:cNvSpPr txBox="1"/>
          <p:nvPr/>
        </p:nvSpPr>
        <p:spPr>
          <a:xfrm>
            <a:off x="6441805" y="3517801"/>
            <a:ext cx="5187648"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Designer advisory board from Day 1 — co-designed, not imposed</a:t>
            </a:r>
            <a:endParaRPr lang="en-US" sz="1496" dirty="0"/>
          </a:p>
        </p:txBody>
      </p:sp>
      <p:sp>
        <p:nvSpPr>
          <p:cNvPr id="23" name="Shape 18"/>
          <p:cNvSpPr/>
          <p:nvPr/>
        </p:nvSpPr>
        <p:spPr>
          <a:xfrm>
            <a:off x="405384" y="4262041"/>
            <a:ext cx="11350752" cy="1031280"/>
          </a:xfrm>
          <a:prstGeom prst="rect">
            <a:avLst/>
          </a:prstGeom>
          <a:solidFill>
            <a:srgbClr val="334155"/>
          </a:solidFill>
          <a:ln/>
        </p:spPr>
      </p:sp>
      <p:sp>
        <p:nvSpPr>
          <p:cNvPr id="24" name="Shape 19"/>
          <p:cNvSpPr/>
          <p:nvPr/>
        </p:nvSpPr>
        <p:spPr>
          <a:xfrm>
            <a:off x="405384" y="4262041"/>
            <a:ext cx="5681710" cy="1031280"/>
          </a:xfrm>
          <a:prstGeom prst="rect">
            <a:avLst/>
          </a:prstGeom>
          <a:noFill/>
          <a:ln w="12700">
            <a:solidFill>
              <a:srgbClr val="E5E7EB"/>
            </a:solidFill>
            <a:prstDash val="solid"/>
          </a:ln>
        </p:spPr>
      </p:sp>
      <p:sp>
        <p:nvSpPr>
          <p:cNvPr id="25" name="Text 20"/>
          <p:cNvSpPr txBox="1"/>
          <p:nvPr/>
        </p:nvSpPr>
        <p:spPr>
          <a:xfrm>
            <a:off x="532067" y="4663380"/>
            <a:ext cx="2305622" cy="228600"/>
          </a:xfrm>
          <a:prstGeom prst="rect">
            <a:avLst/>
          </a:prstGeom>
          <a:noFill/>
          <a:ln/>
        </p:spPr>
        <p:txBody>
          <a:bodyPr wrap="square" lIns="0" tIns="0" rIns="0" bIns="0" rtlCol="0" anchor="ctr"/>
          <a:lstStyle/>
          <a:p>
            <a:pPr algn="l" indent="0" marL="0">
              <a:buNone/>
            </a:pPr>
            <a:r>
              <a:rPr lang="en-US" sz="1496" i="1" dirty="0">
                <a:solidFill>
                  <a:srgbClr val="FBBF24"/>
                </a:solidFill>
                <a:latin typeface="Century Gothic" pitchFamily="34" charset="0"/>
                <a:ea typeface="Century Gothic" pitchFamily="34" charset="-122"/>
                <a:cs typeface="Century Gothic" pitchFamily="34" charset="-120"/>
              </a:rPr>
              <a:t>“Not during our launch!”</a:t>
            </a:r>
            <a:endParaRPr lang="en-US" sz="1496" dirty="0"/>
          </a:p>
        </p:txBody>
      </p:sp>
      <p:pic>
        <p:nvPicPr>
          <p:cNvPr id="26" name="Image 3" descr="preencoded.png">    </p:cNvPr>
          <p:cNvPicPr>
            <a:picLocks noChangeAspect="1"/>
          </p:cNvPicPr>
          <p:nvPr/>
        </p:nvPicPr>
        <p:blipFill>
          <a:blip r:embed="rId4"/>
          <a:srcRect l="0" r="0" t="0" b="0"/>
          <a:stretch/>
        </p:blipFill>
        <p:spPr>
          <a:xfrm>
            <a:off x="6213777" y="4701480"/>
            <a:ext cx="152019" cy="152400"/>
          </a:xfrm>
          <a:prstGeom prst="rect">
            <a:avLst/>
          </a:prstGeom>
        </p:spPr>
      </p:pic>
      <p:sp>
        <p:nvSpPr>
          <p:cNvPr id="27" name="Text 21"/>
          <p:cNvSpPr txBox="1"/>
          <p:nvPr/>
        </p:nvSpPr>
        <p:spPr>
          <a:xfrm>
            <a:off x="6441805" y="4549080"/>
            <a:ext cx="5187648"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Blackout periods enforced — no migrations during key launch windows</a:t>
            </a:r>
            <a:endParaRPr lang="en-US" sz="1496" dirty="0"/>
          </a:p>
        </p:txBody>
      </p:sp>
      <p:sp>
        <p:nvSpPr>
          <p:cNvPr id="28" name="Shape 22"/>
          <p:cNvSpPr/>
          <p:nvPr/>
        </p:nvSpPr>
        <p:spPr>
          <a:xfrm>
            <a:off x="405384" y="5293320"/>
            <a:ext cx="11350752" cy="1031280"/>
          </a:xfrm>
          <a:prstGeom prst="roundRect">
            <a:avLst/>
          </a:prstGeom>
          <a:solidFill>
            <a:srgbClr val="1E293B"/>
          </a:solidFill>
          <a:ln/>
        </p:spPr>
      </p:sp>
      <p:sp>
        <p:nvSpPr>
          <p:cNvPr id="29" name="Shape 23"/>
          <p:cNvSpPr/>
          <p:nvPr/>
        </p:nvSpPr>
        <p:spPr>
          <a:xfrm>
            <a:off x="405384" y="5293320"/>
            <a:ext cx="5681710" cy="1031280"/>
          </a:xfrm>
          <a:prstGeom prst="rect">
            <a:avLst/>
          </a:prstGeom>
          <a:noFill/>
          <a:ln w="12700">
            <a:solidFill>
              <a:srgbClr val="E5E7EB"/>
            </a:solidFill>
            <a:prstDash val="solid"/>
          </a:ln>
        </p:spPr>
      </p:sp>
      <p:sp>
        <p:nvSpPr>
          <p:cNvPr id="30" name="Text 24"/>
          <p:cNvSpPr txBox="1"/>
          <p:nvPr/>
        </p:nvSpPr>
        <p:spPr>
          <a:xfrm>
            <a:off x="532067" y="5694660"/>
            <a:ext cx="1817894" cy="228600"/>
          </a:xfrm>
          <a:prstGeom prst="rect">
            <a:avLst/>
          </a:prstGeom>
          <a:noFill/>
          <a:ln/>
        </p:spPr>
        <p:txBody>
          <a:bodyPr wrap="square" lIns="0" tIns="0" rIns="0" bIns="0" rtlCol="0" anchor="ctr"/>
          <a:lstStyle/>
          <a:p>
            <a:pPr algn="l" indent="0" marL="0">
              <a:buNone/>
            </a:pPr>
            <a:r>
              <a:rPr lang="en-US" sz="1496" i="1" dirty="0">
                <a:solidFill>
                  <a:srgbClr val="FBBF24"/>
                </a:solidFill>
                <a:latin typeface="Century Gothic" pitchFamily="34" charset="0"/>
                <a:ea typeface="Century Gothic" pitchFamily="34" charset="-122"/>
                <a:cs typeface="Century Gothic" pitchFamily="34" charset="-120"/>
              </a:rPr>
              <a:t>“AI will replace me”</a:t>
            </a:r>
            <a:endParaRPr lang="en-US" sz="1496" dirty="0"/>
          </a:p>
        </p:txBody>
      </p:sp>
      <p:pic>
        <p:nvPicPr>
          <p:cNvPr id="31" name="Image 4" descr="preencoded.png">    </p:cNvPr>
          <p:cNvPicPr>
            <a:picLocks noChangeAspect="1"/>
          </p:cNvPicPr>
          <p:nvPr/>
        </p:nvPicPr>
        <p:blipFill>
          <a:blip r:embed="rId5"/>
          <a:srcRect l="0" r="0" t="0" b="0"/>
          <a:stretch/>
        </p:blipFill>
        <p:spPr>
          <a:xfrm>
            <a:off x="6213777" y="5732760"/>
            <a:ext cx="152019" cy="152400"/>
          </a:xfrm>
          <a:prstGeom prst="rect">
            <a:avLst/>
          </a:prstGeom>
        </p:spPr>
      </p:pic>
      <p:sp>
        <p:nvSpPr>
          <p:cNvPr id="32" name="Text 25"/>
          <p:cNvSpPr txBox="1"/>
          <p:nvPr/>
        </p:nvSpPr>
        <p:spPr>
          <a:xfrm>
            <a:off x="6441805" y="5580360"/>
            <a:ext cx="5187648" cy="4572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AI amplifies, never replaces. Designer veto on all AI suggestions</a:t>
            </a:r>
            <a:endParaRPr lang="en-US" sz="1496" dirty="0"/>
          </a:p>
        </p:txBody>
      </p:sp>
      <p:sp>
        <p:nvSpPr>
          <p:cNvPr id="33" name="Text 26"/>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34" name="Text 27"/>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405384" y="254000"/>
            <a:ext cx="2482977" cy="279400"/>
          </a:xfrm>
          <a:prstGeom prst="roundRect">
            <a:avLst>
              <a:gd name="adj" fmla="val 8347959"/>
            </a:avLst>
          </a:prstGeom>
          <a:solidFill>
            <a:srgbClr val="22D3EE"/>
          </a:solidFill>
          <a:ln/>
        </p:spPr>
      </p:sp>
      <p:sp>
        <p:nvSpPr>
          <p:cNvPr id="3" name="Text 1"/>
          <p:cNvSpPr txBox="1"/>
          <p:nvPr/>
        </p:nvSpPr>
        <p:spPr>
          <a:xfrm>
            <a:off x="532067" y="279400"/>
            <a:ext cx="2229612" cy="228600"/>
          </a:xfrm>
          <a:prstGeom prst="rect">
            <a:avLst/>
          </a:prstGeom>
          <a:noFill/>
          <a:ln/>
        </p:spPr>
        <p:txBody>
          <a:bodyPr wrap="square" lIns="0" tIns="0" rIns="0" bIns="0" rtlCol="0" anchor="ctr"/>
          <a:lstStyle/>
          <a:p>
            <a:pPr algn="l" indent="0" marL="0">
              <a:buNone/>
            </a:pPr>
            <a:r>
              <a:rPr lang="en-US" sz="1496" b="1" dirty="0">
                <a:solidFill>
                  <a:srgbClr val="0F172A"/>
                </a:solidFill>
                <a:latin typeface="Century Gothic" pitchFamily="34" charset="0"/>
                <a:ea typeface="Century Gothic" pitchFamily="34" charset="-122"/>
                <a:cs typeface="Century Gothic" pitchFamily="34" charset="-120"/>
              </a:rPr>
              <a:t>Part 2 · Success Metrics</a:t>
            </a:r>
            <a:endParaRPr lang="en-US" sz="1496" dirty="0"/>
          </a:p>
        </p:txBody>
      </p:sp>
      <p:sp>
        <p:nvSpPr>
          <p:cNvPr id="4" name="Text 2"/>
          <p:cNvSpPr txBox="1"/>
          <p:nvPr/>
        </p:nvSpPr>
        <p:spPr>
          <a:xfrm>
            <a:off x="2989707" y="203200"/>
            <a:ext cx="5187648" cy="381000"/>
          </a:xfrm>
          <a:prstGeom prst="rect">
            <a:avLst/>
          </a:prstGeom>
          <a:noFill/>
          <a:ln/>
        </p:spPr>
        <p:txBody>
          <a:bodyPr wrap="square" lIns="0" tIns="0" rIns="0" bIns="0" rtlCol="0" anchor="ctr"/>
          <a:lstStyle/>
          <a:p>
            <a:pPr algn="l" indent="0" marL="0">
              <a:buNone/>
            </a:pPr>
            <a:r>
              <a:rPr lang="en-US" sz="2993" b="1" dirty="0">
                <a:solidFill>
                  <a:srgbClr val="F1F5F9"/>
                </a:solidFill>
                <a:latin typeface="Century Gothic" pitchFamily="34" charset="0"/>
                <a:ea typeface="Century Gothic" pitchFamily="34" charset="-122"/>
                <a:cs typeface="Century Gothic" pitchFamily="34" charset="-120"/>
              </a:rPr>
              <a:t>How We Know It's Working</a:t>
            </a:r>
            <a:endParaRPr lang="en-US" sz="2993" dirty="0"/>
          </a:p>
        </p:txBody>
      </p:sp>
      <p:sp>
        <p:nvSpPr>
          <p:cNvPr id="5" name="Shape 3"/>
          <p:cNvSpPr/>
          <p:nvPr/>
        </p:nvSpPr>
        <p:spPr>
          <a:xfrm>
            <a:off x="405384" y="685800"/>
            <a:ext cx="2742676" cy="1574800"/>
          </a:xfrm>
          <a:prstGeom prst="roundRect">
            <a:avLst>
              <a:gd name="adj" fmla="val 1609"/>
            </a:avLst>
          </a:prstGeom>
          <a:solidFill>
            <a:srgbClr val="334155"/>
          </a:solidFill>
          <a:ln/>
        </p:spPr>
      </p:sp>
      <p:pic>
        <p:nvPicPr>
          <p:cNvPr id="6" name="Image 0" descr="preencoded.png">    </p:cNvPr>
          <p:cNvPicPr>
            <a:picLocks noChangeAspect="1"/>
          </p:cNvPicPr>
          <p:nvPr/>
        </p:nvPicPr>
        <p:blipFill>
          <a:blip r:embed="rId1"/>
          <a:srcRect l="0" r="0" t="0" b="0"/>
          <a:stretch/>
        </p:blipFill>
        <p:spPr>
          <a:xfrm>
            <a:off x="1675376" y="812800"/>
            <a:ext cx="202692" cy="203200"/>
          </a:xfrm>
          <a:prstGeom prst="rect">
            <a:avLst/>
          </a:prstGeom>
        </p:spPr>
      </p:pic>
      <p:sp>
        <p:nvSpPr>
          <p:cNvPr id="7" name="Text 4"/>
          <p:cNvSpPr txBox="1"/>
          <p:nvPr/>
        </p:nvSpPr>
        <p:spPr>
          <a:xfrm>
            <a:off x="1124307" y="1066800"/>
            <a:ext cx="1304830" cy="457200"/>
          </a:xfrm>
          <a:prstGeom prst="rect">
            <a:avLst/>
          </a:prstGeom>
          <a:noFill/>
          <a:ln/>
        </p:spPr>
        <p:txBody>
          <a:bodyPr wrap="square" lIns="0" tIns="0" rIns="0" bIns="0" rtlCol="0" anchor="ctr"/>
          <a:lstStyle/>
          <a:p>
            <a:pPr algn="l" indent="0" marL="0">
              <a:buNone/>
            </a:pPr>
            <a:r>
              <a:rPr lang="en-US" sz="3591" b="1" dirty="0">
                <a:solidFill>
                  <a:srgbClr val="6366F1"/>
                </a:solidFill>
                <a:latin typeface="Century Gothic" pitchFamily="34" charset="0"/>
                <a:ea typeface="Century Gothic" pitchFamily="34" charset="-122"/>
                <a:cs typeface="Century Gothic" pitchFamily="34" charset="-120"/>
              </a:rPr>
              <a:t>99.9%</a:t>
            </a:r>
            <a:endParaRPr lang="en-US" sz="3591" dirty="0"/>
          </a:p>
        </p:txBody>
      </p:sp>
      <p:sp>
        <p:nvSpPr>
          <p:cNvPr id="8" name="Text 5"/>
          <p:cNvSpPr txBox="1"/>
          <p:nvPr/>
        </p:nvSpPr>
        <p:spPr>
          <a:xfrm>
            <a:off x="1206651" y="1574800"/>
            <a:ext cx="1140143"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Uptime SLA</a:t>
            </a:r>
            <a:endParaRPr lang="en-US" sz="1496" dirty="0"/>
          </a:p>
        </p:txBody>
      </p:sp>
      <p:sp>
        <p:nvSpPr>
          <p:cNvPr id="9" name="Shape 6"/>
          <p:cNvSpPr/>
          <p:nvPr/>
        </p:nvSpPr>
        <p:spPr>
          <a:xfrm>
            <a:off x="1254157" y="1854200"/>
            <a:ext cx="1045131" cy="279400"/>
          </a:xfrm>
          <a:prstGeom prst="roundRect">
            <a:avLst>
              <a:gd name="adj" fmla="val 19832727"/>
            </a:avLst>
          </a:prstGeom>
          <a:solidFill>
            <a:srgbClr val="6366F1">
              <a:alpha val="20000"/>
            </a:srgbClr>
          </a:solidFill>
          <a:ln/>
        </p:spPr>
      </p:sp>
      <p:sp>
        <p:nvSpPr>
          <p:cNvPr id="10" name="Text 7"/>
          <p:cNvSpPr txBox="1"/>
          <p:nvPr/>
        </p:nvSpPr>
        <p:spPr>
          <a:xfrm>
            <a:off x="1330166" y="1879600"/>
            <a:ext cx="893112" cy="228600"/>
          </a:xfrm>
          <a:prstGeom prst="rect">
            <a:avLst/>
          </a:prstGeom>
          <a:noFill/>
          <a:ln/>
        </p:spPr>
        <p:txBody>
          <a:bodyPr wrap="square" lIns="0" tIns="0" rIns="0" bIns="0" rtlCol="0" anchor="ctr"/>
          <a:lstStyle/>
          <a:p>
            <a:pPr algn="l" indent="0" marL="0">
              <a:buNone/>
            </a:pPr>
            <a:r>
              <a:rPr lang="en-US" sz="1496" dirty="0">
                <a:solidFill>
                  <a:srgbClr val="6366F1"/>
                </a:solidFill>
                <a:latin typeface="Century Gothic" pitchFamily="34" charset="0"/>
                <a:ea typeface="Century Gothic" pitchFamily="34" charset="-122"/>
                <a:cs typeface="Century Gothic" pitchFamily="34" charset="-120"/>
              </a:rPr>
              <a:t>Technical</a:t>
            </a:r>
            <a:endParaRPr lang="en-US" sz="1496" dirty="0"/>
          </a:p>
        </p:txBody>
      </p:sp>
      <p:sp>
        <p:nvSpPr>
          <p:cNvPr id="11" name="Shape 8"/>
          <p:cNvSpPr/>
          <p:nvPr/>
        </p:nvSpPr>
        <p:spPr>
          <a:xfrm>
            <a:off x="3274743" y="685800"/>
            <a:ext cx="2742676" cy="1574800"/>
          </a:xfrm>
          <a:prstGeom prst="roundRect">
            <a:avLst>
              <a:gd name="adj" fmla="val 1609"/>
            </a:avLst>
          </a:prstGeom>
          <a:solidFill>
            <a:srgbClr val="334155"/>
          </a:solidFill>
          <a:ln/>
        </p:spPr>
      </p:sp>
      <p:pic>
        <p:nvPicPr>
          <p:cNvPr id="12" name="Image 1" descr="preencoded.png">    </p:cNvPr>
          <p:cNvPicPr>
            <a:picLocks noChangeAspect="1"/>
          </p:cNvPicPr>
          <p:nvPr/>
        </p:nvPicPr>
        <p:blipFill>
          <a:blip r:embed="rId2"/>
          <a:srcRect l="0" r="0" t="0" b="0"/>
          <a:stretch/>
        </p:blipFill>
        <p:spPr>
          <a:xfrm>
            <a:off x="4544735" y="812800"/>
            <a:ext cx="202692" cy="203200"/>
          </a:xfrm>
          <a:prstGeom prst="rect">
            <a:avLst/>
          </a:prstGeom>
        </p:spPr>
      </p:pic>
      <p:sp>
        <p:nvSpPr>
          <p:cNvPr id="13" name="Text 9"/>
          <p:cNvSpPr txBox="1"/>
          <p:nvPr/>
        </p:nvSpPr>
        <p:spPr>
          <a:xfrm>
            <a:off x="3683294" y="1066800"/>
            <a:ext cx="1925574" cy="457200"/>
          </a:xfrm>
          <a:prstGeom prst="rect">
            <a:avLst/>
          </a:prstGeom>
          <a:noFill/>
          <a:ln/>
        </p:spPr>
        <p:txBody>
          <a:bodyPr wrap="square" lIns="0" tIns="0" rIns="0" bIns="0" rtlCol="0" anchor="ctr"/>
          <a:lstStyle/>
          <a:p>
            <a:pPr algn="l" indent="0" marL="0">
              <a:buNone/>
            </a:pPr>
            <a:r>
              <a:rPr lang="en-US" sz="3591" b="1" dirty="0">
                <a:solidFill>
                  <a:srgbClr val="6366F1"/>
                </a:solidFill>
                <a:latin typeface="Century Gothic" pitchFamily="34" charset="0"/>
                <a:ea typeface="Century Gothic" pitchFamily="34" charset="-122"/>
                <a:cs typeface="Century Gothic" pitchFamily="34" charset="-120"/>
              </a:rPr>
              <a:t>NPS &gt;50</a:t>
            </a:r>
            <a:endParaRPr lang="en-US" sz="3591" dirty="0"/>
          </a:p>
        </p:txBody>
      </p:sp>
      <p:sp>
        <p:nvSpPr>
          <p:cNvPr id="14" name="Text 10"/>
          <p:cNvSpPr txBox="1"/>
          <p:nvPr/>
        </p:nvSpPr>
        <p:spPr>
          <a:xfrm>
            <a:off x="3632621" y="1574800"/>
            <a:ext cx="2026920"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Designer Satisfaction</a:t>
            </a:r>
            <a:endParaRPr lang="en-US" sz="1496" dirty="0"/>
          </a:p>
        </p:txBody>
      </p:sp>
      <p:sp>
        <p:nvSpPr>
          <p:cNvPr id="15" name="Shape 11"/>
          <p:cNvSpPr/>
          <p:nvPr/>
        </p:nvSpPr>
        <p:spPr>
          <a:xfrm>
            <a:off x="4041172" y="1854200"/>
            <a:ext cx="1209818" cy="279400"/>
          </a:xfrm>
          <a:prstGeom prst="roundRect">
            <a:avLst>
              <a:gd name="adj" fmla="val 17132984"/>
            </a:avLst>
          </a:prstGeom>
          <a:solidFill>
            <a:srgbClr val="22D3EE">
              <a:alpha val="20000"/>
            </a:srgbClr>
          </a:solidFill>
          <a:ln/>
        </p:spPr>
      </p:sp>
      <p:sp>
        <p:nvSpPr>
          <p:cNvPr id="16" name="Text 12"/>
          <p:cNvSpPr txBox="1"/>
          <p:nvPr/>
        </p:nvSpPr>
        <p:spPr>
          <a:xfrm>
            <a:off x="4117181" y="1879600"/>
            <a:ext cx="1057799" cy="228600"/>
          </a:xfrm>
          <a:prstGeom prst="rect">
            <a:avLst/>
          </a:prstGeom>
          <a:noFill/>
          <a:ln/>
        </p:spPr>
        <p:txBody>
          <a:bodyPr wrap="square" lIns="0" tIns="0" rIns="0" bIns="0" rtlCol="0" anchor="ctr"/>
          <a:lstStyle/>
          <a:p>
            <a:pPr algn="l" indent="0" marL="0">
              <a:buNone/>
            </a:pPr>
            <a:r>
              <a:rPr lang="en-US" sz="1496" dirty="0">
                <a:solidFill>
                  <a:srgbClr val="22D3EE"/>
                </a:solidFill>
                <a:latin typeface="Century Gothic" pitchFamily="34" charset="0"/>
                <a:ea typeface="Century Gothic" pitchFamily="34" charset="-122"/>
                <a:cs typeface="Century Gothic" pitchFamily="34" charset="-120"/>
              </a:rPr>
              <a:t>Experience</a:t>
            </a:r>
            <a:endParaRPr lang="en-US" sz="1496" dirty="0"/>
          </a:p>
        </p:txBody>
      </p:sp>
      <p:sp>
        <p:nvSpPr>
          <p:cNvPr id="17" name="Shape 13"/>
          <p:cNvSpPr/>
          <p:nvPr/>
        </p:nvSpPr>
        <p:spPr>
          <a:xfrm>
            <a:off x="6144101" y="685800"/>
            <a:ext cx="2742676" cy="1574800"/>
          </a:xfrm>
          <a:prstGeom prst="roundRect">
            <a:avLst>
              <a:gd name="adj" fmla="val 1609"/>
            </a:avLst>
          </a:prstGeom>
          <a:solidFill>
            <a:srgbClr val="334155"/>
          </a:solidFill>
          <a:ln/>
        </p:spPr>
      </p:sp>
      <p:pic>
        <p:nvPicPr>
          <p:cNvPr id="18" name="Image 2" descr="preencoded.png">    </p:cNvPr>
          <p:cNvPicPr>
            <a:picLocks noChangeAspect="1"/>
          </p:cNvPicPr>
          <p:nvPr/>
        </p:nvPicPr>
        <p:blipFill>
          <a:blip r:embed="rId3"/>
          <a:srcRect l="0" r="0" t="0" b="0"/>
          <a:stretch/>
        </p:blipFill>
        <p:spPr>
          <a:xfrm>
            <a:off x="7414093" y="812800"/>
            <a:ext cx="202692" cy="203200"/>
          </a:xfrm>
          <a:prstGeom prst="rect">
            <a:avLst/>
          </a:prstGeom>
        </p:spPr>
      </p:pic>
      <p:sp>
        <p:nvSpPr>
          <p:cNvPr id="19" name="Text 14"/>
          <p:cNvSpPr txBox="1"/>
          <p:nvPr/>
        </p:nvSpPr>
        <p:spPr>
          <a:xfrm>
            <a:off x="7043547" y="1066800"/>
            <a:ext cx="943785" cy="457200"/>
          </a:xfrm>
          <a:prstGeom prst="rect">
            <a:avLst/>
          </a:prstGeom>
          <a:noFill/>
          <a:ln/>
        </p:spPr>
        <p:txBody>
          <a:bodyPr wrap="square" lIns="0" tIns="0" rIns="0" bIns="0" rtlCol="0" anchor="ctr"/>
          <a:lstStyle/>
          <a:p>
            <a:pPr algn="l" indent="0" marL="0">
              <a:buNone/>
            </a:pPr>
            <a:r>
              <a:rPr lang="en-US" sz="3591" b="1" dirty="0">
                <a:solidFill>
                  <a:srgbClr val="6366F1"/>
                </a:solidFill>
                <a:latin typeface="Century Gothic" pitchFamily="34" charset="0"/>
                <a:ea typeface="Century Gothic" pitchFamily="34" charset="-122"/>
                <a:cs typeface="Century Gothic" pitchFamily="34" charset="-120"/>
              </a:rPr>
              <a:t>30%</a:t>
            </a:r>
            <a:endParaRPr lang="en-US" sz="3591" dirty="0"/>
          </a:p>
        </p:txBody>
      </p:sp>
      <p:sp>
        <p:nvSpPr>
          <p:cNvPr id="20" name="Text 15"/>
          <p:cNvSpPr txBox="1"/>
          <p:nvPr/>
        </p:nvSpPr>
        <p:spPr>
          <a:xfrm>
            <a:off x="6473476" y="1574800"/>
            <a:ext cx="2083927"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Faster Iteration Cycles</a:t>
            </a:r>
            <a:endParaRPr lang="en-US" sz="1496" dirty="0"/>
          </a:p>
        </p:txBody>
      </p:sp>
      <p:sp>
        <p:nvSpPr>
          <p:cNvPr id="21" name="Shape 16"/>
          <p:cNvSpPr/>
          <p:nvPr/>
        </p:nvSpPr>
        <p:spPr>
          <a:xfrm>
            <a:off x="7015043" y="1854200"/>
            <a:ext cx="1000792" cy="279400"/>
          </a:xfrm>
          <a:prstGeom prst="roundRect">
            <a:avLst>
              <a:gd name="adj" fmla="val 20711392"/>
            </a:avLst>
          </a:prstGeom>
          <a:solidFill>
            <a:srgbClr val="34D399">
              <a:alpha val="20000"/>
            </a:srgbClr>
          </a:solidFill>
          <a:ln/>
        </p:spPr>
      </p:sp>
      <p:sp>
        <p:nvSpPr>
          <p:cNvPr id="22" name="Text 17"/>
          <p:cNvSpPr txBox="1"/>
          <p:nvPr/>
        </p:nvSpPr>
        <p:spPr>
          <a:xfrm>
            <a:off x="7091053" y="1879600"/>
            <a:ext cx="848773"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Business</a:t>
            </a:r>
            <a:endParaRPr lang="en-US" sz="1496" dirty="0"/>
          </a:p>
        </p:txBody>
      </p:sp>
      <p:sp>
        <p:nvSpPr>
          <p:cNvPr id="23" name="Shape 18"/>
          <p:cNvSpPr/>
          <p:nvPr/>
        </p:nvSpPr>
        <p:spPr>
          <a:xfrm>
            <a:off x="9013460" y="685800"/>
            <a:ext cx="2742676" cy="1574800"/>
          </a:xfrm>
          <a:prstGeom prst="roundRect">
            <a:avLst>
              <a:gd name="adj" fmla="val 1609"/>
            </a:avLst>
          </a:prstGeom>
          <a:solidFill>
            <a:srgbClr val="334155"/>
          </a:solidFill>
          <a:ln/>
        </p:spPr>
      </p:sp>
      <p:pic>
        <p:nvPicPr>
          <p:cNvPr id="24" name="Image 3" descr="preencoded.png">    </p:cNvPr>
          <p:cNvPicPr>
            <a:picLocks noChangeAspect="1"/>
          </p:cNvPicPr>
          <p:nvPr/>
        </p:nvPicPr>
        <p:blipFill>
          <a:blip r:embed="rId4"/>
          <a:srcRect l="0" r="0" t="0" b="0"/>
          <a:stretch/>
        </p:blipFill>
        <p:spPr>
          <a:xfrm>
            <a:off x="10283452" y="812800"/>
            <a:ext cx="202692" cy="203200"/>
          </a:xfrm>
          <a:prstGeom prst="rect">
            <a:avLst/>
          </a:prstGeom>
        </p:spPr>
      </p:pic>
      <p:sp>
        <p:nvSpPr>
          <p:cNvPr id="25" name="Text 19"/>
          <p:cNvSpPr txBox="1"/>
          <p:nvPr/>
        </p:nvSpPr>
        <p:spPr>
          <a:xfrm>
            <a:off x="9890736" y="1066800"/>
            <a:ext cx="988124" cy="457200"/>
          </a:xfrm>
          <a:prstGeom prst="rect">
            <a:avLst/>
          </a:prstGeom>
          <a:noFill/>
          <a:ln/>
        </p:spPr>
        <p:txBody>
          <a:bodyPr wrap="square" lIns="0" tIns="0" rIns="0" bIns="0" rtlCol="0" anchor="ctr"/>
          <a:lstStyle/>
          <a:p>
            <a:pPr algn="l" indent="0" marL="0">
              <a:buNone/>
            </a:pPr>
            <a:r>
              <a:rPr lang="en-US" sz="3591" b="1" dirty="0">
                <a:solidFill>
                  <a:srgbClr val="6366F1"/>
                </a:solidFill>
                <a:latin typeface="Century Gothic" pitchFamily="34" charset="0"/>
                <a:ea typeface="Century Gothic" pitchFamily="34" charset="-122"/>
                <a:cs typeface="Century Gothic" pitchFamily="34" charset="-120"/>
              </a:rPr>
              <a:t>40%</a:t>
            </a:r>
            <a:endParaRPr lang="en-US" sz="3591" dirty="0"/>
          </a:p>
        </p:txBody>
      </p:sp>
      <p:sp>
        <p:nvSpPr>
          <p:cNvPr id="26" name="Text 20"/>
          <p:cNvSpPr txBox="1"/>
          <p:nvPr/>
        </p:nvSpPr>
        <p:spPr>
          <a:xfrm>
            <a:off x="9656374" y="1574800"/>
            <a:ext cx="1456849"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Cost Reduction</a:t>
            </a:r>
            <a:endParaRPr lang="en-US" sz="1496" dirty="0"/>
          </a:p>
        </p:txBody>
      </p:sp>
      <p:sp>
        <p:nvSpPr>
          <p:cNvPr id="27" name="Shape 21"/>
          <p:cNvSpPr/>
          <p:nvPr/>
        </p:nvSpPr>
        <p:spPr>
          <a:xfrm>
            <a:off x="9884402" y="1854200"/>
            <a:ext cx="1000792" cy="279400"/>
          </a:xfrm>
          <a:prstGeom prst="roundRect">
            <a:avLst>
              <a:gd name="adj" fmla="val 20711392"/>
            </a:avLst>
          </a:prstGeom>
          <a:solidFill>
            <a:srgbClr val="34D399">
              <a:alpha val="20000"/>
            </a:srgbClr>
          </a:solidFill>
          <a:ln/>
        </p:spPr>
      </p:sp>
      <p:sp>
        <p:nvSpPr>
          <p:cNvPr id="28" name="Text 22"/>
          <p:cNvSpPr txBox="1"/>
          <p:nvPr/>
        </p:nvSpPr>
        <p:spPr>
          <a:xfrm>
            <a:off x="9960412" y="1879600"/>
            <a:ext cx="848773" cy="228600"/>
          </a:xfrm>
          <a:prstGeom prst="rect">
            <a:avLst/>
          </a:prstGeom>
          <a:noFill/>
          <a:ln/>
        </p:spPr>
        <p:txBody>
          <a:bodyPr wrap="square" lIns="0" tIns="0" rIns="0" bIns="0" rtlCol="0" anchor="ctr"/>
          <a:lstStyle/>
          <a:p>
            <a:pPr algn="l" indent="0" marL="0">
              <a:buNone/>
            </a:pPr>
            <a:r>
              <a:rPr lang="en-US" sz="1496" dirty="0">
                <a:solidFill>
                  <a:srgbClr val="34D399"/>
                </a:solidFill>
                <a:latin typeface="Century Gothic" pitchFamily="34" charset="0"/>
                <a:ea typeface="Century Gothic" pitchFamily="34" charset="-122"/>
                <a:cs typeface="Century Gothic" pitchFamily="34" charset="-120"/>
              </a:rPr>
              <a:t>Business</a:t>
            </a:r>
            <a:endParaRPr lang="en-US" sz="1496" dirty="0"/>
          </a:p>
        </p:txBody>
      </p:sp>
      <p:sp>
        <p:nvSpPr>
          <p:cNvPr id="29" name="Shape 23"/>
          <p:cNvSpPr/>
          <p:nvPr/>
        </p:nvSpPr>
        <p:spPr>
          <a:xfrm>
            <a:off x="405384" y="2413000"/>
            <a:ext cx="1838777" cy="431800"/>
          </a:xfrm>
          <a:prstGeom prst="roundRect">
            <a:avLst>
              <a:gd name="adj" fmla="val 8754"/>
            </a:avLst>
          </a:prstGeom>
          <a:solidFill>
            <a:srgbClr val="6366F1"/>
          </a:solidFill>
          <a:ln/>
        </p:spPr>
      </p:sp>
      <p:sp>
        <p:nvSpPr>
          <p:cNvPr id="30" name="Text 24"/>
          <p:cNvSpPr txBox="1"/>
          <p:nvPr/>
        </p:nvSpPr>
        <p:spPr>
          <a:xfrm>
            <a:off x="506730" y="2514600"/>
            <a:ext cx="163608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Category</a:t>
            </a:r>
            <a:endParaRPr lang="en-US" sz="1496" dirty="0"/>
          </a:p>
        </p:txBody>
      </p:sp>
      <p:sp>
        <p:nvSpPr>
          <p:cNvPr id="31" name="Shape 25"/>
          <p:cNvSpPr/>
          <p:nvPr/>
        </p:nvSpPr>
        <p:spPr>
          <a:xfrm>
            <a:off x="2244161" y="2413000"/>
            <a:ext cx="3205859" cy="431800"/>
          </a:xfrm>
          <a:prstGeom prst="rect">
            <a:avLst/>
          </a:prstGeom>
          <a:solidFill>
            <a:srgbClr val="6366F1"/>
          </a:solidFill>
          <a:ln/>
        </p:spPr>
      </p:sp>
      <p:sp>
        <p:nvSpPr>
          <p:cNvPr id="32" name="Text 26"/>
          <p:cNvSpPr txBox="1"/>
          <p:nvPr/>
        </p:nvSpPr>
        <p:spPr>
          <a:xfrm>
            <a:off x="2345507" y="2514600"/>
            <a:ext cx="3003167"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Metric</a:t>
            </a:r>
            <a:endParaRPr lang="en-US" sz="1496" dirty="0"/>
          </a:p>
        </p:txBody>
      </p:sp>
      <p:sp>
        <p:nvSpPr>
          <p:cNvPr id="33" name="Shape 27"/>
          <p:cNvSpPr/>
          <p:nvPr/>
        </p:nvSpPr>
        <p:spPr>
          <a:xfrm>
            <a:off x="5450020" y="2413000"/>
            <a:ext cx="2349070" cy="431800"/>
          </a:xfrm>
          <a:prstGeom prst="rect">
            <a:avLst/>
          </a:prstGeom>
          <a:solidFill>
            <a:srgbClr val="6366F1"/>
          </a:solidFill>
          <a:ln/>
        </p:spPr>
      </p:sp>
      <p:sp>
        <p:nvSpPr>
          <p:cNvPr id="34" name="Text 28"/>
          <p:cNvSpPr txBox="1"/>
          <p:nvPr/>
        </p:nvSpPr>
        <p:spPr>
          <a:xfrm>
            <a:off x="5551366" y="2514600"/>
            <a:ext cx="2146378"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Target</a:t>
            </a:r>
            <a:endParaRPr lang="en-US" sz="1496" dirty="0"/>
          </a:p>
        </p:txBody>
      </p:sp>
      <p:sp>
        <p:nvSpPr>
          <p:cNvPr id="35" name="Shape 29"/>
          <p:cNvSpPr/>
          <p:nvPr/>
        </p:nvSpPr>
        <p:spPr>
          <a:xfrm>
            <a:off x="7799089" y="2413000"/>
            <a:ext cx="3957047" cy="431800"/>
          </a:xfrm>
          <a:prstGeom prst="roundRect">
            <a:avLst/>
          </a:prstGeom>
          <a:solidFill>
            <a:srgbClr val="6366F1"/>
          </a:solidFill>
          <a:ln/>
        </p:spPr>
      </p:sp>
      <p:sp>
        <p:nvSpPr>
          <p:cNvPr id="36" name="Text 30"/>
          <p:cNvSpPr txBox="1"/>
          <p:nvPr/>
        </p:nvSpPr>
        <p:spPr>
          <a:xfrm>
            <a:off x="7900435" y="2514600"/>
            <a:ext cx="375435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Measurement</a:t>
            </a:r>
            <a:endParaRPr lang="en-US" sz="1496" dirty="0"/>
          </a:p>
        </p:txBody>
      </p:sp>
      <p:sp>
        <p:nvSpPr>
          <p:cNvPr id="37" name="Text 31"/>
          <p:cNvSpPr txBox="1"/>
          <p:nvPr/>
        </p:nvSpPr>
        <p:spPr>
          <a:xfrm>
            <a:off x="481394" y="2921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Technical</a:t>
            </a:r>
            <a:endParaRPr lang="en-US" sz="1496" dirty="0"/>
          </a:p>
        </p:txBody>
      </p:sp>
      <p:sp>
        <p:nvSpPr>
          <p:cNvPr id="38" name="Text 32"/>
          <p:cNvSpPr txBox="1"/>
          <p:nvPr/>
        </p:nvSpPr>
        <p:spPr>
          <a:xfrm>
            <a:off x="2320170" y="2921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API response time</a:t>
            </a:r>
            <a:endParaRPr lang="en-US" sz="1496" dirty="0"/>
          </a:p>
        </p:txBody>
      </p:sp>
      <p:sp>
        <p:nvSpPr>
          <p:cNvPr id="39" name="Text 33"/>
          <p:cNvSpPr txBox="1"/>
          <p:nvPr/>
        </p:nvSpPr>
        <p:spPr>
          <a:xfrm>
            <a:off x="5526029" y="2921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&lt; 2 seconds</a:t>
            </a:r>
            <a:endParaRPr lang="en-US" sz="1496" dirty="0"/>
          </a:p>
        </p:txBody>
      </p:sp>
      <p:sp>
        <p:nvSpPr>
          <p:cNvPr id="40" name="Text 34"/>
          <p:cNvSpPr txBox="1"/>
          <p:nvPr/>
        </p:nvSpPr>
        <p:spPr>
          <a:xfrm>
            <a:off x="7875099" y="2921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P99 latency (CloudWatch)</a:t>
            </a:r>
            <a:endParaRPr lang="en-US" sz="1496" dirty="0"/>
          </a:p>
        </p:txBody>
      </p:sp>
      <p:sp>
        <p:nvSpPr>
          <p:cNvPr id="41" name="Text 35"/>
          <p:cNvSpPr txBox="1"/>
          <p:nvPr/>
        </p:nvSpPr>
        <p:spPr>
          <a:xfrm>
            <a:off x="481394" y="3302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Technical</a:t>
            </a:r>
            <a:endParaRPr lang="en-US" sz="1496" dirty="0"/>
          </a:p>
        </p:txBody>
      </p:sp>
      <p:sp>
        <p:nvSpPr>
          <p:cNvPr id="42" name="Text 36"/>
          <p:cNvSpPr txBox="1"/>
          <p:nvPr/>
        </p:nvSpPr>
        <p:spPr>
          <a:xfrm>
            <a:off x="2320170" y="3302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Render time</a:t>
            </a:r>
            <a:endParaRPr lang="en-US" sz="1496" dirty="0"/>
          </a:p>
        </p:txBody>
      </p:sp>
      <p:sp>
        <p:nvSpPr>
          <p:cNvPr id="43" name="Text 37"/>
          <p:cNvSpPr txBox="1"/>
          <p:nvPr/>
        </p:nvSpPr>
        <p:spPr>
          <a:xfrm>
            <a:off x="5526029" y="3302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&lt; 30 minutes</a:t>
            </a:r>
            <a:endParaRPr lang="en-US" sz="1496" dirty="0"/>
          </a:p>
        </p:txBody>
      </p:sp>
      <p:sp>
        <p:nvSpPr>
          <p:cNvPr id="44" name="Text 38"/>
          <p:cNvSpPr txBox="1"/>
          <p:nvPr/>
        </p:nvSpPr>
        <p:spPr>
          <a:xfrm>
            <a:off x="7875099" y="3302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Job completion time</a:t>
            </a:r>
            <a:endParaRPr lang="en-US" sz="1496" dirty="0"/>
          </a:p>
        </p:txBody>
      </p:sp>
      <p:sp>
        <p:nvSpPr>
          <p:cNvPr id="45" name="Text 39"/>
          <p:cNvSpPr txBox="1"/>
          <p:nvPr/>
        </p:nvSpPr>
        <p:spPr>
          <a:xfrm>
            <a:off x="481394" y="3683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Experience</a:t>
            </a:r>
            <a:endParaRPr lang="en-US" sz="1496" dirty="0"/>
          </a:p>
        </p:txBody>
      </p:sp>
      <p:sp>
        <p:nvSpPr>
          <p:cNvPr id="46" name="Text 40"/>
          <p:cNvSpPr txBox="1"/>
          <p:nvPr/>
        </p:nvSpPr>
        <p:spPr>
          <a:xfrm>
            <a:off x="2320170" y="3683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Weekly active users</a:t>
            </a:r>
            <a:endParaRPr lang="en-US" sz="1496" dirty="0"/>
          </a:p>
        </p:txBody>
      </p:sp>
      <p:sp>
        <p:nvSpPr>
          <p:cNvPr id="47" name="Text 41"/>
          <p:cNvSpPr txBox="1"/>
          <p:nvPr/>
        </p:nvSpPr>
        <p:spPr>
          <a:xfrm>
            <a:off x="5526029" y="3683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80% WAU</a:t>
            </a:r>
            <a:endParaRPr lang="en-US" sz="1496" dirty="0"/>
          </a:p>
        </p:txBody>
      </p:sp>
      <p:sp>
        <p:nvSpPr>
          <p:cNvPr id="48" name="Text 42"/>
          <p:cNvSpPr txBox="1"/>
          <p:nvPr/>
        </p:nvSpPr>
        <p:spPr>
          <a:xfrm>
            <a:off x="7875099" y="3683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Platform analytics</a:t>
            </a:r>
            <a:endParaRPr lang="en-US" sz="1496" dirty="0"/>
          </a:p>
        </p:txBody>
      </p:sp>
      <p:sp>
        <p:nvSpPr>
          <p:cNvPr id="49" name="Text 43"/>
          <p:cNvSpPr txBox="1"/>
          <p:nvPr/>
        </p:nvSpPr>
        <p:spPr>
          <a:xfrm>
            <a:off x="481394" y="4064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Experience</a:t>
            </a:r>
            <a:endParaRPr lang="en-US" sz="1496" dirty="0"/>
          </a:p>
        </p:txBody>
      </p:sp>
      <p:sp>
        <p:nvSpPr>
          <p:cNvPr id="50" name="Text 44"/>
          <p:cNvSpPr txBox="1"/>
          <p:nvPr/>
        </p:nvSpPr>
        <p:spPr>
          <a:xfrm>
            <a:off x="2320170" y="4064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Voluntary adoption</a:t>
            </a:r>
            <a:endParaRPr lang="en-US" sz="1496" dirty="0"/>
          </a:p>
        </p:txBody>
      </p:sp>
      <p:sp>
        <p:nvSpPr>
          <p:cNvPr id="51" name="Text 45"/>
          <p:cNvSpPr txBox="1"/>
          <p:nvPr/>
        </p:nvSpPr>
        <p:spPr>
          <a:xfrm>
            <a:off x="5526029" y="4064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90% per phase</a:t>
            </a:r>
            <a:endParaRPr lang="en-US" sz="1496" dirty="0"/>
          </a:p>
        </p:txBody>
      </p:sp>
      <p:sp>
        <p:nvSpPr>
          <p:cNvPr id="52" name="Text 46"/>
          <p:cNvSpPr txBox="1"/>
          <p:nvPr/>
        </p:nvSpPr>
        <p:spPr>
          <a:xfrm>
            <a:off x="7875099" y="4064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Adoption tracking</a:t>
            </a:r>
            <a:endParaRPr lang="en-US" sz="1496" dirty="0"/>
          </a:p>
        </p:txBody>
      </p:sp>
      <p:sp>
        <p:nvSpPr>
          <p:cNvPr id="53" name="Text 47"/>
          <p:cNvSpPr txBox="1"/>
          <p:nvPr/>
        </p:nvSpPr>
        <p:spPr>
          <a:xfrm>
            <a:off x="481394" y="4445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Business</a:t>
            </a:r>
            <a:endParaRPr lang="en-US" sz="1496" dirty="0"/>
          </a:p>
        </p:txBody>
      </p:sp>
      <p:sp>
        <p:nvSpPr>
          <p:cNvPr id="54" name="Text 48"/>
          <p:cNvSpPr txBox="1"/>
          <p:nvPr/>
        </p:nvSpPr>
        <p:spPr>
          <a:xfrm>
            <a:off x="2320170" y="4445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Iteration cycle speed</a:t>
            </a:r>
            <a:endParaRPr lang="en-US" sz="1496" dirty="0"/>
          </a:p>
        </p:txBody>
      </p:sp>
      <p:sp>
        <p:nvSpPr>
          <p:cNvPr id="55" name="Text 49"/>
          <p:cNvSpPr txBox="1"/>
          <p:nvPr/>
        </p:nvSpPr>
        <p:spPr>
          <a:xfrm>
            <a:off x="5526029" y="4445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+30% faster</a:t>
            </a:r>
            <a:endParaRPr lang="en-US" sz="1496" dirty="0"/>
          </a:p>
        </p:txBody>
      </p:sp>
      <p:sp>
        <p:nvSpPr>
          <p:cNvPr id="56" name="Text 50"/>
          <p:cNvSpPr txBox="1"/>
          <p:nvPr/>
        </p:nvSpPr>
        <p:spPr>
          <a:xfrm>
            <a:off x="7875099" y="4445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Design team survey</a:t>
            </a:r>
            <a:endParaRPr lang="en-US" sz="1496" dirty="0"/>
          </a:p>
        </p:txBody>
      </p:sp>
      <p:sp>
        <p:nvSpPr>
          <p:cNvPr id="57" name="Text 51"/>
          <p:cNvSpPr txBox="1"/>
          <p:nvPr/>
        </p:nvSpPr>
        <p:spPr>
          <a:xfrm>
            <a:off x="481394" y="4826000"/>
            <a:ext cx="1686758" cy="228600"/>
          </a:xfrm>
          <a:prstGeom prst="rect">
            <a:avLst/>
          </a:prstGeom>
          <a:noFill/>
          <a:ln/>
        </p:spPr>
        <p:txBody>
          <a:bodyPr wrap="square" lIns="0" tIns="0" rIns="0" bIns="0" rtlCol="0" anchor="ctr"/>
          <a:lstStyle/>
          <a:p>
            <a:pPr algn="l" indent="0" marL="0">
              <a:buNone/>
            </a:pPr>
            <a:r>
              <a:rPr lang="en-US" sz="1496" b="1" dirty="0">
                <a:solidFill>
                  <a:srgbClr val="22D3EE"/>
                </a:solidFill>
                <a:latin typeface="Century Gothic" pitchFamily="34" charset="0"/>
                <a:ea typeface="Century Gothic" pitchFamily="34" charset="-122"/>
                <a:cs typeface="Century Gothic" pitchFamily="34" charset="-120"/>
              </a:rPr>
              <a:t>Business</a:t>
            </a:r>
            <a:endParaRPr lang="en-US" sz="1496" dirty="0"/>
          </a:p>
        </p:txBody>
      </p:sp>
      <p:sp>
        <p:nvSpPr>
          <p:cNvPr id="58" name="Text 52"/>
          <p:cNvSpPr txBox="1"/>
          <p:nvPr/>
        </p:nvSpPr>
        <p:spPr>
          <a:xfrm>
            <a:off x="2320170" y="4826000"/>
            <a:ext cx="3053840" cy="228600"/>
          </a:xfrm>
          <a:prstGeom prst="rect">
            <a:avLst/>
          </a:prstGeom>
          <a:noFill/>
          <a:ln/>
        </p:spPr>
        <p:txBody>
          <a:bodyPr wrap="square" lIns="0" tIns="0" rIns="0" bIns="0" rtlCol="0" anchor="ctr"/>
          <a:lstStyle/>
          <a:p>
            <a:pPr algn="l" indent="0" marL="0">
              <a:buNone/>
            </a:pPr>
            <a:r>
              <a:rPr lang="en-US" sz="1496" dirty="0">
                <a:solidFill>
                  <a:srgbClr val="F1F5F9"/>
                </a:solidFill>
                <a:latin typeface="Century Gothic" pitchFamily="34" charset="0"/>
                <a:ea typeface="Century Gothic" pitchFamily="34" charset="-122"/>
                <a:cs typeface="Century Gothic" pitchFamily="34" charset="-120"/>
              </a:rPr>
              <a:t>Infrastructure cost</a:t>
            </a:r>
            <a:endParaRPr lang="en-US" sz="1496" dirty="0"/>
          </a:p>
        </p:txBody>
      </p:sp>
      <p:sp>
        <p:nvSpPr>
          <p:cNvPr id="59" name="Text 53"/>
          <p:cNvSpPr txBox="1"/>
          <p:nvPr/>
        </p:nvSpPr>
        <p:spPr>
          <a:xfrm>
            <a:off x="5526029" y="4826000"/>
            <a:ext cx="219705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–40%</a:t>
            </a:r>
            <a:endParaRPr lang="en-US" sz="1496" dirty="0"/>
          </a:p>
        </p:txBody>
      </p:sp>
      <p:sp>
        <p:nvSpPr>
          <p:cNvPr id="60" name="Text 54"/>
          <p:cNvSpPr txBox="1"/>
          <p:nvPr/>
        </p:nvSpPr>
        <p:spPr>
          <a:xfrm>
            <a:off x="7875099" y="4826000"/>
            <a:ext cx="3805028" cy="228600"/>
          </a:xfrm>
          <a:prstGeom prst="rect">
            <a:avLst/>
          </a:prstGeom>
          <a:noFill/>
          <a:ln/>
        </p:spPr>
        <p:txBody>
          <a:bodyPr wrap="square" lIns="0" tIns="0" rIns="0" bIns="0" rtlCol="0" anchor="ctr"/>
          <a:lstStyle/>
          <a:p>
            <a:pPr algn="l" indent="0" marL="0">
              <a:buNone/>
            </a:pPr>
            <a:r>
              <a:rPr lang="en-US" sz="1496" dirty="0">
                <a:solidFill>
                  <a:srgbClr val="94A3B8"/>
                </a:solidFill>
                <a:latin typeface="Century Gothic" pitchFamily="34" charset="0"/>
                <a:ea typeface="Century Gothic" pitchFamily="34" charset="-122"/>
                <a:cs typeface="Century Gothic" pitchFamily="34" charset="-120"/>
              </a:rPr>
              <a:t>AWS Cost Explorer</a:t>
            </a:r>
            <a:endParaRPr lang="en-US" sz="1496" dirty="0"/>
          </a:p>
        </p:txBody>
      </p:sp>
      <p:sp>
        <p:nvSpPr>
          <p:cNvPr id="61" name="Text 55"/>
          <p:cNvSpPr txBox="1"/>
          <p:nvPr/>
        </p:nvSpPr>
        <p:spPr>
          <a:xfrm>
            <a:off x="405384" y="6426200"/>
            <a:ext cx="492161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Creative Tooling Lead Engineer — Case Assignment</a:t>
            </a:r>
            <a:endParaRPr lang="en-US" sz="1496" dirty="0"/>
          </a:p>
        </p:txBody>
      </p:sp>
      <p:sp>
        <p:nvSpPr>
          <p:cNvPr id="62" name="Text 56"/>
          <p:cNvSpPr txBox="1"/>
          <p:nvPr/>
        </p:nvSpPr>
        <p:spPr>
          <a:xfrm>
            <a:off x="8519398" y="6426200"/>
            <a:ext cx="3236738"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Part 2: Tool Consolidation Strategy</a:t>
            </a:r>
            <a:endParaRPr lang="en-US" sz="1496"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3873317" y="847725"/>
            <a:ext cx="4414885" cy="228600"/>
          </a:xfrm>
          <a:prstGeom prst="rect">
            <a:avLst/>
          </a:prstGeom>
          <a:noFill/>
          <a:ln/>
        </p:spPr>
        <p:txBody>
          <a:bodyPr wrap="square" lIns="0" tIns="0" rIns="0" bIns="0" rtlCol="0" anchor="ctr"/>
          <a:lstStyle/>
          <a:p>
            <a:pPr algn="l" indent="0" marL="0">
              <a:buNone/>
            </a:pPr>
            <a:r>
              <a:rPr lang="en-US" sz="1496" dirty="0">
                <a:solidFill>
                  <a:srgbClr val="64748B"/>
                </a:solidFill>
                <a:latin typeface="Century Gothic" pitchFamily="34" charset="0"/>
                <a:ea typeface="Century Gothic" pitchFamily="34" charset="-122"/>
                <a:cs typeface="Century Gothic" pitchFamily="34" charset="-120"/>
              </a:rPr>
              <a:t>Lead Engineer — Creative Tooling</a:t>
            </a:r>
            <a:endParaRPr lang="en-US" sz="1496" dirty="0"/>
          </a:p>
        </p:txBody>
      </p:sp>
      <p:sp>
        <p:nvSpPr>
          <p:cNvPr id="3" name="Text 1"/>
          <p:cNvSpPr txBox="1"/>
          <p:nvPr/>
        </p:nvSpPr>
        <p:spPr>
          <a:xfrm>
            <a:off x="3673793" y="1279525"/>
            <a:ext cx="4813935" cy="571500"/>
          </a:xfrm>
          <a:prstGeom prst="rect">
            <a:avLst/>
          </a:prstGeom>
          <a:noFill/>
          <a:ln/>
        </p:spPr>
        <p:txBody>
          <a:bodyPr wrap="square" lIns="0" tIns="0" rIns="0" bIns="0" rtlCol="0" anchor="ctr"/>
          <a:lstStyle/>
          <a:p>
            <a:pPr algn="ctr" indent="0" marL="0">
              <a:buNone/>
            </a:pPr>
            <a:r>
              <a:rPr lang="en-US" sz="3591" b="1" dirty="0">
                <a:solidFill>
                  <a:srgbClr val="F1F5F9"/>
                </a:solidFill>
                <a:latin typeface="Century Gothic" pitchFamily="34" charset="0"/>
                <a:ea typeface="Century Gothic" pitchFamily="34" charset="-122"/>
                <a:cs typeface="Century Gothic" pitchFamily="34" charset="-120"/>
              </a:rPr>
              <a:t>Build with engineers.</a:t>
            </a:r>
            <a:endParaRPr lang="en-US" sz="3591" dirty="0"/>
          </a:p>
        </p:txBody>
      </p:sp>
      <p:sp>
        <p:nvSpPr>
          <p:cNvPr id="4" name="Text 2"/>
          <p:cNvSpPr txBox="1"/>
          <p:nvPr/>
        </p:nvSpPr>
        <p:spPr>
          <a:xfrm>
            <a:off x="3493270" y="2054225"/>
            <a:ext cx="5174980" cy="571500"/>
          </a:xfrm>
          <a:prstGeom prst="rect">
            <a:avLst/>
          </a:prstGeom>
          <a:noFill/>
          <a:ln/>
        </p:spPr>
        <p:txBody>
          <a:bodyPr wrap="square" lIns="0" tIns="0" rIns="0" bIns="0" rtlCol="0" anchor="ctr"/>
          <a:lstStyle/>
          <a:p>
            <a:pPr algn="ctr" indent="0" marL="0">
              <a:buNone/>
            </a:pPr>
            <a:r>
              <a:rPr lang="en-US" sz="3591" b="1" dirty="0">
                <a:solidFill>
                  <a:srgbClr val="F1F5F9"/>
                </a:solidFill>
                <a:latin typeface="Century Gothic" pitchFamily="34" charset="0"/>
                <a:ea typeface="Century Gothic" pitchFamily="34" charset="-122"/>
                <a:cs typeface="Century Gothic" pitchFamily="34" charset="-120"/>
              </a:rPr>
              <a:t>Design with designers.</a:t>
            </a:r>
            <a:endParaRPr lang="en-US" sz="3591" dirty="0"/>
          </a:p>
        </p:txBody>
      </p:sp>
      <p:sp>
        <p:nvSpPr>
          <p:cNvPr id="5" name="Text 3"/>
          <p:cNvSpPr txBox="1"/>
          <p:nvPr/>
        </p:nvSpPr>
        <p:spPr>
          <a:xfrm>
            <a:off x="3379256" y="2828925"/>
            <a:ext cx="5403009" cy="571500"/>
          </a:xfrm>
          <a:prstGeom prst="rect">
            <a:avLst/>
          </a:prstGeom>
          <a:noFill/>
          <a:ln/>
        </p:spPr>
        <p:txBody>
          <a:bodyPr wrap="square" lIns="0" tIns="0" rIns="0" bIns="0" rtlCol="0" anchor="ctr"/>
          <a:lstStyle/>
          <a:p>
            <a:pPr algn="ctr" indent="0" marL="0">
              <a:buNone/>
            </a:pPr>
            <a:r>
              <a:rPr lang="en-US" sz="3591" b="1" dirty="0">
                <a:solidFill>
                  <a:srgbClr val="F1F5F9"/>
                </a:solidFill>
                <a:latin typeface="Century Gothic" pitchFamily="34" charset="0"/>
                <a:ea typeface="Century Gothic" pitchFamily="34" charset="-122"/>
                <a:cs typeface="Century Gothic" pitchFamily="34" charset="-120"/>
              </a:rPr>
              <a:t>Deliver for the business.</a:t>
            </a:r>
            <a:endParaRPr lang="en-US" sz="3591" dirty="0"/>
          </a:p>
        </p:txBody>
      </p:sp>
      <p:sp>
        <p:nvSpPr>
          <p:cNvPr id="6" name="Shape 4"/>
          <p:cNvSpPr/>
          <p:nvPr/>
        </p:nvSpPr>
        <p:spPr>
          <a:xfrm>
            <a:off x="5130641" y="3654425"/>
            <a:ext cx="1900238" cy="19050"/>
          </a:xfrm>
          <a:prstGeom prst="rect">
            <a:avLst/>
          </a:prstGeom>
          <a:solidFill>
            <a:srgbClr val="6366F1"/>
          </a:solidFill>
          <a:ln/>
        </p:spPr>
      </p:sp>
      <p:sp>
        <p:nvSpPr>
          <p:cNvPr id="7" name="Shape 5"/>
          <p:cNvSpPr/>
          <p:nvPr/>
        </p:nvSpPr>
        <p:spPr>
          <a:xfrm>
            <a:off x="2720507" y="3978275"/>
            <a:ext cx="2254949" cy="863600"/>
          </a:xfrm>
          <a:prstGeom prst="roundRect">
            <a:avLst>
              <a:gd name="adj" fmla="val 3569"/>
            </a:avLst>
          </a:prstGeom>
          <a:solidFill>
            <a:srgbClr val="334155"/>
          </a:solidFill>
          <a:ln/>
        </p:spPr>
      </p:sp>
      <p:pic>
        <p:nvPicPr>
          <p:cNvPr id="8" name="Image 0" descr="preencoded.png">    </p:cNvPr>
          <p:cNvPicPr>
            <a:picLocks noChangeAspect="1"/>
          </p:cNvPicPr>
          <p:nvPr/>
        </p:nvPicPr>
        <p:blipFill>
          <a:blip r:embed="rId1"/>
          <a:srcRect l="0" r="0" t="0" b="0"/>
          <a:stretch/>
        </p:blipFill>
        <p:spPr>
          <a:xfrm>
            <a:off x="3721298" y="4130675"/>
            <a:ext cx="253365" cy="254000"/>
          </a:xfrm>
          <a:prstGeom prst="rect">
            <a:avLst/>
          </a:prstGeom>
        </p:spPr>
      </p:pic>
      <p:sp>
        <p:nvSpPr>
          <p:cNvPr id="9" name="Text 6"/>
          <p:cNvSpPr txBox="1"/>
          <p:nvPr/>
        </p:nvSpPr>
        <p:spPr>
          <a:xfrm>
            <a:off x="2872526" y="4460875"/>
            <a:ext cx="1950911"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Technical Excellence</a:t>
            </a:r>
            <a:endParaRPr lang="en-US" sz="1496" dirty="0"/>
          </a:p>
        </p:txBody>
      </p:sp>
      <p:sp>
        <p:nvSpPr>
          <p:cNvPr id="10" name="Shape 7"/>
          <p:cNvSpPr/>
          <p:nvPr/>
        </p:nvSpPr>
        <p:spPr>
          <a:xfrm>
            <a:off x="5178147" y="3978275"/>
            <a:ext cx="2090261" cy="863600"/>
          </a:xfrm>
          <a:prstGeom prst="roundRect">
            <a:avLst>
              <a:gd name="adj" fmla="val 3850"/>
            </a:avLst>
          </a:prstGeom>
          <a:solidFill>
            <a:srgbClr val="334155"/>
          </a:solidFill>
          <a:ln/>
        </p:spPr>
      </p:sp>
      <p:pic>
        <p:nvPicPr>
          <p:cNvPr id="11" name="Image 1" descr="preencoded.png">    </p:cNvPr>
          <p:cNvPicPr>
            <a:picLocks noChangeAspect="1"/>
          </p:cNvPicPr>
          <p:nvPr/>
        </p:nvPicPr>
        <p:blipFill>
          <a:blip r:embed="rId2"/>
          <a:srcRect l="0" r="0" t="0" b="0"/>
          <a:stretch/>
        </p:blipFill>
        <p:spPr>
          <a:xfrm>
            <a:off x="6096595" y="4130675"/>
            <a:ext cx="253365" cy="254000"/>
          </a:xfrm>
          <a:prstGeom prst="rect">
            <a:avLst/>
          </a:prstGeom>
        </p:spPr>
      </p:pic>
      <p:sp>
        <p:nvSpPr>
          <p:cNvPr id="12" name="Text 8"/>
          <p:cNvSpPr txBox="1"/>
          <p:nvPr/>
        </p:nvSpPr>
        <p:spPr>
          <a:xfrm>
            <a:off x="5330166" y="4460875"/>
            <a:ext cx="1786223"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Designer Empathy</a:t>
            </a:r>
            <a:endParaRPr lang="en-US" sz="1496" dirty="0"/>
          </a:p>
        </p:txBody>
      </p:sp>
      <p:sp>
        <p:nvSpPr>
          <p:cNvPr id="13" name="Shape 9"/>
          <p:cNvSpPr/>
          <p:nvPr/>
        </p:nvSpPr>
        <p:spPr>
          <a:xfrm>
            <a:off x="7471100" y="3978275"/>
            <a:ext cx="1969913" cy="863600"/>
          </a:xfrm>
          <a:prstGeom prst="roundRect">
            <a:avLst>
              <a:gd name="adj" fmla="val 4085"/>
            </a:avLst>
          </a:prstGeom>
          <a:solidFill>
            <a:srgbClr val="334155"/>
          </a:solidFill>
          <a:ln/>
        </p:spPr>
      </p:sp>
      <p:pic>
        <p:nvPicPr>
          <p:cNvPr id="14" name="Image 2" descr="preencoded.png">    </p:cNvPr>
          <p:cNvPicPr>
            <a:picLocks noChangeAspect="1"/>
          </p:cNvPicPr>
          <p:nvPr/>
        </p:nvPicPr>
        <p:blipFill>
          <a:blip r:embed="rId3"/>
          <a:srcRect l="0" r="0" t="0" b="0"/>
          <a:stretch/>
        </p:blipFill>
        <p:spPr>
          <a:xfrm>
            <a:off x="8329374" y="4130675"/>
            <a:ext cx="253365" cy="254000"/>
          </a:xfrm>
          <a:prstGeom prst="rect">
            <a:avLst/>
          </a:prstGeom>
        </p:spPr>
      </p:pic>
      <p:sp>
        <p:nvSpPr>
          <p:cNvPr id="15" name="Text 10"/>
          <p:cNvSpPr txBox="1"/>
          <p:nvPr/>
        </p:nvSpPr>
        <p:spPr>
          <a:xfrm>
            <a:off x="7623119" y="4460875"/>
            <a:ext cx="1665875" cy="228600"/>
          </a:xfrm>
          <a:prstGeom prst="rect">
            <a:avLst/>
          </a:prstGeom>
          <a:noFill/>
          <a:ln/>
        </p:spPr>
        <p:txBody>
          <a:bodyPr wrap="square" lIns="0" tIns="0" rIns="0" bIns="0" rtlCol="0" anchor="ctr"/>
          <a:lstStyle/>
          <a:p>
            <a:pPr algn="l" indent="0" marL="0">
              <a:buNone/>
            </a:pPr>
            <a:r>
              <a:rPr lang="en-US" sz="1496" b="1" dirty="0">
                <a:solidFill>
                  <a:srgbClr val="F1F5F9"/>
                </a:solidFill>
                <a:latin typeface="Century Gothic" pitchFamily="34" charset="0"/>
                <a:ea typeface="Century Gothic" pitchFamily="34" charset="-122"/>
                <a:cs typeface="Century Gothic" pitchFamily="34" charset="-120"/>
              </a:rPr>
              <a:t>Strategic Delivery</a:t>
            </a:r>
            <a:endParaRPr lang="en-US" sz="1496" dirty="0"/>
          </a:p>
        </p:txBody>
      </p:sp>
      <p:sp>
        <p:nvSpPr>
          <p:cNvPr id="16" name="Text 11"/>
          <p:cNvSpPr txBox="1"/>
          <p:nvPr/>
        </p:nvSpPr>
        <p:spPr>
          <a:xfrm>
            <a:off x="3873317" y="5197475"/>
            <a:ext cx="4414885" cy="381000"/>
          </a:xfrm>
          <a:prstGeom prst="rect">
            <a:avLst/>
          </a:prstGeom>
          <a:noFill/>
          <a:ln/>
        </p:spPr>
        <p:txBody>
          <a:bodyPr wrap="square" lIns="0" tIns="0" rIns="0" bIns="0" rtlCol="0" anchor="ctr"/>
          <a:lstStyle/>
          <a:p>
            <a:pPr algn="l" indent="0" marL="0">
              <a:buNone/>
            </a:pPr>
            <a:r>
              <a:rPr lang="en-US" sz="2993" b="1" dirty="0">
                <a:solidFill>
                  <a:srgbClr val="22D3EE"/>
                </a:solidFill>
                <a:latin typeface="Century Gothic" pitchFamily="34" charset="0"/>
                <a:ea typeface="Century Gothic" pitchFamily="34" charset="-122"/>
                <a:cs typeface="Century Gothic" pitchFamily="34" charset="-120"/>
              </a:rPr>
              <a:t>Questions &amp; Discussion</a:t>
            </a:r>
            <a:endParaRPr lang="en-US" sz="2993" dirty="0"/>
          </a:p>
        </p:txBody>
      </p:sp>
      <p:sp>
        <p:nvSpPr>
          <p:cNvPr id="17" name="Text 12"/>
          <p:cNvSpPr txBox="1"/>
          <p:nvPr/>
        </p:nvSpPr>
        <p:spPr>
          <a:xfrm>
            <a:off x="4946952" y="5781675"/>
            <a:ext cx="2267617" cy="228600"/>
          </a:xfrm>
          <a:prstGeom prst="rect">
            <a:avLst/>
          </a:prstGeom>
          <a:noFill/>
          <a:ln/>
        </p:spPr>
        <p:txBody>
          <a:bodyPr wrap="square" lIns="0" tIns="0" rIns="0" bIns="0" rtlCol="0" anchor="ctr"/>
          <a:lstStyle/>
          <a:p>
            <a:pPr algn="l" indent="0" marL="0">
              <a:buNone/>
            </a:pPr>
            <a:r>
              <a:rPr lang="en-US" sz="1496" i="1" dirty="0">
                <a:solidFill>
                  <a:srgbClr val="94A3B8"/>
                </a:solidFill>
                <a:latin typeface="Century Gothic" pitchFamily="34" charset="0"/>
                <a:ea typeface="Century Gothic" pitchFamily="34" charset="-122"/>
                <a:cs typeface="Century Gothic" pitchFamily="34" charset="-120"/>
              </a:rPr>
              <a:t>Thank you for your time</a:t>
            </a:r>
            <a:endParaRPr lang="en-US" sz="1496"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2026-04-03T12:06:07Z</dcterms:created>
  <dcterms:modified xsi:type="dcterms:W3CDTF">2026-04-03T12:06:07Z</dcterms:modified>
</cp:coreProperties>
</file>