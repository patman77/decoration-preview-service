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0847" y="1590675"/>
            <a:ext cx="3939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CASE ASSIGNMENT PRESENTATION</a:t>
            </a:r>
            <a:endParaRPr lang="en-US" sz="1496" dirty="0"/>
          </a:p>
        </p:txBody>
      </p:sp>
      <p:sp>
        <p:nvSpPr>
          <p:cNvPr id="3" name="Text 1"/>
          <p:cNvSpPr txBox="1"/>
          <p:nvPr/>
        </p:nvSpPr>
        <p:spPr>
          <a:xfrm>
            <a:off x="2837688" y="1971675"/>
            <a:ext cx="6486144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4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</a:t>
            </a:r>
            <a:endParaRPr lang="en-US" sz="6384" dirty="0"/>
          </a:p>
        </p:txBody>
      </p:sp>
      <p:sp>
        <p:nvSpPr>
          <p:cNvPr id="4" name="Text 2"/>
          <p:cNvSpPr txBox="1"/>
          <p:nvPr/>
        </p:nvSpPr>
        <p:spPr>
          <a:xfrm>
            <a:off x="3860649" y="3140075"/>
            <a:ext cx="444022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88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Patrick Klie</a:t>
            </a:r>
            <a:endParaRPr lang="en-US" sz="4788" dirty="0"/>
          </a:p>
        </p:txBody>
      </p:sp>
      <p:sp>
        <p:nvSpPr>
          <p:cNvPr id="11" name="Text 7"/>
          <p:cNvSpPr txBox="1"/>
          <p:nvPr/>
        </p:nvSpPr>
        <p:spPr>
          <a:xfrm>
            <a:off x="2837688" y="3822075"/>
            <a:ext cx="6486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Lead Engineer, Creative Tooling interview</a:t>
            </a:r>
            <a:endParaRPr lang="en-US" sz="1795" dirty="0"/>
          </a:p>
        </p:txBody>
      </p:sp>
      <p:sp>
        <p:nvSpPr>
          <p:cNvPr id="12" name="Text 8"/>
          <p:cNvSpPr txBox="1"/>
          <p:nvPr/>
        </p:nvSpPr>
        <p:spPr>
          <a:xfrm>
            <a:off x="4110847" y="4126075"/>
            <a:ext cx="3939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April 2026</a:t>
            </a:r>
            <a:endParaRPr lang="en-US" sz="1496" dirty="0"/>
          </a:p>
        </p:txBody>
      </p:sp>
      <p:sp>
        <p:nvSpPr>
          <p:cNvPr id="5" name="Shape 3"/>
          <p:cNvSpPr/>
          <p:nvPr/>
        </p:nvSpPr>
        <p:spPr>
          <a:xfrm>
            <a:off x="4813935" y="4476075"/>
            <a:ext cx="2533650" cy="1905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09264" y="4749125"/>
            <a:ext cx="79429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1: Decoration Preview Service · Part 2: Tool Consolidation Strategy</a:t>
            </a:r>
            <a:endParaRPr lang="en-US" sz="179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19161" y="5064125"/>
            <a:ext cx="177356" cy="177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872526" y="5038725"/>
            <a:ext cx="2242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30-Minute Presentation</a:t>
            </a:r>
            <a:endParaRPr lang="en-US" sz="1496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18844" y="5064125"/>
            <a:ext cx="177356" cy="1778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72209" y="5038725"/>
            <a:ext cx="387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Engineering · Design · Senior Leadership</a:t>
            </a:r>
            <a:endParaRPr lang="en-US" sz="149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5384" y="203200"/>
            <a:ext cx="113507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Today's Agenda</a:t>
            </a:r>
            <a:endParaRPr lang="en-US" sz="2993" dirty="0"/>
          </a:p>
        </p:txBody>
      </p:sp>
      <p:sp>
        <p:nvSpPr>
          <p:cNvPr id="3" name="Text 1"/>
          <p:cNvSpPr txBox="1"/>
          <p:nvPr/>
        </p:nvSpPr>
        <p:spPr>
          <a:xfrm>
            <a:off x="405384" y="635000"/>
            <a:ext cx="1135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Two-part presentation · 30 minutes total</a:t>
            </a:r>
            <a:endParaRPr lang="en-US" sz="1496" dirty="0"/>
          </a:p>
        </p:txBody>
      </p:sp>
      <p:sp>
        <p:nvSpPr>
          <p:cNvPr id="4" name="Shape 2"/>
          <p:cNvSpPr/>
          <p:nvPr/>
        </p:nvSpPr>
        <p:spPr>
          <a:xfrm>
            <a:off x="405384" y="1016000"/>
            <a:ext cx="5463183" cy="5257800"/>
          </a:xfrm>
          <a:prstGeom prst="roundRect">
            <a:avLst>
              <a:gd name="adj" fmla="val 323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658749" y="1270000"/>
            <a:ext cx="829770" cy="330200"/>
          </a:xfrm>
          <a:prstGeom prst="roundRect">
            <a:avLst>
              <a:gd name="adj" fmla="val 21137052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10768" y="1320800"/>
            <a:ext cx="525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</a:t>
            </a:r>
            <a:endParaRPr lang="en-US" sz="1496" dirty="0"/>
          </a:p>
        </p:txBody>
      </p:sp>
      <p:sp>
        <p:nvSpPr>
          <p:cNvPr id="7" name="Text 5"/>
          <p:cNvSpPr txBox="1"/>
          <p:nvPr/>
        </p:nvSpPr>
        <p:spPr>
          <a:xfrm>
            <a:off x="658749" y="1701800"/>
            <a:ext cx="495645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Decoration Preview Service</a:t>
            </a:r>
            <a:endParaRPr lang="en-US" sz="2394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749" y="2222500"/>
            <a:ext cx="152019" cy="1524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1441" y="2184400"/>
            <a:ext cx="1133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~10 minutes</a:t>
            </a:r>
            <a:endParaRPr lang="en-US" sz="1496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749" y="2616200"/>
            <a:ext cx="126683" cy="1270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441" y="2565400"/>
            <a:ext cx="28060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problem &amp; solution vision</a:t>
            </a:r>
            <a:endParaRPr lang="en-US" sz="1496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749" y="2946400"/>
            <a:ext cx="126683" cy="1270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61441" y="2895600"/>
            <a:ext cx="2337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System architecture (C4)</a:t>
            </a:r>
            <a:endParaRPr lang="en-US" sz="1496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8749" y="3276600"/>
            <a:ext cx="126683" cy="1270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1441" y="3225800"/>
            <a:ext cx="2001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 design &amp; security</a:t>
            </a:r>
            <a:endParaRPr lang="en-US" sz="1496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8749" y="3606800"/>
            <a:ext cx="126683" cy="1270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61441" y="3556000"/>
            <a:ext cx="27996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Scalability &amp; design principles</a:t>
            </a:r>
            <a:endParaRPr lang="en-US" sz="1496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8749" y="3937000"/>
            <a:ext cx="126683" cy="1270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61441" y="3886200"/>
            <a:ext cx="2698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Implementation &amp; summary</a:t>
            </a:r>
            <a:endParaRPr lang="en-US" sz="1496" dirty="0"/>
          </a:p>
        </p:txBody>
      </p:sp>
      <p:sp>
        <p:nvSpPr>
          <p:cNvPr id="20" name="Shape 12"/>
          <p:cNvSpPr/>
          <p:nvPr/>
        </p:nvSpPr>
        <p:spPr>
          <a:xfrm>
            <a:off x="6071259" y="1016000"/>
            <a:ext cx="19002" cy="52578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Shape 13"/>
          <p:cNvSpPr/>
          <p:nvPr/>
        </p:nvSpPr>
        <p:spPr>
          <a:xfrm>
            <a:off x="6292953" y="1016000"/>
            <a:ext cx="5463183" cy="5257800"/>
          </a:xfrm>
          <a:prstGeom prst="roundRect">
            <a:avLst>
              <a:gd name="adj" fmla="val 323"/>
            </a:avLst>
          </a:prstGeom>
          <a:solidFill>
            <a:srgbClr val="1E293B"/>
          </a:solidFill>
          <a:ln/>
        </p:spPr>
      </p:sp>
      <p:sp>
        <p:nvSpPr>
          <p:cNvPr id="22" name="Shape 14"/>
          <p:cNvSpPr/>
          <p:nvPr/>
        </p:nvSpPr>
        <p:spPr>
          <a:xfrm>
            <a:off x="6546318" y="1270000"/>
            <a:ext cx="867775" cy="330200"/>
          </a:xfrm>
          <a:prstGeom prst="roundRect">
            <a:avLst>
              <a:gd name="adj" fmla="val 20211342"/>
            </a:avLst>
          </a:prstGeom>
          <a:solidFill>
            <a:srgbClr val="22D3EE"/>
          </a:solidFill>
          <a:ln/>
        </p:spPr>
      </p:sp>
      <p:sp>
        <p:nvSpPr>
          <p:cNvPr id="23" name="Text 15"/>
          <p:cNvSpPr txBox="1"/>
          <p:nvPr/>
        </p:nvSpPr>
        <p:spPr>
          <a:xfrm>
            <a:off x="6698337" y="1320800"/>
            <a:ext cx="5637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</a:t>
            </a:r>
            <a:endParaRPr lang="en-US" sz="1496" dirty="0"/>
          </a:p>
        </p:txBody>
      </p:sp>
      <p:sp>
        <p:nvSpPr>
          <p:cNvPr id="24" name="Text 16"/>
          <p:cNvSpPr txBox="1"/>
          <p:nvPr/>
        </p:nvSpPr>
        <p:spPr>
          <a:xfrm>
            <a:off x="6546318" y="1701800"/>
            <a:ext cx="495645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Tool Consolidation Strategy</a:t>
            </a:r>
            <a:endParaRPr lang="en-US" sz="2394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546318" y="2222500"/>
            <a:ext cx="152019" cy="1524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749010" y="2184400"/>
            <a:ext cx="1178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~20 minutes</a:t>
            </a:r>
            <a:endParaRPr lang="en-US" sz="1496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546318" y="2616200"/>
            <a:ext cx="126683" cy="12700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749010" y="2565400"/>
            <a:ext cx="210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challenge &amp; vision</a:t>
            </a:r>
            <a:endParaRPr lang="en-US" sz="1496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546318" y="2946400"/>
            <a:ext cx="126683" cy="12700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6749010" y="2895600"/>
            <a:ext cx="1824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 architecture</a:t>
            </a:r>
            <a:endParaRPr lang="en-US" sz="1496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546318" y="3276600"/>
            <a:ext cx="126683" cy="12700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6749010" y="3225800"/>
            <a:ext cx="2647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5-phase 18-month roadmap</a:t>
            </a:r>
            <a:endParaRPr lang="en-US" sz="1496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546318" y="3606800"/>
            <a:ext cx="126683" cy="12700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6749010" y="3556000"/>
            <a:ext cx="32494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Handling legacy tools &amp; resistance</a:t>
            </a:r>
            <a:endParaRPr lang="en-US" sz="1496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546318" y="3937000"/>
            <a:ext cx="126683" cy="127000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6749010" y="3886200"/>
            <a:ext cx="2761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 strategy &amp; success metrics</a:t>
            </a:r>
            <a:endParaRPr lang="en-US" sz="1496" dirty="0"/>
          </a:p>
        </p:txBody>
      </p:sp>
      <p:sp>
        <p:nvSpPr>
          <p:cNvPr id="37" name="Text 23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38" name="Text 24"/>
          <p:cNvSpPr txBox="1"/>
          <p:nvPr/>
        </p:nvSpPr>
        <p:spPr>
          <a:xfrm>
            <a:off x="10875693" y="6426200"/>
            <a:ext cx="8804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Overview</a:t>
            </a:r>
            <a:endParaRPr lang="en-US" sz="149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3521774" cy="279400"/>
          </a:xfrm>
          <a:prstGeom prst="roundRect">
            <a:avLst>
              <a:gd name="adj" fmla="val 5885612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3268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 · Decoration Preview Service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4028503" y="203200"/>
            <a:ext cx="24513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Problem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405384" y="736600"/>
            <a:ext cx="755671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Designers wait hours for 3D previews of their 2D artwork</a:t>
            </a:r>
            <a:endParaRPr lang="en-US" sz="2394" dirty="0"/>
          </a:p>
        </p:txBody>
      </p:sp>
      <p:sp>
        <p:nvSpPr>
          <p:cNvPr id="6" name="Text 4"/>
          <p:cNvSpPr txBox="1"/>
          <p:nvPr/>
        </p:nvSpPr>
        <p:spPr>
          <a:xfrm>
            <a:off x="405384" y="1574800"/>
            <a:ext cx="7556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preview request blocks the creative iteration cycle</a:t>
            </a:r>
            <a:endParaRPr lang="en-US" sz="1496" dirty="0"/>
          </a:p>
        </p:txBody>
      </p:sp>
      <p:sp>
        <p:nvSpPr>
          <p:cNvPr id="7" name="Shape 5"/>
          <p:cNvSpPr/>
          <p:nvPr/>
        </p:nvSpPr>
        <p:spPr>
          <a:xfrm>
            <a:off x="405384" y="2006600"/>
            <a:ext cx="2417557" cy="4267200"/>
          </a:xfrm>
          <a:prstGeom prst="roundRect">
            <a:avLst>
              <a:gd name="adj" fmla="val 675"/>
            </a:avLst>
          </a:prstGeom>
          <a:solidFill>
            <a:srgbClr val="1E2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2094" y="3670300"/>
            <a:ext cx="304038" cy="3048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73496" y="4076700"/>
            <a:ext cx="18812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Hours of waiting</a:t>
            </a:r>
            <a:endParaRPr lang="en-US" sz="1795" dirty="0"/>
          </a:p>
        </p:txBody>
      </p:sp>
      <p:sp>
        <p:nvSpPr>
          <p:cNvPr id="10" name="Text 7"/>
          <p:cNvSpPr txBox="1"/>
          <p:nvPr/>
        </p:nvSpPr>
        <p:spPr>
          <a:xfrm>
            <a:off x="660827" y="4381500"/>
            <a:ext cx="19065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 preview request</a:t>
            </a:r>
            <a:endParaRPr lang="en-US" sz="1496" dirty="0"/>
          </a:p>
        </p:txBody>
      </p:sp>
      <p:sp>
        <p:nvSpPr>
          <p:cNvPr id="11" name="Shape 8"/>
          <p:cNvSpPr/>
          <p:nvPr/>
        </p:nvSpPr>
        <p:spPr>
          <a:xfrm>
            <a:off x="2974960" y="2006600"/>
            <a:ext cx="2417557" cy="4267200"/>
          </a:xfrm>
          <a:prstGeom prst="roundRect">
            <a:avLst>
              <a:gd name="adj" fmla="val 675"/>
            </a:avLst>
          </a:prstGeom>
          <a:solidFill>
            <a:srgbClr val="1E29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31671" y="3556000"/>
            <a:ext cx="304038" cy="304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01425" y="3962400"/>
            <a:ext cx="156452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Slow iteration</a:t>
            </a:r>
            <a:endParaRPr lang="en-US" sz="1795" dirty="0"/>
          </a:p>
        </p:txBody>
      </p:sp>
      <p:sp>
        <p:nvSpPr>
          <p:cNvPr id="14" name="Text 10"/>
          <p:cNvSpPr txBox="1"/>
          <p:nvPr/>
        </p:nvSpPr>
        <p:spPr>
          <a:xfrm>
            <a:off x="3126979" y="4267200"/>
            <a:ext cx="21135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Feedback loops broken</a:t>
            </a:r>
            <a:endParaRPr lang="en-US" sz="1496" dirty="0"/>
          </a:p>
        </p:txBody>
      </p:sp>
      <p:sp>
        <p:nvSpPr>
          <p:cNvPr id="15" name="Shape 11"/>
          <p:cNvSpPr/>
          <p:nvPr/>
        </p:nvSpPr>
        <p:spPr>
          <a:xfrm>
            <a:off x="5544537" y="2006600"/>
            <a:ext cx="2417557" cy="4267200"/>
          </a:xfrm>
          <a:prstGeom prst="roundRect">
            <a:avLst>
              <a:gd name="adj" fmla="val 675"/>
            </a:avLst>
          </a:prstGeom>
          <a:solidFill>
            <a:srgbClr val="1E29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01247" y="3429000"/>
            <a:ext cx="304038" cy="3048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696556" y="3835400"/>
            <a:ext cx="211351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Designer frustration</a:t>
            </a:r>
            <a:endParaRPr lang="en-US" sz="1795" dirty="0"/>
          </a:p>
        </p:txBody>
      </p:sp>
      <p:sp>
        <p:nvSpPr>
          <p:cNvPr id="18" name="Text 13"/>
          <p:cNvSpPr txBox="1"/>
          <p:nvPr/>
        </p:nvSpPr>
        <p:spPr>
          <a:xfrm>
            <a:off x="5696556" y="4394200"/>
            <a:ext cx="21135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momentum lost</a:t>
            </a:r>
            <a:endParaRPr lang="en-US" sz="1496" dirty="0"/>
          </a:p>
        </p:txBody>
      </p:sp>
      <p:sp>
        <p:nvSpPr>
          <p:cNvPr id="19" name="Shape 14"/>
          <p:cNvSpPr/>
          <p:nvPr/>
        </p:nvSpPr>
        <p:spPr>
          <a:xfrm>
            <a:off x="8215459" y="2019300"/>
            <a:ext cx="3540677" cy="2971800"/>
          </a:xfrm>
          <a:prstGeom prst="roundRect">
            <a:avLst>
              <a:gd name="adj" fmla="val 881"/>
            </a:avLst>
          </a:prstGeom>
          <a:solidFill>
            <a:srgbClr val="1E293B"/>
          </a:solidFill>
          <a:ln w="12668">
            <a:solidFill>
              <a:srgbClr val="6366F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83056" y="2286000"/>
            <a:ext cx="405384" cy="4064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772763" y="2794000"/>
            <a:ext cx="242597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84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Hours</a:t>
            </a:r>
            <a:endParaRPr lang="en-US" sz="6384" dirty="0"/>
          </a:p>
        </p:txBody>
      </p:sp>
      <p:sp>
        <p:nvSpPr>
          <p:cNvPr id="22" name="Text 16"/>
          <p:cNvSpPr txBox="1"/>
          <p:nvPr/>
        </p:nvSpPr>
        <p:spPr>
          <a:xfrm>
            <a:off x="8481492" y="3708400"/>
            <a:ext cx="300861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wait time per preview</a:t>
            </a:r>
            <a:endParaRPr lang="en-US" sz="1795" dirty="0"/>
          </a:p>
        </p:txBody>
      </p:sp>
      <p:sp>
        <p:nvSpPr>
          <p:cNvPr id="23" name="Text 17"/>
          <p:cNvSpPr txBox="1"/>
          <p:nvPr/>
        </p:nvSpPr>
        <p:spPr>
          <a:xfrm>
            <a:off x="8481492" y="4267200"/>
            <a:ext cx="300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vs. seconds needed to stay in flow</a:t>
            </a:r>
            <a:endParaRPr lang="en-US" sz="1496" dirty="0"/>
          </a:p>
        </p:txBody>
      </p:sp>
      <p:sp>
        <p:nvSpPr>
          <p:cNvPr id="24" name="Text 18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25" name="Text 19"/>
          <p:cNvSpPr txBox="1"/>
          <p:nvPr/>
        </p:nvSpPr>
        <p:spPr>
          <a:xfrm>
            <a:off x="8551069" y="6426200"/>
            <a:ext cx="32050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1: Decoration Preview Service</a:t>
            </a:r>
            <a:endParaRPr lang="en-US" sz="149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3521774" cy="279400"/>
          </a:xfrm>
          <a:prstGeom prst="roundRect">
            <a:avLst>
              <a:gd name="adj" fmla="val 5885612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3268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 · Decoration Preview Service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4028503" y="203200"/>
            <a:ext cx="28313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Solution Vision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608076" y="736600"/>
            <a:ext cx="109453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94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 async, cloud-native rendering service that never blocks the designer</a:t>
            </a:r>
            <a:endParaRPr lang="en-US" sz="2394" dirty="0"/>
          </a:p>
        </p:txBody>
      </p:sp>
      <p:sp>
        <p:nvSpPr>
          <p:cNvPr id="6" name="Shape 4"/>
          <p:cNvSpPr/>
          <p:nvPr/>
        </p:nvSpPr>
        <p:spPr>
          <a:xfrm>
            <a:off x="5130641" y="1117600"/>
            <a:ext cx="1900238" cy="1905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8076" y="1238250"/>
            <a:ext cx="10945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Designers submit → system processes → result delivered — no waiting required</a:t>
            </a:r>
            <a:endParaRPr lang="en-US" sz="1496" dirty="0"/>
          </a:p>
        </p:txBody>
      </p:sp>
      <p:sp>
        <p:nvSpPr>
          <p:cNvPr id="8" name="Shape 6"/>
          <p:cNvSpPr/>
          <p:nvPr/>
        </p:nvSpPr>
        <p:spPr>
          <a:xfrm>
            <a:off x="405384" y="1670050"/>
            <a:ext cx="2723674" cy="4603750"/>
          </a:xfrm>
          <a:prstGeom prst="roundRect">
            <a:avLst>
              <a:gd name="adj" fmla="val 556"/>
            </a:avLst>
          </a:prstGeom>
          <a:solidFill>
            <a:srgbClr val="1E293B"/>
          </a:solidFill>
          <a:ln w="25337">
            <a:solidFill>
              <a:srgbClr val="6366F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89865" y="3362325"/>
            <a:ext cx="354711" cy="355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43310" y="3819525"/>
            <a:ext cx="124782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Async First</a:t>
            </a:r>
            <a:endParaRPr lang="en-US" sz="1795" dirty="0"/>
          </a:p>
        </p:txBody>
      </p:sp>
      <p:sp>
        <p:nvSpPr>
          <p:cNvPr id="11" name="Text 8"/>
          <p:cNvSpPr txBox="1"/>
          <p:nvPr/>
        </p:nvSpPr>
        <p:spPr>
          <a:xfrm>
            <a:off x="608076" y="4149725"/>
            <a:ext cx="2318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Submit &amp; continue working. No blocking.</a:t>
            </a:r>
            <a:endParaRPr lang="en-US" sz="1496" dirty="0"/>
          </a:p>
        </p:txBody>
      </p:sp>
      <p:sp>
        <p:nvSpPr>
          <p:cNvPr id="12" name="Shape 9"/>
          <p:cNvSpPr/>
          <p:nvPr/>
        </p:nvSpPr>
        <p:spPr>
          <a:xfrm>
            <a:off x="3281077" y="1670050"/>
            <a:ext cx="2723674" cy="4603750"/>
          </a:xfrm>
          <a:prstGeom prst="roundRect">
            <a:avLst>
              <a:gd name="adj" fmla="val 556"/>
            </a:avLst>
          </a:prstGeom>
          <a:solidFill>
            <a:srgbClr val="1E293B"/>
          </a:solidFill>
          <a:ln w="25337">
            <a:solidFill>
              <a:srgbClr val="6366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65558" y="3362325"/>
            <a:ext cx="354711" cy="355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08155" y="3819525"/>
            <a:ext cx="14695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Cloud Native</a:t>
            </a:r>
            <a:endParaRPr lang="en-US" sz="1795" dirty="0"/>
          </a:p>
        </p:txBody>
      </p:sp>
      <p:sp>
        <p:nvSpPr>
          <p:cNvPr id="15" name="Text 11"/>
          <p:cNvSpPr txBox="1"/>
          <p:nvPr/>
        </p:nvSpPr>
        <p:spPr>
          <a:xfrm>
            <a:off x="3483769" y="4149725"/>
            <a:ext cx="2318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AWS-native — scalable, resilient, managed.</a:t>
            </a:r>
            <a:endParaRPr lang="en-US" sz="1496" dirty="0"/>
          </a:p>
        </p:txBody>
      </p:sp>
      <p:sp>
        <p:nvSpPr>
          <p:cNvPr id="16" name="Shape 12"/>
          <p:cNvSpPr/>
          <p:nvPr/>
        </p:nvSpPr>
        <p:spPr>
          <a:xfrm>
            <a:off x="6156770" y="1670050"/>
            <a:ext cx="2723674" cy="4603750"/>
          </a:xfrm>
          <a:prstGeom prst="roundRect">
            <a:avLst>
              <a:gd name="adj" fmla="val 556"/>
            </a:avLst>
          </a:prstGeom>
          <a:solidFill>
            <a:srgbClr val="1E293B"/>
          </a:solidFill>
          <a:ln w="25337">
            <a:solidFill>
              <a:srgbClr val="6366F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41251" y="3248025"/>
            <a:ext cx="354711" cy="355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08313" y="3705225"/>
            <a:ext cx="20205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Secure by Default</a:t>
            </a:r>
            <a:endParaRPr lang="en-US" sz="1795" dirty="0"/>
          </a:p>
        </p:txBody>
      </p:sp>
      <p:sp>
        <p:nvSpPr>
          <p:cNvPr id="19" name="Text 14"/>
          <p:cNvSpPr txBox="1"/>
          <p:nvPr/>
        </p:nvSpPr>
        <p:spPr>
          <a:xfrm>
            <a:off x="6359462" y="4035425"/>
            <a:ext cx="23182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KMS encryption, pre-signed URLs, VPC isolation.</a:t>
            </a:r>
            <a:endParaRPr lang="en-US" sz="1496" dirty="0"/>
          </a:p>
        </p:txBody>
      </p:sp>
      <p:sp>
        <p:nvSpPr>
          <p:cNvPr id="20" name="Shape 15"/>
          <p:cNvSpPr/>
          <p:nvPr/>
        </p:nvSpPr>
        <p:spPr>
          <a:xfrm>
            <a:off x="9032462" y="1670050"/>
            <a:ext cx="2723674" cy="4603750"/>
          </a:xfrm>
          <a:prstGeom prst="roundRect">
            <a:avLst>
              <a:gd name="adj" fmla="val 556"/>
            </a:avLst>
          </a:prstGeom>
          <a:solidFill>
            <a:srgbClr val="1E293B"/>
          </a:solidFill>
          <a:ln w="25337">
            <a:solidFill>
              <a:srgbClr val="6366F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16944" y="3248025"/>
            <a:ext cx="354711" cy="355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631037" y="3705225"/>
            <a:ext cx="15265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100× Scalable</a:t>
            </a:r>
            <a:endParaRPr lang="en-US" sz="1795" dirty="0"/>
          </a:p>
        </p:txBody>
      </p:sp>
      <p:sp>
        <p:nvSpPr>
          <p:cNvPr id="23" name="Text 17"/>
          <p:cNvSpPr txBox="1"/>
          <p:nvPr/>
        </p:nvSpPr>
        <p:spPr>
          <a:xfrm>
            <a:off x="9235154" y="4035425"/>
            <a:ext cx="23182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to 10,000+ renders/day with auto-scaling.</a:t>
            </a:r>
            <a:endParaRPr lang="en-US" sz="1496" dirty="0"/>
          </a:p>
        </p:txBody>
      </p:sp>
      <p:sp>
        <p:nvSpPr>
          <p:cNvPr id="24" name="Text 18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25" name="Text 19"/>
          <p:cNvSpPr txBox="1"/>
          <p:nvPr/>
        </p:nvSpPr>
        <p:spPr>
          <a:xfrm>
            <a:off x="8551069" y="6426200"/>
            <a:ext cx="32050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1: Decoration Preview Service</a:t>
            </a:r>
            <a:endParaRPr lang="en-US" sz="149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2115598" cy="279400"/>
          </a:xfrm>
          <a:prstGeom prst="roundRect">
            <a:avLst>
              <a:gd name="adj" fmla="val 9797605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18622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 · Architecture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622328" y="203200"/>
            <a:ext cx="3870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C4 Context Diagram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405384" y="1885950"/>
            <a:ext cx="504661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System Context — Who uses it and what does it connect to?</a:t>
            </a:r>
            <a:endParaRPr lang="en-US" sz="1795" dirty="0"/>
          </a:p>
        </p:txBody>
      </p:sp>
      <p:sp>
        <p:nvSpPr>
          <p:cNvPr id="6" name="Text 4"/>
          <p:cNvSpPr txBox="1"/>
          <p:nvPr/>
        </p:nvSpPr>
        <p:spPr>
          <a:xfrm>
            <a:off x="405384" y="2609850"/>
            <a:ext cx="5046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Primary Actors</a:t>
            </a:r>
            <a:endParaRPr lang="en-US" sz="1496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1189" r="1189" t="0" b="0"/>
          <a:stretch/>
        </p:blipFill>
        <p:spPr>
          <a:xfrm>
            <a:off x="405384" y="3041650"/>
            <a:ext cx="142221" cy="152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3614" y="2889250"/>
            <a:ext cx="16414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Graphic Designers</a:t>
            </a:r>
            <a:endParaRPr lang="en-US" sz="1496" dirty="0"/>
          </a:p>
        </p:txBody>
      </p:sp>
      <p:sp>
        <p:nvSpPr>
          <p:cNvPr id="9" name="Text 6"/>
          <p:cNvSpPr txBox="1"/>
          <p:nvPr/>
        </p:nvSpPr>
        <p:spPr>
          <a:xfrm>
            <a:off x="2341053" y="2889250"/>
            <a:ext cx="3110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Upload artwork, review previews</a:t>
            </a:r>
            <a:endParaRPr lang="en-US" sz="1496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5384" y="3435350"/>
            <a:ext cx="152019" cy="1524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3413" y="3397250"/>
            <a:ext cx="16848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 Managers</a:t>
            </a:r>
            <a:endParaRPr lang="en-US" sz="1496" dirty="0"/>
          </a:p>
        </p:txBody>
      </p:sp>
      <p:sp>
        <p:nvSpPr>
          <p:cNvPr id="12" name="Text 8"/>
          <p:cNvSpPr txBox="1"/>
          <p:nvPr/>
        </p:nvSpPr>
        <p:spPr>
          <a:xfrm>
            <a:off x="2394299" y="3397250"/>
            <a:ext cx="2723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Review &amp; approve designs</a:t>
            </a:r>
            <a:endParaRPr lang="en-US" sz="1496" dirty="0"/>
          </a:p>
        </p:txBody>
      </p:sp>
      <p:sp>
        <p:nvSpPr>
          <p:cNvPr id="13" name="Text 9"/>
          <p:cNvSpPr txBox="1"/>
          <p:nvPr/>
        </p:nvSpPr>
        <p:spPr>
          <a:xfrm>
            <a:off x="405384" y="3778250"/>
            <a:ext cx="5046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External Systems</a:t>
            </a:r>
            <a:endParaRPr lang="en-US" sz="1496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5384" y="4095750"/>
            <a:ext cx="152019" cy="1524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3413" y="4057650"/>
            <a:ext cx="18432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Digital Asset Mgmt</a:t>
            </a:r>
            <a:endParaRPr lang="en-US" sz="1496" dirty="0"/>
          </a:p>
        </p:txBody>
      </p:sp>
      <p:sp>
        <p:nvSpPr>
          <p:cNvPr id="16" name="Text 11"/>
          <p:cNvSpPr txBox="1"/>
          <p:nvPr/>
        </p:nvSpPr>
        <p:spPr>
          <a:xfrm>
            <a:off x="2552652" y="4057650"/>
            <a:ext cx="2014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Artwork templates</a:t>
            </a:r>
            <a:endParaRPr lang="en-US" sz="1496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05384" y="4375150"/>
            <a:ext cx="152019" cy="1524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3413" y="4337050"/>
            <a:ext cx="22866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Product Lifecycle Mgmt</a:t>
            </a:r>
            <a:endParaRPr lang="en-US" sz="1496" dirty="0"/>
          </a:p>
        </p:txBody>
      </p:sp>
      <p:sp>
        <p:nvSpPr>
          <p:cNvPr id="19" name="Text 13"/>
          <p:cNvSpPr txBox="1"/>
          <p:nvPr/>
        </p:nvSpPr>
        <p:spPr>
          <a:xfrm>
            <a:off x="2996041" y="4337050"/>
            <a:ext cx="21155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3D element models</a:t>
            </a:r>
            <a:endParaRPr lang="en-US" sz="1496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05384" y="4654550"/>
            <a:ext cx="152019" cy="1524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3413" y="4616450"/>
            <a:ext cx="1311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Corporate IdP</a:t>
            </a:r>
            <a:endParaRPr lang="en-US" sz="1496" dirty="0"/>
          </a:p>
        </p:txBody>
      </p:sp>
      <p:sp>
        <p:nvSpPr>
          <p:cNvPr id="22" name="Text 15"/>
          <p:cNvSpPr txBox="1"/>
          <p:nvPr/>
        </p:nvSpPr>
        <p:spPr>
          <a:xfrm>
            <a:off x="2020586" y="4616450"/>
            <a:ext cx="20839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SSO authentication</a:t>
            </a:r>
            <a:endParaRPr lang="en-US" sz="1496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05384" y="4933950"/>
            <a:ext cx="152019" cy="1524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33413" y="4895850"/>
            <a:ext cx="183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Notification Service</a:t>
            </a:r>
            <a:endParaRPr lang="en-US" sz="1496" dirty="0"/>
          </a:p>
        </p:txBody>
      </p:sp>
      <p:sp>
        <p:nvSpPr>
          <p:cNvPr id="25" name="Text 17"/>
          <p:cNvSpPr txBox="1"/>
          <p:nvPr/>
        </p:nvSpPr>
        <p:spPr>
          <a:xfrm>
            <a:off x="2546318" y="4895850"/>
            <a:ext cx="20839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Render completion</a:t>
            </a:r>
            <a:endParaRPr lang="en-US" sz="1496" dirty="0"/>
          </a:p>
        </p:txBody>
      </p:sp>
      <p:sp>
        <p:nvSpPr>
          <p:cNvPr id="26" name="Shape 18"/>
          <p:cNvSpPr/>
          <p:nvPr/>
        </p:nvSpPr>
        <p:spPr>
          <a:xfrm>
            <a:off x="5654691" y="685800"/>
            <a:ext cx="6101445" cy="5638800"/>
          </a:xfrm>
          <a:prstGeom prst="roundRect">
            <a:avLst>
              <a:gd name="adj" fmla="val 269"/>
            </a:avLst>
          </a:prstGeom>
          <a:solidFill>
            <a:srgbClr val="1E293B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7778" b="-17778"/>
          <a:stretch/>
        </p:blipFill>
        <p:spPr>
          <a:xfrm>
            <a:off x="5756037" y="787400"/>
            <a:ext cx="5898753" cy="5435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29" name="Text 20"/>
          <p:cNvSpPr txBox="1"/>
          <p:nvPr/>
        </p:nvSpPr>
        <p:spPr>
          <a:xfrm>
            <a:off x="8551069" y="6426200"/>
            <a:ext cx="32050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1: Decoration Preview Service</a:t>
            </a:r>
            <a:endParaRPr lang="en-US" sz="149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2115598" cy="279400"/>
          </a:xfrm>
          <a:prstGeom prst="roundRect">
            <a:avLst>
              <a:gd name="adj" fmla="val 9797605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18622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 · Architecture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622328" y="203200"/>
            <a:ext cx="42565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C4 Container Diagram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405384" y="1485900"/>
            <a:ext cx="50394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AWS Infrastructure</a:t>
            </a:r>
            <a:endParaRPr lang="en-US" sz="179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5384" y="1866900"/>
            <a:ext cx="152019" cy="152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33413" y="1866900"/>
            <a:ext cx="36611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CloudFront + WAF</a:t>
            </a:r>
            <a:endParaRPr lang="en-US" sz="1496" dirty="0"/>
          </a:p>
        </p:txBody>
      </p:sp>
      <p:sp>
        <p:nvSpPr>
          <p:cNvPr id="8" name="Text 5"/>
          <p:cNvSpPr txBox="1"/>
          <p:nvPr/>
        </p:nvSpPr>
        <p:spPr>
          <a:xfrm>
            <a:off x="633413" y="2095500"/>
            <a:ext cx="36611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Edge caching, DDoS protection, 1h TTL</a:t>
            </a:r>
            <a:endParaRPr lang="en-US" sz="1496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5384" y="2400300"/>
            <a:ext cx="152019" cy="152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33413" y="2400300"/>
            <a:ext cx="3319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 Service</a:t>
            </a:r>
            <a:endParaRPr lang="en-US" sz="1496" dirty="0"/>
          </a:p>
        </p:txBody>
      </p:sp>
      <p:sp>
        <p:nvSpPr>
          <p:cNvPr id="11" name="Text 7"/>
          <p:cNvSpPr txBox="1"/>
          <p:nvPr/>
        </p:nvSpPr>
        <p:spPr>
          <a:xfrm>
            <a:off x="633413" y="2628900"/>
            <a:ext cx="3319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FastAPI on ECS Fargate (2-10 tasks)</a:t>
            </a:r>
            <a:endParaRPr lang="en-US" sz="1496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5384" y="2933700"/>
            <a:ext cx="152019" cy="152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3413" y="2933700"/>
            <a:ext cx="290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SQS Queue + DLQ</a:t>
            </a:r>
            <a:endParaRPr lang="en-US" sz="1496" dirty="0"/>
          </a:p>
        </p:txBody>
      </p:sp>
      <p:sp>
        <p:nvSpPr>
          <p:cNvPr id="14" name="Text 9"/>
          <p:cNvSpPr txBox="1"/>
          <p:nvPr/>
        </p:nvSpPr>
        <p:spPr>
          <a:xfrm>
            <a:off x="633413" y="3162300"/>
            <a:ext cx="290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KMS encrypted, 10min visibility</a:t>
            </a:r>
            <a:endParaRPr lang="en-US" sz="1496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05384" y="3467100"/>
            <a:ext cx="152019" cy="1524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33413" y="3467100"/>
            <a:ext cx="3483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Render Workers</a:t>
            </a:r>
            <a:endParaRPr lang="en-US" sz="1496" dirty="0"/>
          </a:p>
        </p:txBody>
      </p:sp>
      <p:sp>
        <p:nvSpPr>
          <p:cNvPr id="17" name="Text 11"/>
          <p:cNvSpPr txBox="1"/>
          <p:nvPr/>
        </p:nvSpPr>
        <p:spPr>
          <a:xfrm>
            <a:off x="633413" y="3695700"/>
            <a:ext cx="3483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0-50 ECS tasks, queue-driven scaling</a:t>
            </a:r>
            <a:endParaRPr lang="en-US" sz="1496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05384" y="4000500"/>
            <a:ext cx="152019" cy="1524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33413" y="4000500"/>
            <a:ext cx="2641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S3 Buckets (×3)</a:t>
            </a:r>
            <a:endParaRPr lang="en-US" sz="1496" dirty="0"/>
          </a:p>
        </p:txBody>
      </p:sp>
      <p:sp>
        <p:nvSpPr>
          <p:cNvPr id="20" name="Text 13"/>
          <p:cNvSpPr txBox="1"/>
          <p:nvPr/>
        </p:nvSpPr>
        <p:spPr>
          <a:xfrm>
            <a:off x="633413" y="4229100"/>
            <a:ext cx="2641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Artwork, Elements, Renders</a:t>
            </a:r>
            <a:endParaRPr lang="en-US" sz="1496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05384" y="4533900"/>
            <a:ext cx="152019" cy="1524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33413" y="4533900"/>
            <a:ext cx="2825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DynamoDB</a:t>
            </a:r>
            <a:endParaRPr lang="en-US" sz="1496" dirty="0"/>
          </a:p>
        </p:txBody>
      </p:sp>
      <p:sp>
        <p:nvSpPr>
          <p:cNvPr id="23" name="Text 15"/>
          <p:cNvSpPr txBox="1"/>
          <p:nvPr/>
        </p:nvSpPr>
        <p:spPr>
          <a:xfrm>
            <a:off x="633413" y="4762500"/>
            <a:ext cx="2825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Job tracking, GSI, TTL cleanup</a:t>
            </a:r>
            <a:endParaRPr lang="en-US" sz="1496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05384" y="5067300"/>
            <a:ext cx="152019" cy="1524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33413" y="5067300"/>
            <a:ext cx="2793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CloudWatch</a:t>
            </a:r>
            <a:endParaRPr lang="en-US" sz="1496" dirty="0"/>
          </a:p>
        </p:txBody>
      </p:sp>
      <p:sp>
        <p:nvSpPr>
          <p:cNvPr id="26" name="Text 17"/>
          <p:cNvSpPr txBox="1"/>
          <p:nvPr/>
        </p:nvSpPr>
        <p:spPr>
          <a:xfrm>
            <a:off x="633413" y="5295900"/>
            <a:ext cx="2793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Dashboards, alarms, 30d logs</a:t>
            </a:r>
            <a:endParaRPr lang="en-US" sz="1496" dirty="0"/>
          </a:p>
        </p:txBody>
      </p:sp>
      <p:sp>
        <p:nvSpPr>
          <p:cNvPr id="27" name="Shape 18"/>
          <p:cNvSpPr/>
          <p:nvPr/>
        </p:nvSpPr>
        <p:spPr>
          <a:xfrm>
            <a:off x="5596892" y="685800"/>
            <a:ext cx="6159244" cy="5638800"/>
          </a:xfrm>
          <a:prstGeom prst="roundRect">
            <a:avLst>
              <a:gd name="adj" fmla="val 267"/>
            </a:avLst>
          </a:prstGeom>
          <a:solidFill>
            <a:srgbClr val="1E293B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-31466" r="-31466" t="0" b="0"/>
          <a:stretch/>
        </p:blipFill>
        <p:spPr>
          <a:xfrm>
            <a:off x="5698238" y="787400"/>
            <a:ext cx="5956552" cy="54356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30" name="Text 20"/>
          <p:cNvSpPr txBox="1"/>
          <p:nvPr/>
        </p:nvSpPr>
        <p:spPr>
          <a:xfrm>
            <a:off x="8551069" y="6426200"/>
            <a:ext cx="32050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1: Decoration Preview Service</a:t>
            </a:r>
            <a:endParaRPr lang="en-US" sz="149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1995249" cy="279400"/>
          </a:xfrm>
          <a:prstGeom prst="roundRect">
            <a:avLst>
              <a:gd name="adj" fmla="val 10388571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1741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 · API Design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501979" y="203200"/>
            <a:ext cx="43958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Five RESTful Endpoints</a:t>
            </a:r>
            <a:endParaRPr lang="en-US" sz="2993" dirty="0"/>
          </a:p>
        </p:txBody>
      </p:sp>
      <p:sp>
        <p:nvSpPr>
          <p:cNvPr id="5" name="Shape 3"/>
          <p:cNvSpPr/>
          <p:nvPr/>
        </p:nvSpPr>
        <p:spPr>
          <a:xfrm>
            <a:off x="405384" y="685800"/>
            <a:ext cx="5831651" cy="1066800"/>
          </a:xfrm>
          <a:prstGeom prst="roundRect">
            <a:avLst>
              <a:gd name="adj" fmla="val 1117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06730" y="1079500"/>
            <a:ext cx="722090" cy="279400"/>
          </a:xfrm>
          <a:prstGeom prst="roundRect">
            <a:avLst>
              <a:gd name="adj" fmla="val 22967"/>
            </a:avLst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8076" y="1104900"/>
            <a:ext cx="5193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POST</a:t>
            </a:r>
            <a:endParaRPr lang="en-US" sz="1496" dirty="0"/>
          </a:p>
        </p:txBody>
      </p:sp>
      <p:sp>
        <p:nvSpPr>
          <p:cNvPr id="8" name="Text 6"/>
          <p:cNvSpPr txBox="1"/>
          <p:nvPr/>
        </p:nvSpPr>
        <p:spPr>
          <a:xfrm>
            <a:off x="1355503" y="876300"/>
            <a:ext cx="31330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/api/v1/render</a:t>
            </a:r>
            <a:endParaRPr lang="en-US" sz="1496" dirty="0"/>
          </a:p>
        </p:txBody>
      </p:sp>
      <p:sp>
        <p:nvSpPr>
          <p:cNvPr id="9" name="Text 7"/>
          <p:cNvSpPr txBox="1"/>
          <p:nvPr/>
        </p:nvSpPr>
        <p:spPr>
          <a:xfrm>
            <a:off x="1355503" y="1104900"/>
            <a:ext cx="31330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Submit artwork + element_id for rendering</a:t>
            </a:r>
            <a:endParaRPr lang="en-US" sz="1496" dirty="0"/>
          </a:p>
        </p:txBody>
      </p:sp>
      <p:sp>
        <p:nvSpPr>
          <p:cNvPr id="10" name="Shape 8"/>
          <p:cNvSpPr/>
          <p:nvPr/>
        </p:nvSpPr>
        <p:spPr>
          <a:xfrm>
            <a:off x="4615202" y="1079500"/>
            <a:ext cx="1520487" cy="279400"/>
          </a:xfrm>
          <a:prstGeom prst="roundRect">
            <a:avLst>
              <a:gd name="adj" fmla="val 10907"/>
            </a:avLst>
          </a:prstGeom>
          <a:solidFill>
            <a:srgbClr val="3341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91211" y="1104900"/>
            <a:ext cx="13684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 Accepted</a:t>
            </a:r>
            <a:endParaRPr lang="en-US" sz="1496" dirty="0"/>
          </a:p>
        </p:txBody>
      </p:sp>
      <p:sp>
        <p:nvSpPr>
          <p:cNvPr id="12" name="Shape 10"/>
          <p:cNvSpPr/>
          <p:nvPr/>
        </p:nvSpPr>
        <p:spPr>
          <a:xfrm>
            <a:off x="405384" y="1828800"/>
            <a:ext cx="5831651" cy="1066800"/>
          </a:xfrm>
          <a:prstGeom prst="roundRect">
            <a:avLst>
              <a:gd name="adj" fmla="val 1117"/>
            </a:avLst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06730" y="2222500"/>
            <a:ext cx="582740" cy="279400"/>
          </a:xfrm>
          <a:prstGeom prst="roundRect">
            <a:avLst>
              <a:gd name="adj" fmla="val 28458"/>
            </a:avLst>
          </a:prstGeom>
          <a:solidFill>
            <a:srgbClr val="22D3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8076" y="2247900"/>
            <a:ext cx="38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GET</a:t>
            </a:r>
            <a:endParaRPr lang="en-US" sz="1496" dirty="0"/>
          </a:p>
        </p:txBody>
      </p:sp>
      <p:sp>
        <p:nvSpPr>
          <p:cNvPr id="15" name="Text 13"/>
          <p:cNvSpPr txBox="1"/>
          <p:nvPr/>
        </p:nvSpPr>
        <p:spPr>
          <a:xfrm>
            <a:off x="1216152" y="2133600"/>
            <a:ext cx="3956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/api/v1/render/{job_id}/status</a:t>
            </a:r>
            <a:endParaRPr lang="en-US" sz="1496" dirty="0"/>
          </a:p>
        </p:txBody>
      </p:sp>
      <p:sp>
        <p:nvSpPr>
          <p:cNvPr id="16" name="Text 14"/>
          <p:cNvSpPr txBox="1"/>
          <p:nvPr/>
        </p:nvSpPr>
        <p:spPr>
          <a:xfrm>
            <a:off x="1216152" y="2362200"/>
            <a:ext cx="3956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Poll render progress (0-100%)</a:t>
            </a:r>
            <a:endParaRPr lang="en-US" sz="1496" dirty="0"/>
          </a:p>
        </p:txBody>
      </p:sp>
      <p:sp>
        <p:nvSpPr>
          <p:cNvPr id="17" name="Shape 15"/>
          <p:cNvSpPr/>
          <p:nvPr/>
        </p:nvSpPr>
        <p:spPr>
          <a:xfrm>
            <a:off x="5299386" y="2222500"/>
            <a:ext cx="836302" cy="279400"/>
          </a:xfrm>
          <a:prstGeom prst="roundRect">
            <a:avLst>
              <a:gd name="adj" fmla="val 19830"/>
            </a:avLst>
          </a:prstGeom>
          <a:solidFill>
            <a:srgbClr val="33415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75396" y="2247900"/>
            <a:ext cx="6842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496" dirty="0"/>
          </a:p>
        </p:txBody>
      </p:sp>
      <p:sp>
        <p:nvSpPr>
          <p:cNvPr id="19" name="Shape 17"/>
          <p:cNvSpPr/>
          <p:nvPr/>
        </p:nvSpPr>
        <p:spPr>
          <a:xfrm>
            <a:off x="405384" y="2971800"/>
            <a:ext cx="5831651" cy="1066800"/>
          </a:xfrm>
          <a:prstGeom prst="roundRect">
            <a:avLst>
              <a:gd name="adj" fmla="val 1117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506730" y="3365500"/>
            <a:ext cx="582740" cy="279400"/>
          </a:xfrm>
          <a:prstGeom prst="roundRect">
            <a:avLst>
              <a:gd name="adj" fmla="val 28458"/>
            </a:avLst>
          </a:prstGeom>
          <a:solidFill>
            <a:srgbClr val="22D3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8076" y="3390900"/>
            <a:ext cx="38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GET</a:t>
            </a:r>
            <a:endParaRPr lang="en-US" sz="1496" dirty="0"/>
          </a:p>
        </p:txBody>
      </p:sp>
      <p:sp>
        <p:nvSpPr>
          <p:cNvPr id="22" name="Text 20"/>
          <p:cNvSpPr txBox="1"/>
          <p:nvPr/>
        </p:nvSpPr>
        <p:spPr>
          <a:xfrm>
            <a:off x="1216152" y="3162300"/>
            <a:ext cx="3956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/api/v1/render/{job_id}/preview</a:t>
            </a:r>
            <a:endParaRPr lang="en-US" sz="1496" dirty="0"/>
          </a:p>
        </p:txBody>
      </p:sp>
      <p:sp>
        <p:nvSpPr>
          <p:cNvPr id="23" name="Text 21"/>
          <p:cNvSpPr txBox="1"/>
          <p:nvPr/>
        </p:nvSpPr>
        <p:spPr>
          <a:xfrm>
            <a:off x="1216152" y="3390900"/>
            <a:ext cx="395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Retrieve pre-signed S3 URL (1-hour expiry)</a:t>
            </a:r>
            <a:endParaRPr lang="en-US" sz="1496" dirty="0"/>
          </a:p>
        </p:txBody>
      </p:sp>
      <p:sp>
        <p:nvSpPr>
          <p:cNvPr id="24" name="Shape 22"/>
          <p:cNvSpPr/>
          <p:nvPr/>
        </p:nvSpPr>
        <p:spPr>
          <a:xfrm>
            <a:off x="5299386" y="3365500"/>
            <a:ext cx="836302" cy="279400"/>
          </a:xfrm>
          <a:prstGeom prst="roundRect">
            <a:avLst>
              <a:gd name="adj" fmla="val 19830"/>
            </a:avLst>
          </a:prstGeom>
          <a:solidFill>
            <a:srgbClr val="33415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375396" y="3390900"/>
            <a:ext cx="6842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496" dirty="0"/>
          </a:p>
        </p:txBody>
      </p:sp>
      <p:sp>
        <p:nvSpPr>
          <p:cNvPr id="26" name="Shape 24"/>
          <p:cNvSpPr/>
          <p:nvPr/>
        </p:nvSpPr>
        <p:spPr>
          <a:xfrm>
            <a:off x="405384" y="4114800"/>
            <a:ext cx="5831651" cy="1066800"/>
          </a:xfrm>
          <a:prstGeom prst="roundRect">
            <a:avLst>
              <a:gd name="adj" fmla="val 1117"/>
            </a:avLst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506730" y="4508500"/>
            <a:ext cx="582740" cy="279400"/>
          </a:xfrm>
          <a:prstGeom prst="roundRect">
            <a:avLst>
              <a:gd name="adj" fmla="val 28458"/>
            </a:avLst>
          </a:prstGeom>
          <a:solidFill>
            <a:srgbClr val="22D3E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08076" y="4533900"/>
            <a:ext cx="38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GET</a:t>
            </a:r>
            <a:endParaRPr lang="en-US" sz="1496" dirty="0"/>
          </a:p>
        </p:txBody>
      </p:sp>
      <p:sp>
        <p:nvSpPr>
          <p:cNvPr id="29" name="Text 27"/>
          <p:cNvSpPr txBox="1"/>
          <p:nvPr/>
        </p:nvSpPr>
        <p:spPr>
          <a:xfrm>
            <a:off x="1216152" y="4419600"/>
            <a:ext cx="3956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/api/v1/elements</a:t>
            </a:r>
            <a:endParaRPr lang="en-US" sz="1496" dirty="0"/>
          </a:p>
        </p:txBody>
      </p:sp>
      <p:sp>
        <p:nvSpPr>
          <p:cNvPr id="30" name="Text 28"/>
          <p:cNvSpPr txBox="1"/>
          <p:nvPr/>
        </p:nvSpPr>
        <p:spPr>
          <a:xfrm>
            <a:off x="1216152" y="4648200"/>
            <a:ext cx="3956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List available elements from catalog</a:t>
            </a:r>
            <a:endParaRPr lang="en-US" sz="1496" dirty="0"/>
          </a:p>
        </p:txBody>
      </p:sp>
      <p:sp>
        <p:nvSpPr>
          <p:cNvPr id="31" name="Shape 29"/>
          <p:cNvSpPr/>
          <p:nvPr/>
        </p:nvSpPr>
        <p:spPr>
          <a:xfrm>
            <a:off x="5299386" y="4508500"/>
            <a:ext cx="836302" cy="279400"/>
          </a:xfrm>
          <a:prstGeom prst="roundRect">
            <a:avLst>
              <a:gd name="adj" fmla="val 19830"/>
            </a:avLst>
          </a:prstGeom>
          <a:solidFill>
            <a:srgbClr val="33415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375396" y="4533900"/>
            <a:ext cx="6842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496" dirty="0"/>
          </a:p>
        </p:txBody>
      </p:sp>
      <p:sp>
        <p:nvSpPr>
          <p:cNvPr id="33" name="Shape 31"/>
          <p:cNvSpPr/>
          <p:nvPr/>
        </p:nvSpPr>
        <p:spPr>
          <a:xfrm>
            <a:off x="405384" y="5257800"/>
            <a:ext cx="5831651" cy="1066800"/>
          </a:xfrm>
          <a:prstGeom prst="roundRect">
            <a:avLst>
              <a:gd name="adj" fmla="val 1117"/>
            </a:avLst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506730" y="5651500"/>
            <a:ext cx="962787" cy="279400"/>
          </a:xfrm>
          <a:prstGeom prst="roundRect">
            <a:avLst>
              <a:gd name="adj" fmla="val 17225"/>
            </a:avLst>
          </a:prstGeom>
          <a:solidFill>
            <a:srgbClr val="EF444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08076" y="5676900"/>
            <a:ext cx="76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DELETE</a:t>
            </a:r>
            <a:endParaRPr lang="en-US" sz="1496" dirty="0"/>
          </a:p>
        </p:txBody>
      </p:sp>
      <p:sp>
        <p:nvSpPr>
          <p:cNvPr id="36" name="Text 34"/>
          <p:cNvSpPr txBox="1"/>
          <p:nvPr/>
        </p:nvSpPr>
        <p:spPr>
          <a:xfrm>
            <a:off x="1596200" y="5448300"/>
            <a:ext cx="266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/api/v1/render/{job_id}</a:t>
            </a:r>
            <a:endParaRPr lang="en-US" sz="1496" dirty="0"/>
          </a:p>
        </p:txBody>
      </p:sp>
      <p:sp>
        <p:nvSpPr>
          <p:cNvPr id="37" name="Text 35"/>
          <p:cNvSpPr txBox="1"/>
          <p:nvPr/>
        </p:nvSpPr>
        <p:spPr>
          <a:xfrm>
            <a:off x="1596200" y="5676900"/>
            <a:ext cx="26642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Cancel or delete a render job</a:t>
            </a:r>
            <a:endParaRPr lang="en-US" sz="1496" dirty="0"/>
          </a:p>
        </p:txBody>
      </p:sp>
      <p:sp>
        <p:nvSpPr>
          <p:cNvPr id="38" name="Shape 36"/>
          <p:cNvSpPr/>
          <p:nvPr/>
        </p:nvSpPr>
        <p:spPr>
          <a:xfrm>
            <a:off x="4387173" y="5651500"/>
            <a:ext cx="1748515" cy="279400"/>
          </a:xfrm>
          <a:prstGeom prst="roundRect">
            <a:avLst>
              <a:gd name="adj" fmla="val 9485"/>
            </a:avLst>
          </a:prstGeom>
          <a:solidFill>
            <a:srgbClr val="33415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463183" y="5676900"/>
            <a:ext cx="1596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 No Content</a:t>
            </a:r>
            <a:endParaRPr lang="en-US" sz="1496" dirty="0"/>
          </a:p>
        </p:txBody>
      </p:sp>
      <p:sp>
        <p:nvSpPr>
          <p:cNvPr id="40" name="Shape 38"/>
          <p:cNvSpPr/>
          <p:nvPr/>
        </p:nvSpPr>
        <p:spPr>
          <a:xfrm>
            <a:off x="6389054" y="685800"/>
            <a:ext cx="5367082" cy="5638800"/>
          </a:xfrm>
          <a:prstGeom prst="roundRect">
            <a:avLst>
              <a:gd name="adj" fmla="val 230"/>
            </a:avLst>
          </a:prstGeom>
          <a:solidFill>
            <a:srgbClr val="1E293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41073" y="838200"/>
            <a:ext cx="50630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Async Render Lifecycle</a:t>
            </a:r>
            <a:endParaRPr lang="en-US" sz="1795" dirty="0"/>
          </a:p>
        </p:txBody>
      </p:sp>
      <p:sp>
        <p:nvSpPr>
          <p:cNvPr id="42" name="Shape 40"/>
          <p:cNvSpPr/>
          <p:nvPr/>
        </p:nvSpPr>
        <p:spPr>
          <a:xfrm>
            <a:off x="6541073" y="2159000"/>
            <a:ext cx="253365" cy="254000"/>
          </a:xfrm>
          <a:prstGeom prst="roundRect">
            <a:avLst>
              <a:gd name="adj" fmla="val 90216541"/>
            </a:avLst>
          </a:prstGeom>
          <a:solidFill>
            <a:srgbClr val="6366F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632918" y="2171700"/>
            <a:ext cx="6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96" dirty="0"/>
          </a:p>
        </p:txBody>
      </p:sp>
      <p:sp>
        <p:nvSpPr>
          <p:cNvPr id="44" name="Text 42"/>
          <p:cNvSpPr txBox="1"/>
          <p:nvPr/>
        </p:nvSpPr>
        <p:spPr>
          <a:xfrm>
            <a:off x="6870447" y="2171700"/>
            <a:ext cx="40095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POST /render → validates file &amp; element_id</a:t>
            </a:r>
            <a:endParaRPr lang="en-US" sz="1496" dirty="0"/>
          </a:p>
        </p:txBody>
      </p:sp>
      <p:sp>
        <p:nvSpPr>
          <p:cNvPr id="45" name="Shape 43"/>
          <p:cNvSpPr/>
          <p:nvPr/>
        </p:nvSpPr>
        <p:spPr>
          <a:xfrm>
            <a:off x="6541073" y="2489200"/>
            <a:ext cx="253365" cy="254000"/>
          </a:xfrm>
          <a:prstGeom prst="roundRect">
            <a:avLst>
              <a:gd name="adj" fmla="val 90216541"/>
            </a:avLst>
          </a:prstGeom>
          <a:solidFill>
            <a:srgbClr val="6366F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613915" y="2501900"/>
            <a:ext cx="10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96" dirty="0"/>
          </a:p>
        </p:txBody>
      </p:sp>
      <p:sp>
        <p:nvSpPr>
          <p:cNvPr id="47" name="Text 45"/>
          <p:cNvSpPr txBox="1"/>
          <p:nvPr/>
        </p:nvSpPr>
        <p:spPr>
          <a:xfrm>
            <a:off x="6870447" y="2501900"/>
            <a:ext cx="3540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Artwork stored in S3 (KMS encrypted)</a:t>
            </a:r>
            <a:endParaRPr lang="en-US" sz="1496" dirty="0"/>
          </a:p>
        </p:txBody>
      </p:sp>
      <p:sp>
        <p:nvSpPr>
          <p:cNvPr id="48" name="Shape 46"/>
          <p:cNvSpPr/>
          <p:nvPr/>
        </p:nvSpPr>
        <p:spPr>
          <a:xfrm>
            <a:off x="6541073" y="2819400"/>
            <a:ext cx="253365" cy="254000"/>
          </a:xfrm>
          <a:prstGeom prst="roundRect">
            <a:avLst>
              <a:gd name="adj" fmla="val 90216541"/>
            </a:avLst>
          </a:prstGeom>
          <a:solidFill>
            <a:srgbClr val="6366F1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613915" y="2832100"/>
            <a:ext cx="10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96" dirty="0"/>
          </a:p>
        </p:txBody>
      </p:sp>
      <p:sp>
        <p:nvSpPr>
          <p:cNvPr id="50" name="Text 48"/>
          <p:cNvSpPr txBox="1"/>
          <p:nvPr/>
        </p:nvSpPr>
        <p:spPr>
          <a:xfrm>
            <a:off x="6870447" y="2832100"/>
            <a:ext cx="3629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Job created in DynamoDB (PENDING)</a:t>
            </a:r>
            <a:endParaRPr lang="en-US" sz="1496" dirty="0"/>
          </a:p>
        </p:txBody>
      </p:sp>
      <p:sp>
        <p:nvSpPr>
          <p:cNvPr id="51" name="Shape 49"/>
          <p:cNvSpPr/>
          <p:nvPr/>
        </p:nvSpPr>
        <p:spPr>
          <a:xfrm>
            <a:off x="6541073" y="3149600"/>
            <a:ext cx="253365" cy="254000"/>
          </a:xfrm>
          <a:prstGeom prst="roundRect">
            <a:avLst>
              <a:gd name="adj" fmla="val 90216541"/>
            </a:avLst>
          </a:prstGeom>
          <a:solidFill>
            <a:srgbClr val="6366F1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604414" y="3162300"/>
            <a:ext cx="1266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96" dirty="0"/>
          </a:p>
        </p:txBody>
      </p:sp>
      <p:sp>
        <p:nvSpPr>
          <p:cNvPr id="53" name="Text 51"/>
          <p:cNvSpPr txBox="1"/>
          <p:nvPr/>
        </p:nvSpPr>
        <p:spPr>
          <a:xfrm>
            <a:off x="6870447" y="3162300"/>
            <a:ext cx="40728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Message enqueued to SQS → 202 returned</a:t>
            </a:r>
            <a:endParaRPr lang="en-US" sz="1496" dirty="0"/>
          </a:p>
        </p:txBody>
      </p:sp>
      <p:sp>
        <p:nvSpPr>
          <p:cNvPr id="54" name="Shape 52"/>
          <p:cNvSpPr/>
          <p:nvPr/>
        </p:nvSpPr>
        <p:spPr>
          <a:xfrm>
            <a:off x="6541073" y="3479800"/>
            <a:ext cx="5063044" cy="381000"/>
          </a:xfrm>
          <a:prstGeom prst="roundRect">
            <a:avLst>
              <a:gd name="adj" fmla="val 2402"/>
            </a:avLst>
          </a:prstGeom>
          <a:noFill/>
          <a:ln w="12668">
            <a:solidFill>
              <a:srgbClr val="22D3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04414" y="3543300"/>
            <a:ext cx="253365" cy="254000"/>
          </a:xfrm>
          <a:prstGeom prst="roundRect">
            <a:avLst>
              <a:gd name="adj" fmla="val 90216541"/>
            </a:avLst>
          </a:prstGeom>
          <a:solidFill>
            <a:srgbClr val="22D3EE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677256" y="3556000"/>
            <a:ext cx="10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96" dirty="0"/>
          </a:p>
        </p:txBody>
      </p:sp>
      <p:sp>
        <p:nvSpPr>
          <p:cNvPr id="57" name="Text 55"/>
          <p:cNvSpPr txBox="1"/>
          <p:nvPr/>
        </p:nvSpPr>
        <p:spPr>
          <a:xfrm>
            <a:off x="6933788" y="3556000"/>
            <a:ext cx="373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Designer keeps working — not blocked</a:t>
            </a:r>
            <a:endParaRPr lang="en-US" sz="1496" dirty="0"/>
          </a:p>
        </p:txBody>
      </p:sp>
      <p:sp>
        <p:nvSpPr>
          <p:cNvPr id="58" name="Shape 56"/>
          <p:cNvSpPr/>
          <p:nvPr/>
        </p:nvSpPr>
        <p:spPr>
          <a:xfrm>
            <a:off x="6541073" y="3937000"/>
            <a:ext cx="253365" cy="254000"/>
          </a:xfrm>
          <a:prstGeom prst="roundRect">
            <a:avLst>
              <a:gd name="adj" fmla="val 90216541"/>
            </a:avLst>
          </a:prstGeom>
          <a:solidFill>
            <a:srgbClr val="6366F1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610748" y="3949700"/>
            <a:ext cx="114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96" dirty="0"/>
          </a:p>
        </p:txBody>
      </p:sp>
      <p:sp>
        <p:nvSpPr>
          <p:cNvPr id="60" name="Text 58"/>
          <p:cNvSpPr txBox="1"/>
          <p:nvPr/>
        </p:nvSpPr>
        <p:spPr>
          <a:xfrm>
            <a:off x="6870447" y="3949700"/>
            <a:ext cx="42058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Worker polls SQS → renders → uploads to S3</a:t>
            </a:r>
            <a:endParaRPr lang="en-US" sz="1496" dirty="0"/>
          </a:p>
        </p:txBody>
      </p:sp>
      <p:sp>
        <p:nvSpPr>
          <p:cNvPr id="61" name="Shape 59"/>
          <p:cNvSpPr/>
          <p:nvPr/>
        </p:nvSpPr>
        <p:spPr>
          <a:xfrm>
            <a:off x="6541073" y="4267200"/>
            <a:ext cx="253365" cy="254000"/>
          </a:xfrm>
          <a:prstGeom prst="roundRect">
            <a:avLst>
              <a:gd name="adj" fmla="val 90216541"/>
            </a:avLst>
          </a:prstGeom>
          <a:solidFill>
            <a:srgbClr val="6366F1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610748" y="4279900"/>
            <a:ext cx="114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96" dirty="0"/>
          </a:p>
        </p:txBody>
      </p:sp>
      <p:sp>
        <p:nvSpPr>
          <p:cNvPr id="63" name="Text 61"/>
          <p:cNvSpPr txBox="1"/>
          <p:nvPr/>
        </p:nvSpPr>
        <p:spPr>
          <a:xfrm>
            <a:off x="6870447" y="4279900"/>
            <a:ext cx="4452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GET /preview → pre-signed URL via CloudFront</a:t>
            </a:r>
            <a:endParaRPr lang="en-US" sz="1496" dirty="0"/>
          </a:p>
        </p:txBody>
      </p:sp>
      <p:sp>
        <p:nvSpPr>
          <p:cNvPr id="64" name="Shape 62"/>
          <p:cNvSpPr/>
          <p:nvPr/>
        </p:nvSpPr>
        <p:spPr>
          <a:xfrm>
            <a:off x="6541073" y="5562600"/>
            <a:ext cx="5063044" cy="609600"/>
          </a:xfrm>
          <a:prstGeom prst="roundRect">
            <a:avLst>
              <a:gd name="adj" fmla="val 1501"/>
            </a:avLst>
          </a:prstGeom>
          <a:solidFill>
            <a:srgbClr val="334155"/>
          </a:solidFill>
          <a:ln/>
        </p:spPr>
      </p:sp>
      <p:pic>
        <p:nvPicPr>
          <p:cNvPr id="6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7082" y="5765800"/>
            <a:ext cx="202692" cy="203200"/>
          </a:xfrm>
          <a:prstGeom prst="rect">
            <a:avLst/>
          </a:prstGeom>
        </p:spPr>
      </p:pic>
      <p:sp>
        <p:nvSpPr>
          <p:cNvPr id="66" name="Text 63"/>
          <p:cNvSpPr txBox="1"/>
          <p:nvPr/>
        </p:nvSpPr>
        <p:spPr>
          <a:xfrm>
            <a:off x="6895784" y="5638800"/>
            <a:ext cx="4632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Pydantic validates all requests before reaching the queue</a:t>
            </a:r>
            <a:endParaRPr lang="en-US" sz="1496" dirty="0"/>
          </a:p>
        </p:txBody>
      </p:sp>
      <p:sp>
        <p:nvSpPr>
          <p:cNvPr id="67" name="Text 64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68" name="Text 65"/>
          <p:cNvSpPr txBox="1"/>
          <p:nvPr/>
        </p:nvSpPr>
        <p:spPr>
          <a:xfrm>
            <a:off x="8551069" y="6426200"/>
            <a:ext cx="32050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1: Decoration Preview Service</a:t>
            </a:r>
            <a:endParaRPr lang="en-US" sz="149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1691211" cy="279400"/>
          </a:xfrm>
          <a:prstGeom prst="roundRect">
            <a:avLst>
              <a:gd name="adj" fmla="val 12256180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14378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 · Security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197941" y="203200"/>
            <a:ext cx="5466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Defense in Depth — 6 Layers</a:t>
            </a:r>
            <a:endParaRPr lang="en-US" sz="2993" dirty="0"/>
          </a:p>
        </p:txBody>
      </p:sp>
      <p:sp>
        <p:nvSpPr>
          <p:cNvPr id="5" name="Shape 3"/>
          <p:cNvSpPr/>
          <p:nvPr/>
        </p:nvSpPr>
        <p:spPr>
          <a:xfrm>
            <a:off x="405384" y="660400"/>
            <a:ext cx="5612035" cy="1659434"/>
          </a:xfrm>
          <a:prstGeom prst="roundRect">
            <a:avLst>
              <a:gd name="adj" fmla="val 746"/>
            </a:avLst>
          </a:prstGeom>
          <a:solidFill>
            <a:srgbClr val="1E29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2067" y="812800"/>
            <a:ext cx="202692" cy="203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10768" y="787400"/>
            <a:ext cx="198258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Encryption (KMS)</a:t>
            </a:r>
            <a:endParaRPr lang="en-US" sz="1795" dirty="0"/>
          </a:p>
        </p:txBody>
      </p:sp>
      <p:sp>
        <p:nvSpPr>
          <p:cNvPr id="8" name="Text 5"/>
          <p:cNvSpPr txBox="1"/>
          <p:nvPr/>
        </p:nvSpPr>
        <p:spPr>
          <a:xfrm>
            <a:off x="532067" y="1092200"/>
            <a:ext cx="53586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All S3 buckets, DynamoDB, and SQS encrypted with AWS KMS Customer Managed Keys with annual rotation. TLS 1.2+ enforced on all connections. Pre-signed URLs with 1-hour expiry for preview access.</a:t>
            </a:r>
            <a:endParaRPr lang="en-US" sz="1496" dirty="0"/>
          </a:p>
        </p:txBody>
      </p:sp>
      <p:sp>
        <p:nvSpPr>
          <p:cNvPr id="9" name="Shape 6"/>
          <p:cNvSpPr/>
          <p:nvPr/>
        </p:nvSpPr>
        <p:spPr>
          <a:xfrm>
            <a:off x="405384" y="2421434"/>
            <a:ext cx="5612035" cy="1659533"/>
          </a:xfrm>
          <a:prstGeom prst="roundRect">
            <a:avLst>
              <a:gd name="adj" fmla="val 746"/>
            </a:avLst>
          </a:prstGeom>
          <a:solidFill>
            <a:srgbClr val="1E293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2067" y="2573834"/>
            <a:ext cx="202692" cy="203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10768" y="2548434"/>
            <a:ext cx="2026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Network Isolation</a:t>
            </a:r>
            <a:endParaRPr lang="en-US" sz="1795" dirty="0"/>
          </a:p>
        </p:txBody>
      </p:sp>
      <p:sp>
        <p:nvSpPr>
          <p:cNvPr id="12" name="Text 8"/>
          <p:cNvSpPr txBox="1"/>
          <p:nvPr/>
        </p:nvSpPr>
        <p:spPr>
          <a:xfrm>
            <a:off x="532067" y="2853234"/>
            <a:ext cx="53586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Render workers in private subnets with no public IP. VPC endpoints for S3, DynamoDB, SQS, and ECR — traffic never leaves AWS backbone. Security groups restrict API to port 8000 from ALB only.</a:t>
            </a:r>
            <a:endParaRPr lang="en-US" sz="1496" dirty="0"/>
          </a:p>
        </p:txBody>
      </p:sp>
      <p:sp>
        <p:nvSpPr>
          <p:cNvPr id="13" name="Shape 9"/>
          <p:cNvSpPr/>
          <p:nvPr/>
        </p:nvSpPr>
        <p:spPr>
          <a:xfrm>
            <a:off x="405384" y="4182566"/>
            <a:ext cx="5612035" cy="1659434"/>
          </a:xfrm>
          <a:prstGeom prst="roundRect">
            <a:avLst>
              <a:gd name="adj" fmla="val 746"/>
            </a:avLst>
          </a:prstGeom>
          <a:solidFill>
            <a:srgbClr val="1E293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2067" y="4334966"/>
            <a:ext cx="202692" cy="203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10768" y="4309566"/>
            <a:ext cx="18178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WAF Protection</a:t>
            </a:r>
            <a:endParaRPr lang="en-US" sz="1795" dirty="0"/>
          </a:p>
        </p:txBody>
      </p:sp>
      <p:sp>
        <p:nvSpPr>
          <p:cNvPr id="16" name="Text 11"/>
          <p:cNvSpPr txBox="1"/>
          <p:nvPr/>
        </p:nvSpPr>
        <p:spPr>
          <a:xfrm>
            <a:off x="532067" y="4614366"/>
            <a:ext cx="53586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Rate limiting: 1,000 req/IP per 5 min. AWS Managed Rules for SQLi, XSS. Request body size limits. CloudFront absorbs DDoS at edge. Optional geo-blocking for corporate regions only.</a:t>
            </a:r>
            <a:endParaRPr lang="en-US" sz="1496" dirty="0"/>
          </a:p>
        </p:txBody>
      </p:sp>
      <p:sp>
        <p:nvSpPr>
          <p:cNvPr id="17" name="Shape 12"/>
          <p:cNvSpPr/>
          <p:nvPr/>
        </p:nvSpPr>
        <p:spPr>
          <a:xfrm>
            <a:off x="6144101" y="660400"/>
            <a:ext cx="5612035" cy="1659434"/>
          </a:xfrm>
          <a:prstGeom prst="roundRect">
            <a:avLst>
              <a:gd name="adj" fmla="val 746"/>
            </a:avLst>
          </a:prstGeom>
          <a:solidFill>
            <a:srgbClr val="1E293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70784" y="812800"/>
            <a:ext cx="202692" cy="2032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49485" y="787400"/>
            <a:ext cx="17292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Authentication</a:t>
            </a:r>
            <a:endParaRPr lang="en-US" sz="1795" dirty="0"/>
          </a:p>
        </p:txBody>
      </p:sp>
      <p:sp>
        <p:nvSpPr>
          <p:cNvPr id="20" name="Text 14"/>
          <p:cNvSpPr txBox="1"/>
          <p:nvPr/>
        </p:nvSpPr>
        <p:spPr>
          <a:xfrm>
            <a:off x="6270784" y="1092200"/>
            <a:ext cx="53586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 key auth via X-API-Key header (current). Roadmap: OIDC/SAML SSO with corporate IdP, JWT tokens with short expiry, per-element and per-team RBAC authorization.</a:t>
            </a:r>
            <a:endParaRPr lang="en-US" sz="1496" dirty="0"/>
          </a:p>
        </p:txBody>
      </p:sp>
      <p:sp>
        <p:nvSpPr>
          <p:cNvPr id="21" name="Shape 15"/>
          <p:cNvSpPr/>
          <p:nvPr/>
        </p:nvSpPr>
        <p:spPr>
          <a:xfrm>
            <a:off x="6144101" y="2421434"/>
            <a:ext cx="5612035" cy="1659533"/>
          </a:xfrm>
          <a:prstGeom prst="roundRect">
            <a:avLst>
              <a:gd name="adj" fmla="val 746"/>
            </a:avLst>
          </a:prstGeom>
          <a:solidFill>
            <a:srgbClr val="1E293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70784" y="2573834"/>
            <a:ext cx="202692" cy="2032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549485" y="2548434"/>
            <a:ext cx="220427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Least-Privilege IAM</a:t>
            </a:r>
            <a:endParaRPr lang="en-US" sz="1795" dirty="0"/>
          </a:p>
        </p:txBody>
      </p:sp>
      <p:sp>
        <p:nvSpPr>
          <p:cNvPr id="24" name="Text 17"/>
          <p:cNvSpPr txBox="1"/>
          <p:nvPr/>
        </p:nvSpPr>
        <p:spPr>
          <a:xfrm>
            <a:off x="6270784" y="2853234"/>
            <a:ext cx="53586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 role: S3 read/write artwork, DynamoDB read/write, SQS send. Render role: S3 read artwork, S3 write renders, SQS consume. CI/CD: ECR push and ECS deploy only.</a:t>
            </a:r>
            <a:endParaRPr lang="en-US" sz="1496" dirty="0"/>
          </a:p>
        </p:txBody>
      </p:sp>
      <p:sp>
        <p:nvSpPr>
          <p:cNvPr id="25" name="Shape 18"/>
          <p:cNvSpPr/>
          <p:nvPr/>
        </p:nvSpPr>
        <p:spPr>
          <a:xfrm>
            <a:off x="6144101" y="4182566"/>
            <a:ext cx="5612035" cy="1659434"/>
          </a:xfrm>
          <a:prstGeom prst="roundRect">
            <a:avLst>
              <a:gd name="adj" fmla="val 746"/>
            </a:avLst>
          </a:prstGeom>
          <a:solidFill>
            <a:srgbClr val="1E293B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270784" y="4334966"/>
            <a:ext cx="202692" cy="2032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549485" y="4309566"/>
            <a:ext cx="22676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Audit &amp; Compliance</a:t>
            </a:r>
            <a:endParaRPr lang="en-US" sz="1795" dirty="0"/>
          </a:p>
        </p:txBody>
      </p:sp>
      <p:sp>
        <p:nvSpPr>
          <p:cNvPr id="28" name="Text 20"/>
          <p:cNvSpPr txBox="1"/>
          <p:nvPr/>
        </p:nvSpPr>
        <p:spPr>
          <a:xfrm>
            <a:off x="6270784" y="4614366"/>
            <a:ext cx="53586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CloudTrail for all API calls. S3 access logging per artwork file. Structured JSON logs with correlation IDs, 30-day retention. VPC Flow Logs for network audit. SOC 2 ready.</a:t>
            </a:r>
            <a:endParaRPr lang="en-US" sz="1496" dirty="0"/>
          </a:p>
        </p:txBody>
      </p:sp>
      <p:sp>
        <p:nvSpPr>
          <p:cNvPr id="29" name="Shape 21"/>
          <p:cNvSpPr/>
          <p:nvPr/>
        </p:nvSpPr>
        <p:spPr>
          <a:xfrm>
            <a:off x="405384" y="5918200"/>
            <a:ext cx="11350752" cy="431800"/>
          </a:xfrm>
          <a:prstGeom prst="roundRect">
            <a:avLst>
              <a:gd name="adj" fmla="val 1418"/>
            </a:avLst>
          </a:prstGeom>
          <a:solidFill>
            <a:srgbClr val="334155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06730" y="6032500"/>
            <a:ext cx="202692" cy="2032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10768" y="6019800"/>
            <a:ext cx="9710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STRIDE threat model applied — pre-release artwork classified as Confidential with High breach impact</a:t>
            </a:r>
            <a:endParaRPr lang="en-US" sz="1496" dirty="0"/>
          </a:p>
        </p:txBody>
      </p:sp>
      <p:sp>
        <p:nvSpPr>
          <p:cNvPr id="32" name="Text 23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33" name="Text 24"/>
          <p:cNvSpPr txBox="1"/>
          <p:nvPr/>
        </p:nvSpPr>
        <p:spPr>
          <a:xfrm>
            <a:off x="8551069" y="6426200"/>
            <a:ext cx="32050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1: Decoration Preview Service</a:t>
            </a:r>
            <a:endParaRPr lang="en-US" sz="149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15900"/>
            <a:ext cx="1881235" cy="279400"/>
          </a:xfrm>
          <a:prstGeom prst="roundRect">
            <a:avLst>
              <a:gd name="adj" fmla="val 11018182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41300"/>
            <a:ext cx="1627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 · Scalability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387965" y="203200"/>
            <a:ext cx="61757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Scaling from 100 to 10,000+ Renders/Day</a:t>
            </a:r>
            <a:endParaRPr lang="en-US" sz="2394" dirty="0"/>
          </a:p>
        </p:txBody>
      </p:sp>
      <p:sp>
        <p:nvSpPr>
          <p:cNvPr id="5" name="Shape 3"/>
          <p:cNvSpPr/>
          <p:nvPr/>
        </p:nvSpPr>
        <p:spPr>
          <a:xfrm>
            <a:off x="405384" y="584200"/>
            <a:ext cx="4023951" cy="1898650"/>
          </a:xfrm>
          <a:prstGeom prst="roundRect">
            <a:avLst>
              <a:gd name="adj" fmla="val 91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2067" y="711200"/>
            <a:ext cx="3770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Performance Targets</a:t>
            </a:r>
            <a:endParaRPr lang="en-US" sz="1496" dirty="0"/>
          </a:p>
        </p:txBody>
      </p:sp>
      <p:sp>
        <p:nvSpPr>
          <p:cNvPr id="7" name="Text 5"/>
          <p:cNvSpPr txBox="1"/>
          <p:nvPr/>
        </p:nvSpPr>
        <p:spPr>
          <a:xfrm>
            <a:off x="538401" y="1066800"/>
            <a:ext cx="25983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 p99 latency</a:t>
            </a:r>
            <a:endParaRPr lang="en-US" sz="1496" dirty="0"/>
          </a:p>
        </p:txBody>
      </p:sp>
      <p:sp>
        <p:nvSpPr>
          <p:cNvPr id="8" name="Text 6"/>
          <p:cNvSpPr txBox="1"/>
          <p:nvPr/>
        </p:nvSpPr>
        <p:spPr>
          <a:xfrm>
            <a:off x="3149446" y="1066800"/>
            <a:ext cx="1146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&lt; 500ms</a:t>
            </a:r>
            <a:endParaRPr lang="en-US" sz="1496" dirty="0"/>
          </a:p>
        </p:txBody>
      </p:sp>
      <p:sp>
        <p:nvSpPr>
          <p:cNvPr id="9" name="Text 7"/>
          <p:cNvSpPr txBox="1"/>
          <p:nvPr/>
        </p:nvSpPr>
        <p:spPr>
          <a:xfrm>
            <a:off x="538401" y="1403350"/>
            <a:ext cx="25983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Render completion</a:t>
            </a:r>
            <a:endParaRPr lang="en-US" sz="1496" dirty="0"/>
          </a:p>
        </p:txBody>
      </p:sp>
      <p:sp>
        <p:nvSpPr>
          <p:cNvPr id="10" name="Text 8"/>
          <p:cNvSpPr txBox="1"/>
          <p:nvPr/>
        </p:nvSpPr>
        <p:spPr>
          <a:xfrm>
            <a:off x="3149446" y="1403350"/>
            <a:ext cx="1146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&lt; 120s</a:t>
            </a:r>
            <a:endParaRPr lang="en-US" sz="1496" dirty="0"/>
          </a:p>
        </p:txBody>
      </p:sp>
      <p:sp>
        <p:nvSpPr>
          <p:cNvPr id="11" name="Text 9"/>
          <p:cNvSpPr txBox="1"/>
          <p:nvPr/>
        </p:nvSpPr>
        <p:spPr>
          <a:xfrm>
            <a:off x="538401" y="1739900"/>
            <a:ext cx="25983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Concurrent renders</a:t>
            </a:r>
            <a:endParaRPr lang="en-US" sz="1496" dirty="0"/>
          </a:p>
        </p:txBody>
      </p:sp>
      <p:sp>
        <p:nvSpPr>
          <p:cNvPr id="12" name="Text 10"/>
          <p:cNvSpPr txBox="1"/>
          <p:nvPr/>
        </p:nvSpPr>
        <p:spPr>
          <a:xfrm>
            <a:off x="3149446" y="1739900"/>
            <a:ext cx="1146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200+</a:t>
            </a:r>
            <a:endParaRPr lang="en-US" sz="1496" dirty="0"/>
          </a:p>
        </p:txBody>
      </p:sp>
      <p:sp>
        <p:nvSpPr>
          <p:cNvPr id="13" name="Text 11"/>
          <p:cNvSpPr txBox="1"/>
          <p:nvPr/>
        </p:nvSpPr>
        <p:spPr>
          <a:xfrm>
            <a:off x="538401" y="2076450"/>
            <a:ext cx="25983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Upload size limit</a:t>
            </a:r>
            <a:endParaRPr lang="en-US" sz="1496" dirty="0"/>
          </a:p>
        </p:txBody>
      </p:sp>
      <p:sp>
        <p:nvSpPr>
          <p:cNvPr id="14" name="Text 12"/>
          <p:cNvSpPr txBox="1"/>
          <p:nvPr/>
        </p:nvSpPr>
        <p:spPr>
          <a:xfrm>
            <a:off x="3149446" y="2076450"/>
            <a:ext cx="1146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 MB</a:t>
            </a:r>
            <a:endParaRPr lang="en-US" sz="1496" dirty="0"/>
          </a:p>
        </p:txBody>
      </p:sp>
      <p:sp>
        <p:nvSpPr>
          <p:cNvPr id="15" name="Shape 13"/>
          <p:cNvSpPr/>
          <p:nvPr/>
        </p:nvSpPr>
        <p:spPr>
          <a:xfrm>
            <a:off x="405384" y="2584450"/>
            <a:ext cx="4023951" cy="3765550"/>
          </a:xfrm>
          <a:prstGeom prst="roundRect">
            <a:avLst>
              <a:gd name="adj" fmla="val 459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2067" y="2711450"/>
            <a:ext cx="37705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Auto-Scaling Triggers</a:t>
            </a:r>
            <a:endParaRPr lang="en-US" sz="1496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2067" y="3054350"/>
            <a:ext cx="152019" cy="1524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60095" y="3016250"/>
            <a:ext cx="31797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API: CPU &gt; 70% → scale 2-10 tasks</a:t>
            </a:r>
            <a:endParaRPr lang="en-US" sz="1496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2067" y="3473450"/>
            <a:ext cx="152019" cy="152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60095" y="3321050"/>
            <a:ext cx="35425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Workers: Queue depth → scale 0-50 tasks</a:t>
            </a:r>
            <a:endParaRPr lang="en-US" sz="1496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2067" y="3892550"/>
            <a:ext cx="152019" cy="1524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60095" y="3854450"/>
            <a:ext cx="31987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Scale-to-zero when idle for 10 min</a:t>
            </a:r>
            <a:endParaRPr lang="en-US" sz="1496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2067" y="4311650"/>
            <a:ext cx="152019" cy="1524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0095" y="4159250"/>
            <a:ext cx="35425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Alarm: CPU &gt;85%, Queue &gt;100, DLQ &gt;0</a:t>
            </a:r>
            <a:endParaRPr lang="en-US" sz="1496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83630" y="584200"/>
            <a:ext cx="7170230" cy="45466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581354" y="5232400"/>
            <a:ext cx="2324030" cy="1117600"/>
          </a:xfrm>
          <a:prstGeom prst="roundRect">
            <a:avLst>
              <a:gd name="adj" fmla="val 2676"/>
            </a:avLst>
          </a:prstGeom>
          <a:solidFill>
            <a:srgbClr val="334155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5388658" y="5334000"/>
            <a:ext cx="7094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1</a:t>
            </a:r>
            <a:endParaRPr lang="en-US" sz="1496" dirty="0"/>
          </a:p>
        </p:txBody>
      </p:sp>
      <p:sp>
        <p:nvSpPr>
          <p:cNvPr id="28" name="Text 21"/>
          <p:cNvSpPr txBox="1"/>
          <p:nvPr/>
        </p:nvSpPr>
        <p:spPr>
          <a:xfrm>
            <a:off x="5271477" y="5562600"/>
            <a:ext cx="9437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~$200/mo</a:t>
            </a:r>
            <a:endParaRPr lang="en-US" sz="1496" dirty="0"/>
          </a:p>
        </p:txBody>
      </p:sp>
      <p:sp>
        <p:nvSpPr>
          <p:cNvPr id="29" name="Text 22"/>
          <p:cNvSpPr txBox="1"/>
          <p:nvPr/>
        </p:nvSpPr>
        <p:spPr>
          <a:xfrm>
            <a:off x="4866093" y="5791200"/>
            <a:ext cx="17545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API + 1-5 workers</a:t>
            </a:r>
            <a:endParaRPr lang="en-US" sz="1496" dirty="0"/>
          </a:p>
        </p:txBody>
      </p:sp>
      <p:sp>
        <p:nvSpPr>
          <p:cNvPr id="30" name="Shape 23"/>
          <p:cNvSpPr/>
          <p:nvPr/>
        </p:nvSpPr>
        <p:spPr>
          <a:xfrm>
            <a:off x="7006730" y="5232400"/>
            <a:ext cx="2324030" cy="1117600"/>
          </a:xfrm>
          <a:prstGeom prst="roundRect">
            <a:avLst>
              <a:gd name="adj" fmla="val 2676"/>
            </a:avLst>
          </a:prstGeom>
          <a:solidFill>
            <a:srgbClr val="334155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7795032" y="5334000"/>
            <a:ext cx="747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2</a:t>
            </a:r>
            <a:endParaRPr lang="en-US" sz="1496" dirty="0"/>
          </a:p>
        </p:txBody>
      </p:sp>
      <p:sp>
        <p:nvSpPr>
          <p:cNvPr id="32" name="Text 25"/>
          <p:cNvSpPr txBox="1"/>
          <p:nvPr/>
        </p:nvSpPr>
        <p:spPr>
          <a:xfrm>
            <a:off x="7690518" y="5562600"/>
            <a:ext cx="9564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~$800/mo</a:t>
            </a:r>
            <a:endParaRPr lang="en-US" sz="1496" dirty="0"/>
          </a:p>
        </p:txBody>
      </p:sp>
      <p:sp>
        <p:nvSpPr>
          <p:cNvPr id="33" name="Text 26"/>
          <p:cNvSpPr txBox="1"/>
          <p:nvPr/>
        </p:nvSpPr>
        <p:spPr>
          <a:xfrm>
            <a:off x="7108076" y="5791200"/>
            <a:ext cx="212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API + Spot workers + Redis</a:t>
            </a:r>
            <a:endParaRPr lang="en-US" sz="1496" dirty="0"/>
          </a:p>
        </p:txBody>
      </p:sp>
      <p:sp>
        <p:nvSpPr>
          <p:cNvPr id="34" name="Shape 27"/>
          <p:cNvSpPr/>
          <p:nvPr/>
        </p:nvSpPr>
        <p:spPr>
          <a:xfrm>
            <a:off x="9432106" y="5232400"/>
            <a:ext cx="2324030" cy="1117600"/>
          </a:xfrm>
          <a:prstGeom prst="roundRect">
            <a:avLst>
              <a:gd name="adj" fmla="val 2676"/>
            </a:avLst>
          </a:prstGeom>
          <a:solidFill>
            <a:srgbClr val="334155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10220408" y="5334000"/>
            <a:ext cx="747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3</a:t>
            </a:r>
            <a:endParaRPr lang="en-US" sz="1496" dirty="0"/>
          </a:p>
        </p:txBody>
      </p:sp>
      <p:sp>
        <p:nvSpPr>
          <p:cNvPr id="36" name="Text 29"/>
          <p:cNvSpPr txBox="1"/>
          <p:nvPr/>
        </p:nvSpPr>
        <p:spPr>
          <a:xfrm>
            <a:off x="10090558" y="5562600"/>
            <a:ext cx="10071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~$3-5K/mo</a:t>
            </a:r>
            <a:endParaRPr lang="en-US" sz="1496" dirty="0"/>
          </a:p>
        </p:txBody>
      </p:sp>
      <p:sp>
        <p:nvSpPr>
          <p:cNvPr id="37" name="Text 30"/>
          <p:cNvSpPr txBox="1"/>
          <p:nvPr/>
        </p:nvSpPr>
        <p:spPr>
          <a:xfrm>
            <a:off x="9533452" y="5791200"/>
            <a:ext cx="212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GPU + Multi-region + Batch</a:t>
            </a:r>
            <a:endParaRPr lang="en-US" sz="1496" dirty="0"/>
          </a:p>
        </p:txBody>
      </p:sp>
      <p:sp>
        <p:nvSpPr>
          <p:cNvPr id="38" name="Text 31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39" name="Text 32"/>
          <p:cNvSpPr txBox="1"/>
          <p:nvPr/>
        </p:nvSpPr>
        <p:spPr>
          <a:xfrm>
            <a:off x="8551069" y="6426200"/>
            <a:ext cx="32050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1: Decoration Preview Service</a:t>
            </a:r>
            <a:endParaRPr lang="en-US" sz="149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2109264" cy="279400"/>
          </a:xfrm>
          <a:prstGeom prst="roundRect">
            <a:avLst>
              <a:gd name="adj" fmla="val 9827027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18558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 · Engineering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615994" y="203200"/>
            <a:ext cx="540934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Design Principles — Top 5</a:t>
            </a:r>
            <a:endParaRPr lang="en-US" sz="2993" dirty="0"/>
          </a:p>
        </p:txBody>
      </p:sp>
      <p:sp>
        <p:nvSpPr>
          <p:cNvPr id="5" name="Shape 3"/>
          <p:cNvSpPr/>
          <p:nvPr/>
        </p:nvSpPr>
        <p:spPr>
          <a:xfrm>
            <a:off x="405384" y="685800"/>
            <a:ext cx="2189034" cy="5257800"/>
          </a:xfrm>
          <a:prstGeom prst="roundRect">
            <a:avLst>
              <a:gd name="adj" fmla="val 605"/>
            </a:avLst>
          </a:prstGeom>
          <a:solidFill>
            <a:srgbClr val="1E293B"/>
          </a:solidFill>
          <a:ln w="25337">
            <a:solidFill>
              <a:srgbClr val="6366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2067" y="838200"/>
            <a:ext cx="196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496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9097" y="850900"/>
            <a:ext cx="202692" cy="203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32067" y="1117600"/>
            <a:ext cx="19356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Async by Default</a:t>
            </a:r>
            <a:endParaRPr lang="en-US" sz="1795" dirty="0"/>
          </a:p>
        </p:txBody>
      </p:sp>
      <p:sp>
        <p:nvSpPr>
          <p:cNvPr id="9" name="Text 6"/>
          <p:cNvSpPr txBox="1"/>
          <p:nvPr/>
        </p:nvSpPr>
        <p:spPr>
          <a:xfrm>
            <a:off x="532067" y="1454150"/>
            <a:ext cx="193566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POST returns 202 immediately. SQS decouples submission from processing. A 5-min render never blocks a 200ms API call.</a:t>
            </a:r>
            <a:endParaRPr lang="en-US" sz="1496" dirty="0"/>
          </a:p>
        </p:txBody>
      </p:sp>
      <p:sp>
        <p:nvSpPr>
          <p:cNvPr id="10" name="Shape 7"/>
          <p:cNvSpPr/>
          <p:nvPr/>
        </p:nvSpPr>
        <p:spPr>
          <a:xfrm>
            <a:off x="2695764" y="685800"/>
            <a:ext cx="2189133" cy="5257800"/>
          </a:xfrm>
          <a:prstGeom prst="roundRect">
            <a:avLst>
              <a:gd name="adj" fmla="val 605"/>
            </a:avLst>
          </a:prstGeom>
          <a:solidFill>
            <a:srgbClr val="1E293B"/>
          </a:solidFill>
          <a:ln w="25337">
            <a:solidFill>
              <a:srgbClr val="6366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22447" y="838200"/>
            <a:ext cx="234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496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07482" y="850900"/>
            <a:ext cx="202692" cy="203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822447" y="1117600"/>
            <a:ext cx="193576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Separation of Concerns</a:t>
            </a:r>
            <a:endParaRPr lang="en-US" sz="1795" dirty="0"/>
          </a:p>
        </p:txBody>
      </p:sp>
      <p:sp>
        <p:nvSpPr>
          <p:cNvPr id="14" name="Text 10"/>
          <p:cNvSpPr txBox="1"/>
          <p:nvPr/>
        </p:nvSpPr>
        <p:spPr>
          <a:xfrm>
            <a:off x="2822447" y="1739900"/>
            <a:ext cx="19357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API, JobStore, FileValidator, RenderWorker — each owns one domain. Infra split into 5 CDK stacks by domain.</a:t>
            </a:r>
            <a:endParaRPr lang="en-US" sz="1496" dirty="0"/>
          </a:p>
        </p:txBody>
      </p:sp>
      <p:sp>
        <p:nvSpPr>
          <p:cNvPr id="15" name="Shape 11"/>
          <p:cNvSpPr/>
          <p:nvPr/>
        </p:nvSpPr>
        <p:spPr>
          <a:xfrm>
            <a:off x="4986243" y="685800"/>
            <a:ext cx="2189034" cy="5257800"/>
          </a:xfrm>
          <a:prstGeom prst="roundRect">
            <a:avLst>
              <a:gd name="adj" fmla="val 605"/>
            </a:avLst>
          </a:prstGeom>
          <a:solidFill>
            <a:srgbClr val="1E293B"/>
          </a:solidFill>
          <a:ln w="25337">
            <a:solidFill>
              <a:srgbClr val="6366F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112925" y="838200"/>
            <a:ext cx="234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496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97961" y="850900"/>
            <a:ext cx="202692" cy="203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12925" y="1117600"/>
            <a:ext cx="193566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Fail-Fast Validation</a:t>
            </a:r>
            <a:endParaRPr lang="en-US" sz="1795" dirty="0"/>
          </a:p>
        </p:txBody>
      </p:sp>
      <p:sp>
        <p:nvSpPr>
          <p:cNvPr id="19" name="Text 14"/>
          <p:cNvSpPr txBox="1"/>
          <p:nvPr/>
        </p:nvSpPr>
        <p:spPr>
          <a:xfrm>
            <a:off x="5112925" y="1739900"/>
            <a:ext cx="193566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File type, size, MIME validated before queueing. Pydantic schema enforced at API layer. Invalid requests never reach SQS.</a:t>
            </a:r>
            <a:endParaRPr lang="en-US" sz="1496" dirty="0"/>
          </a:p>
        </p:txBody>
      </p:sp>
      <p:sp>
        <p:nvSpPr>
          <p:cNvPr id="20" name="Shape 15"/>
          <p:cNvSpPr/>
          <p:nvPr/>
        </p:nvSpPr>
        <p:spPr>
          <a:xfrm>
            <a:off x="7276623" y="685800"/>
            <a:ext cx="2189133" cy="5257800"/>
          </a:xfrm>
          <a:prstGeom prst="roundRect">
            <a:avLst>
              <a:gd name="adj" fmla="val 605"/>
            </a:avLst>
          </a:prstGeom>
          <a:solidFill>
            <a:srgbClr val="1E293B"/>
          </a:solidFill>
          <a:ln w="25337">
            <a:solidFill>
              <a:srgbClr val="6366F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403306" y="838200"/>
            <a:ext cx="253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496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707344" y="850900"/>
            <a:ext cx="202692" cy="2032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03306" y="1117600"/>
            <a:ext cx="19357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Idempotency</a:t>
            </a:r>
            <a:endParaRPr lang="en-US" sz="1795" dirty="0"/>
          </a:p>
        </p:txBody>
      </p:sp>
      <p:sp>
        <p:nvSpPr>
          <p:cNvPr id="24" name="Text 18"/>
          <p:cNvSpPr txBox="1"/>
          <p:nvPr/>
        </p:nvSpPr>
        <p:spPr>
          <a:xfrm>
            <a:off x="7403306" y="1454150"/>
            <a:ext cx="19357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Unique job_id prevents duplicates. SQS visibility timeout stops double-processing. S3 keys are deterministic.</a:t>
            </a:r>
            <a:endParaRPr lang="en-US" sz="1496" dirty="0"/>
          </a:p>
        </p:txBody>
      </p:sp>
      <p:sp>
        <p:nvSpPr>
          <p:cNvPr id="25" name="Shape 19"/>
          <p:cNvSpPr/>
          <p:nvPr/>
        </p:nvSpPr>
        <p:spPr>
          <a:xfrm>
            <a:off x="9567102" y="685800"/>
            <a:ext cx="2189034" cy="5257800"/>
          </a:xfrm>
          <a:prstGeom prst="roundRect">
            <a:avLst>
              <a:gd name="adj" fmla="val 605"/>
            </a:avLst>
          </a:prstGeom>
          <a:solidFill>
            <a:srgbClr val="1E293B"/>
          </a:solidFill>
          <a:ln w="25337">
            <a:solidFill>
              <a:srgbClr val="6366F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9693784" y="838200"/>
            <a:ext cx="234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496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978820" y="850900"/>
            <a:ext cx="202692" cy="2032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693784" y="1117600"/>
            <a:ext cx="193566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 for Failure</a:t>
            </a:r>
            <a:endParaRPr lang="en-US" sz="1795" dirty="0"/>
          </a:p>
        </p:txBody>
      </p:sp>
      <p:sp>
        <p:nvSpPr>
          <p:cNvPr id="29" name="Text 22"/>
          <p:cNvSpPr txBox="1"/>
          <p:nvPr/>
        </p:nvSpPr>
        <p:spPr>
          <a:xfrm>
            <a:off x="9693784" y="1739900"/>
            <a:ext cx="193566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DLQ captures 3× failed messages. ECS health checks restart unhealthy tasks. ALB routes around failures. Self-healing.</a:t>
            </a:r>
            <a:endParaRPr lang="en-US" sz="1496" dirty="0"/>
          </a:p>
        </p:txBody>
      </p:sp>
      <p:sp>
        <p:nvSpPr>
          <p:cNvPr id="30" name="Text 23"/>
          <p:cNvSpPr txBox="1"/>
          <p:nvPr/>
        </p:nvSpPr>
        <p:spPr>
          <a:xfrm>
            <a:off x="405384" y="6070600"/>
            <a:ext cx="1634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Applied Patterns:</a:t>
            </a:r>
            <a:endParaRPr lang="en-US" sz="1496" dirty="0"/>
          </a:p>
        </p:txBody>
      </p:sp>
      <p:sp>
        <p:nvSpPr>
          <p:cNvPr id="31" name="Shape 24"/>
          <p:cNvSpPr/>
          <p:nvPr/>
        </p:nvSpPr>
        <p:spPr>
          <a:xfrm>
            <a:off x="2191607" y="6045200"/>
            <a:ext cx="905780" cy="279400"/>
          </a:xfrm>
          <a:prstGeom prst="roundRect">
            <a:avLst>
              <a:gd name="adj" fmla="val 22883916"/>
            </a:avLst>
          </a:prstGeom>
          <a:solidFill>
            <a:srgbClr val="334155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2292953" y="6070600"/>
            <a:ext cx="70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Factory</a:t>
            </a:r>
            <a:endParaRPr lang="en-US" sz="1496" dirty="0"/>
          </a:p>
        </p:txBody>
      </p:sp>
      <p:sp>
        <p:nvSpPr>
          <p:cNvPr id="33" name="Shape 26"/>
          <p:cNvSpPr/>
          <p:nvPr/>
        </p:nvSpPr>
        <p:spPr>
          <a:xfrm>
            <a:off x="3173397" y="6045200"/>
            <a:ext cx="1216152" cy="279400"/>
          </a:xfrm>
          <a:prstGeom prst="roundRect">
            <a:avLst>
              <a:gd name="adj" fmla="val 17043750"/>
            </a:avLst>
          </a:prstGeom>
          <a:solidFill>
            <a:srgbClr val="334155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3274743" y="6070600"/>
            <a:ext cx="1013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Repository</a:t>
            </a:r>
            <a:endParaRPr lang="en-US" sz="1496" dirty="0"/>
          </a:p>
        </p:txBody>
      </p:sp>
      <p:sp>
        <p:nvSpPr>
          <p:cNvPr id="35" name="Shape 28"/>
          <p:cNvSpPr/>
          <p:nvPr/>
        </p:nvSpPr>
        <p:spPr>
          <a:xfrm>
            <a:off x="4465558" y="6045200"/>
            <a:ext cx="994458" cy="279400"/>
          </a:xfrm>
          <a:prstGeom prst="roundRect">
            <a:avLst>
              <a:gd name="adj" fmla="val 20843312"/>
            </a:avLst>
          </a:prstGeom>
          <a:solidFill>
            <a:srgbClr val="334155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4566904" y="6070600"/>
            <a:ext cx="7917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Strategy</a:t>
            </a:r>
            <a:endParaRPr lang="en-US" sz="1496" dirty="0"/>
          </a:p>
        </p:txBody>
      </p:sp>
      <p:sp>
        <p:nvSpPr>
          <p:cNvPr id="37" name="Shape 30"/>
          <p:cNvSpPr/>
          <p:nvPr/>
        </p:nvSpPr>
        <p:spPr>
          <a:xfrm>
            <a:off x="5536025" y="6045200"/>
            <a:ext cx="1064133" cy="279400"/>
          </a:xfrm>
          <a:prstGeom prst="roundRect">
            <a:avLst>
              <a:gd name="adj" fmla="val 19478571"/>
            </a:avLst>
          </a:prstGeom>
          <a:solidFill>
            <a:srgbClr val="334155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5637371" y="6070600"/>
            <a:ext cx="8614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Observer</a:t>
            </a:r>
            <a:endParaRPr lang="en-US" sz="1496" dirty="0"/>
          </a:p>
        </p:txBody>
      </p:sp>
      <p:sp>
        <p:nvSpPr>
          <p:cNvPr id="39" name="Shape 32"/>
          <p:cNvSpPr/>
          <p:nvPr/>
        </p:nvSpPr>
        <p:spPr>
          <a:xfrm>
            <a:off x="6676168" y="6045200"/>
            <a:ext cx="741093" cy="279400"/>
          </a:xfrm>
          <a:prstGeom prst="roundRect">
            <a:avLst>
              <a:gd name="adj" fmla="val 27969231"/>
            </a:avLst>
          </a:prstGeom>
          <a:solidFill>
            <a:srgbClr val="334155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6777514" y="6070600"/>
            <a:ext cx="5384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CQRS</a:t>
            </a:r>
            <a:endParaRPr lang="en-US" sz="1496" dirty="0"/>
          </a:p>
        </p:txBody>
      </p:sp>
      <p:sp>
        <p:nvSpPr>
          <p:cNvPr id="41" name="Shape 34"/>
          <p:cNvSpPr/>
          <p:nvPr/>
        </p:nvSpPr>
        <p:spPr>
          <a:xfrm>
            <a:off x="7493270" y="6045200"/>
            <a:ext cx="1444181" cy="279400"/>
          </a:xfrm>
          <a:prstGeom prst="roundRect">
            <a:avLst>
              <a:gd name="adj" fmla="val 14352632"/>
            </a:avLst>
          </a:prstGeom>
          <a:solidFill>
            <a:srgbClr val="334155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7594616" y="6070600"/>
            <a:ext cx="12414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Event-Driven</a:t>
            </a:r>
            <a:endParaRPr lang="en-US" sz="1496" dirty="0"/>
          </a:p>
        </p:txBody>
      </p:sp>
      <p:sp>
        <p:nvSpPr>
          <p:cNvPr id="43" name="Shape 36"/>
          <p:cNvSpPr/>
          <p:nvPr/>
        </p:nvSpPr>
        <p:spPr>
          <a:xfrm>
            <a:off x="9013460" y="6045200"/>
            <a:ext cx="1108472" cy="279400"/>
          </a:xfrm>
          <a:prstGeom prst="roundRect">
            <a:avLst>
              <a:gd name="adj" fmla="val 18699429"/>
            </a:avLst>
          </a:prstGeom>
          <a:solidFill>
            <a:srgbClr val="334155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9114806" y="6070600"/>
            <a:ext cx="905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IaC (CDK)</a:t>
            </a:r>
            <a:endParaRPr lang="en-US" sz="1496" dirty="0"/>
          </a:p>
        </p:txBody>
      </p:sp>
      <p:sp>
        <p:nvSpPr>
          <p:cNvPr id="45" name="Text 38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46" name="Text 39"/>
          <p:cNvSpPr txBox="1"/>
          <p:nvPr/>
        </p:nvSpPr>
        <p:spPr>
          <a:xfrm>
            <a:off x="8551069" y="6426200"/>
            <a:ext cx="32050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1: Decoration Preview Service</a:t>
            </a:r>
            <a:endParaRPr lang="en-US" sz="149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2482977" cy="279400"/>
          </a:xfrm>
          <a:prstGeom prst="roundRect">
            <a:avLst>
              <a:gd name="adj" fmla="val 8347959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2229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 · Implementation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989707" y="203200"/>
            <a:ext cx="36357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What's Built &amp; Why</a:t>
            </a:r>
            <a:endParaRPr lang="en-US" sz="2993" dirty="0"/>
          </a:p>
        </p:txBody>
      </p:sp>
      <p:sp>
        <p:nvSpPr>
          <p:cNvPr id="5" name="Shape 3"/>
          <p:cNvSpPr/>
          <p:nvPr/>
        </p:nvSpPr>
        <p:spPr>
          <a:xfrm>
            <a:off x="405384" y="685800"/>
            <a:ext cx="2007918" cy="330200"/>
          </a:xfrm>
          <a:prstGeom prst="roundRect">
            <a:avLst>
              <a:gd name="adj" fmla="val 8734870"/>
            </a:avLst>
          </a:prstGeom>
          <a:solidFill>
            <a:srgbClr val="33415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2067" y="774700"/>
            <a:ext cx="152019" cy="152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4759" y="736600"/>
            <a:ext cx="1551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34D3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56 Tests Passing</a:t>
            </a:r>
            <a:endParaRPr lang="en-US" sz="1496" dirty="0"/>
          </a:p>
        </p:txBody>
      </p:sp>
      <p:sp>
        <p:nvSpPr>
          <p:cNvPr id="8" name="Shape 5"/>
          <p:cNvSpPr/>
          <p:nvPr/>
        </p:nvSpPr>
        <p:spPr>
          <a:xfrm>
            <a:off x="2514648" y="685800"/>
            <a:ext cx="1798892" cy="330200"/>
          </a:xfrm>
          <a:prstGeom prst="roundRect">
            <a:avLst>
              <a:gd name="adj" fmla="val 9749837"/>
            </a:avLst>
          </a:prstGeom>
          <a:solidFill>
            <a:srgbClr val="33415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41330" y="774700"/>
            <a:ext cx="152019" cy="152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44022" y="736600"/>
            <a:ext cx="13428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88% Coverage</a:t>
            </a:r>
            <a:endParaRPr lang="en-US" sz="1496" dirty="0"/>
          </a:p>
        </p:txBody>
      </p:sp>
      <p:sp>
        <p:nvSpPr>
          <p:cNvPr id="11" name="Shape 7"/>
          <p:cNvSpPr/>
          <p:nvPr/>
        </p:nvSpPr>
        <p:spPr>
          <a:xfrm>
            <a:off x="4414885" y="685800"/>
            <a:ext cx="1703880" cy="330200"/>
          </a:xfrm>
          <a:prstGeom prst="roundRect">
            <a:avLst>
              <a:gd name="adj" fmla="val 10293509"/>
            </a:avLst>
          </a:prstGeom>
          <a:solidFill>
            <a:srgbClr val="33415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41568" y="774700"/>
            <a:ext cx="152019" cy="152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44260" y="736600"/>
            <a:ext cx="1247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CDK Stacks</a:t>
            </a:r>
            <a:endParaRPr lang="en-US" sz="1496" dirty="0"/>
          </a:p>
        </p:txBody>
      </p:sp>
      <p:sp>
        <p:nvSpPr>
          <p:cNvPr id="14" name="Shape 9"/>
          <p:cNvSpPr/>
          <p:nvPr/>
        </p:nvSpPr>
        <p:spPr>
          <a:xfrm>
            <a:off x="6220111" y="685800"/>
            <a:ext cx="2482977" cy="330200"/>
          </a:xfrm>
          <a:prstGeom prst="roundRect">
            <a:avLst>
              <a:gd name="adj" fmla="val 7063658"/>
            </a:avLst>
          </a:prstGeom>
          <a:solidFill>
            <a:srgbClr val="334155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46793" y="774700"/>
            <a:ext cx="152019" cy="1524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549485" y="736600"/>
            <a:ext cx="202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BBF2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ADRs Documented</a:t>
            </a:r>
            <a:endParaRPr lang="en-US" sz="1496" dirty="0"/>
          </a:p>
        </p:txBody>
      </p:sp>
      <p:sp>
        <p:nvSpPr>
          <p:cNvPr id="17" name="Shape 11"/>
          <p:cNvSpPr/>
          <p:nvPr/>
        </p:nvSpPr>
        <p:spPr>
          <a:xfrm>
            <a:off x="405384" y="1117600"/>
            <a:ext cx="1621041" cy="381000"/>
          </a:xfrm>
          <a:prstGeom prst="roundRect">
            <a:avLst>
              <a:gd name="adj" fmla="val 11253"/>
            </a:avLst>
          </a:prstGeom>
          <a:solidFill>
            <a:srgbClr val="6366F1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506730" y="1193800"/>
            <a:ext cx="1418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Component</a:t>
            </a:r>
            <a:endParaRPr lang="en-US" sz="1496" dirty="0"/>
          </a:p>
        </p:txBody>
      </p:sp>
      <p:sp>
        <p:nvSpPr>
          <p:cNvPr id="19" name="Shape 13"/>
          <p:cNvSpPr/>
          <p:nvPr/>
        </p:nvSpPr>
        <p:spPr>
          <a:xfrm>
            <a:off x="2026425" y="1117600"/>
            <a:ext cx="1298496" cy="381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2127771" y="1193800"/>
            <a:ext cx="1095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Status</a:t>
            </a:r>
            <a:endParaRPr lang="en-US" sz="1496" dirty="0"/>
          </a:p>
        </p:txBody>
      </p:sp>
      <p:sp>
        <p:nvSpPr>
          <p:cNvPr id="21" name="Shape 15"/>
          <p:cNvSpPr/>
          <p:nvPr/>
        </p:nvSpPr>
        <p:spPr>
          <a:xfrm>
            <a:off x="3324921" y="1117600"/>
            <a:ext cx="2527811" cy="381000"/>
          </a:xfrm>
          <a:prstGeom prst="roundRect">
            <a:avLst/>
          </a:prstGeom>
          <a:solidFill>
            <a:srgbClr val="6366F1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3426267" y="1193800"/>
            <a:ext cx="23251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Notes</a:t>
            </a:r>
            <a:endParaRPr lang="en-US" sz="1496" dirty="0"/>
          </a:p>
        </p:txBody>
      </p:sp>
      <p:sp>
        <p:nvSpPr>
          <p:cNvPr id="23" name="Text 17"/>
          <p:cNvSpPr txBox="1"/>
          <p:nvPr/>
        </p:nvSpPr>
        <p:spPr>
          <a:xfrm>
            <a:off x="506730" y="1698923"/>
            <a:ext cx="14183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FastAPI Service</a:t>
            </a:r>
            <a:endParaRPr lang="en-US" sz="1496" dirty="0"/>
          </a:p>
        </p:txBody>
      </p:sp>
      <p:sp>
        <p:nvSpPr>
          <p:cNvPr id="24" name="Text 18"/>
          <p:cNvSpPr txBox="1"/>
          <p:nvPr/>
        </p:nvSpPr>
        <p:spPr>
          <a:xfrm>
            <a:off x="2127771" y="1813223"/>
            <a:ext cx="1095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34D3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 Built</a:t>
            </a:r>
            <a:endParaRPr lang="en-US" sz="1496" dirty="0"/>
          </a:p>
        </p:txBody>
      </p:sp>
      <p:sp>
        <p:nvSpPr>
          <p:cNvPr id="25" name="Text 19"/>
          <p:cNvSpPr txBox="1"/>
          <p:nvPr/>
        </p:nvSpPr>
        <p:spPr>
          <a:xfrm>
            <a:off x="3426267" y="1698923"/>
            <a:ext cx="23251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endpoints, Pydantic, async</a:t>
            </a:r>
            <a:endParaRPr lang="en-US" sz="1496" dirty="0"/>
          </a:p>
        </p:txBody>
      </p:sp>
      <p:sp>
        <p:nvSpPr>
          <p:cNvPr id="26" name="Text 20"/>
          <p:cNvSpPr txBox="1"/>
          <p:nvPr/>
        </p:nvSpPr>
        <p:spPr>
          <a:xfrm>
            <a:off x="506730" y="2510334"/>
            <a:ext cx="1418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SQS + DLQ</a:t>
            </a:r>
            <a:endParaRPr lang="en-US" sz="1496" dirty="0"/>
          </a:p>
        </p:txBody>
      </p:sp>
      <p:sp>
        <p:nvSpPr>
          <p:cNvPr id="27" name="Text 21"/>
          <p:cNvSpPr txBox="1"/>
          <p:nvPr/>
        </p:nvSpPr>
        <p:spPr>
          <a:xfrm>
            <a:off x="2127771" y="2510334"/>
            <a:ext cx="1095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34D3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 Built</a:t>
            </a:r>
            <a:endParaRPr lang="en-US" sz="1496" dirty="0"/>
          </a:p>
        </p:txBody>
      </p:sp>
      <p:sp>
        <p:nvSpPr>
          <p:cNvPr id="28" name="Text 22"/>
          <p:cNvSpPr txBox="1"/>
          <p:nvPr/>
        </p:nvSpPr>
        <p:spPr>
          <a:xfrm>
            <a:off x="3426267" y="2510334"/>
            <a:ext cx="23251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KMS encrypted, 3× retry</a:t>
            </a:r>
            <a:endParaRPr lang="en-US" sz="1496" dirty="0"/>
          </a:p>
        </p:txBody>
      </p:sp>
      <p:sp>
        <p:nvSpPr>
          <p:cNvPr id="29" name="Text 23"/>
          <p:cNvSpPr txBox="1"/>
          <p:nvPr/>
        </p:nvSpPr>
        <p:spPr>
          <a:xfrm>
            <a:off x="506730" y="3093045"/>
            <a:ext cx="14183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Render Workers</a:t>
            </a:r>
            <a:endParaRPr lang="en-US" sz="1496" dirty="0"/>
          </a:p>
        </p:txBody>
      </p:sp>
      <p:sp>
        <p:nvSpPr>
          <p:cNvPr id="30" name="Text 24"/>
          <p:cNvSpPr txBox="1"/>
          <p:nvPr/>
        </p:nvSpPr>
        <p:spPr>
          <a:xfrm>
            <a:off x="2127771" y="3207345"/>
            <a:ext cx="1095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⚡ Stubbed</a:t>
            </a:r>
            <a:endParaRPr lang="en-US" sz="1496" dirty="0"/>
          </a:p>
        </p:txBody>
      </p:sp>
      <p:sp>
        <p:nvSpPr>
          <p:cNvPr id="31" name="Text 25"/>
          <p:cNvSpPr txBox="1"/>
          <p:nvPr/>
        </p:nvSpPr>
        <p:spPr>
          <a:xfrm>
            <a:off x="3426267" y="3093045"/>
            <a:ext cx="23251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Pillow overlay (Blender in prod)</a:t>
            </a:r>
            <a:endParaRPr lang="en-US" sz="1496" dirty="0"/>
          </a:p>
        </p:txBody>
      </p:sp>
      <p:sp>
        <p:nvSpPr>
          <p:cNvPr id="32" name="Text 26"/>
          <p:cNvSpPr txBox="1"/>
          <p:nvPr/>
        </p:nvSpPr>
        <p:spPr>
          <a:xfrm>
            <a:off x="506730" y="3950990"/>
            <a:ext cx="14183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S3 / CloudFront</a:t>
            </a:r>
            <a:endParaRPr lang="en-US" sz="1496" dirty="0"/>
          </a:p>
        </p:txBody>
      </p:sp>
      <p:sp>
        <p:nvSpPr>
          <p:cNvPr id="33" name="Text 27"/>
          <p:cNvSpPr txBox="1"/>
          <p:nvPr/>
        </p:nvSpPr>
        <p:spPr>
          <a:xfrm>
            <a:off x="2127771" y="4065290"/>
            <a:ext cx="1095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34D3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 Built</a:t>
            </a:r>
            <a:endParaRPr lang="en-US" sz="1496" dirty="0"/>
          </a:p>
        </p:txBody>
      </p:sp>
      <p:sp>
        <p:nvSpPr>
          <p:cNvPr id="34" name="Text 28"/>
          <p:cNvSpPr txBox="1"/>
          <p:nvPr/>
        </p:nvSpPr>
        <p:spPr>
          <a:xfrm>
            <a:off x="3426267" y="3950990"/>
            <a:ext cx="23251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KMS, versioning, CDN delivery</a:t>
            </a:r>
            <a:endParaRPr lang="en-US" sz="1496" dirty="0"/>
          </a:p>
        </p:txBody>
      </p:sp>
      <p:sp>
        <p:nvSpPr>
          <p:cNvPr id="35" name="Text 29"/>
          <p:cNvSpPr txBox="1"/>
          <p:nvPr/>
        </p:nvSpPr>
        <p:spPr>
          <a:xfrm>
            <a:off x="506730" y="4808934"/>
            <a:ext cx="14183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DynamoDB + GSI</a:t>
            </a:r>
            <a:endParaRPr lang="en-US" sz="1496" dirty="0"/>
          </a:p>
        </p:txBody>
      </p:sp>
      <p:sp>
        <p:nvSpPr>
          <p:cNvPr id="36" name="Text 30"/>
          <p:cNvSpPr txBox="1"/>
          <p:nvPr/>
        </p:nvSpPr>
        <p:spPr>
          <a:xfrm>
            <a:off x="2127771" y="4923234"/>
            <a:ext cx="1095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34D3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✅ Built</a:t>
            </a:r>
            <a:endParaRPr lang="en-US" sz="1496" dirty="0"/>
          </a:p>
        </p:txBody>
      </p:sp>
      <p:sp>
        <p:nvSpPr>
          <p:cNvPr id="37" name="Text 31"/>
          <p:cNvSpPr txBox="1"/>
          <p:nvPr/>
        </p:nvSpPr>
        <p:spPr>
          <a:xfrm>
            <a:off x="3426267" y="4923234"/>
            <a:ext cx="23251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On-demand, TTL, PITR</a:t>
            </a:r>
            <a:endParaRPr lang="en-US" sz="1496" dirty="0"/>
          </a:p>
        </p:txBody>
      </p:sp>
      <p:sp>
        <p:nvSpPr>
          <p:cNvPr id="38" name="Text 32"/>
          <p:cNvSpPr txBox="1"/>
          <p:nvPr/>
        </p:nvSpPr>
        <p:spPr>
          <a:xfrm>
            <a:off x="506730" y="5666978"/>
            <a:ext cx="14183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GPU Rendering</a:t>
            </a:r>
            <a:endParaRPr lang="en-US" sz="1496" dirty="0"/>
          </a:p>
        </p:txBody>
      </p:sp>
      <p:sp>
        <p:nvSpPr>
          <p:cNvPr id="39" name="Text 33"/>
          <p:cNvSpPr txBox="1"/>
          <p:nvPr/>
        </p:nvSpPr>
        <p:spPr>
          <a:xfrm>
            <a:off x="2127771" y="5781278"/>
            <a:ext cx="1095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⚡ Stubbed</a:t>
            </a:r>
            <a:endParaRPr lang="en-US" sz="1496" dirty="0"/>
          </a:p>
        </p:txBody>
      </p:sp>
      <p:sp>
        <p:nvSpPr>
          <p:cNvPr id="40" name="Text 34"/>
          <p:cNvSpPr txBox="1"/>
          <p:nvPr/>
        </p:nvSpPr>
        <p:spPr>
          <a:xfrm>
            <a:off x="3426267" y="5666978"/>
            <a:ext cx="23251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Architecture ready, cost-controlled</a:t>
            </a:r>
            <a:endParaRPr lang="en-US" sz="1496" dirty="0"/>
          </a:p>
        </p:txBody>
      </p:sp>
      <p:sp>
        <p:nvSpPr>
          <p:cNvPr id="41" name="Shape 35"/>
          <p:cNvSpPr/>
          <p:nvPr/>
        </p:nvSpPr>
        <p:spPr>
          <a:xfrm>
            <a:off x="6004751" y="1117600"/>
            <a:ext cx="5751386" cy="5207000"/>
          </a:xfrm>
          <a:prstGeom prst="roundRect">
            <a:avLst>
              <a:gd name="adj" fmla="val 232"/>
            </a:avLst>
          </a:prstGeom>
          <a:solidFill>
            <a:srgbClr val="1E293B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6156770" y="1270000"/>
            <a:ext cx="54473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 Stack Decisions</a:t>
            </a:r>
            <a:endParaRPr lang="en-US" sz="1795" dirty="0"/>
          </a:p>
        </p:txBody>
      </p:sp>
      <p:sp>
        <p:nvSpPr>
          <p:cNvPr id="43" name="Shape 37"/>
          <p:cNvSpPr/>
          <p:nvPr/>
        </p:nvSpPr>
        <p:spPr>
          <a:xfrm>
            <a:off x="6156770" y="1625600"/>
            <a:ext cx="5447348" cy="848320"/>
          </a:xfrm>
          <a:prstGeom prst="roundRect">
            <a:avLst>
              <a:gd name="adj" fmla="val 1003"/>
            </a:avLst>
          </a:prstGeom>
          <a:solidFill>
            <a:srgbClr val="334155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58116" y="1727200"/>
            <a:ext cx="5244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FastAPI</a:t>
            </a:r>
            <a:endParaRPr lang="en-US" sz="1496" dirty="0"/>
          </a:p>
        </p:txBody>
      </p:sp>
      <p:sp>
        <p:nvSpPr>
          <p:cNvPr id="45" name="Text 39"/>
          <p:cNvSpPr txBox="1"/>
          <p:nvPr/>
        </p:nvSpPr>
        <p:spPr>
          <a:xfrm>
            <a:off x="6258116" y="1981200"/>
            <a:ext cx="5244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Async-native, auto-docs, Python ecosystem</a:t>
            </a:r>
            <a:endParaRPr lang="en-US" sz="1496" dirty="0"/>
          </a:p>
        </p:txBody>
      </p:sp>
      <p:sp>
        <p:nvSpPr>
          <p:cNvPr id="46" name="Shape 40"/>
          <p:cNvSpPr/>
          <p:nvPr/>
        </p:nvSpPr>
        <p:spPr>
          <a:xfrm>
            <a:off x="6156770" y="2550120"/>
            <a:ext cx="5447348" cy="848420"/>
          </a:xfrm>
          <a:prstGeom prst="roundRect">
            <a:avLst>
              <a:gd name="adj" fmla="val 1003"/>
            </a:avLst>
          </a:prstGeom>
          <a:solidFill>
            <a:srgbClr val="0F172A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6258116" y="2651720"/>
            <a:ext cx="5244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SQS</a:t>
            </a:r>
            <a:endParaRPr lang="en-US" sz="1496" dirty="0"/>
          </a:p>
        </p:txBody>
      </p:sp>
      <p:sp>
        <p:nvSpPr>
          <p:cNvPr id="48" name="Text 42"/>
          <p:cNvSpPr txBox="1"/>
          <p:nvPr/>
        </p:nvSpPr>
        <p:spPr>
          <a:xfrm>
            <a:off x="6258116" y="2905720"/>
            <a:ext cx="5244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Managed, durable, scales with ECS auto-scaling</a:t>
            </a:r>
            <a:endParaRPr lang="en-US" sz="1496" dirty="0"/>
          </a:p>
        </p:txBody>
      </p:sp>
      <p:sp>
        <p:nvSpPr>
          <p:cNvPr id="49" name="Shape 43"/>
          <p:cNvSpPr/>
          <p:nvPr/>
        </p:nvSpPr>
        <p:spPr>
          <a:xfrm>
            <a:off x="6156770" y="3474740"/>
            <a:ext cx="5447348" cy="848320"/>
          </a:xfrm>
          <a:prstGeom prst="roundRect">
            <a:avLst>
              <a:gd name="adj" fmla="val 1003"/>
            </a:avLst>
          </a:prstGeom>
          <a:solidFill>
            <a:srgbClr val="334155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6258116" y="3576340"/>
            <a:ext cx="5244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ECS Fargate</a:t>
            </a:r>
            <a:endParaRPr lang="en-US" sz="1496" dirty="0"/>
          </a:p>
        </p:txBody>
      </p:sp>
      <p:sp>
        <p:nvSpPr>
          <p:cNvPr id="51" name="Text 45"/>
          <p:cNvSpPr txBox="1"/>
          <p:nvPr/>
        </p:nvSpPr>
        <p:spPr>
          <a:xfrm>
            <a:off x="6258116" y="3830340"/>
            <a:ext cx="5244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Serverless containers, no EC2 management</a:t>
            </a:r>
            <a:endParaRPr lang="en-US" sz="1496" dirty="0"/>
          </a:p>
        </p:txBody>
      </p:sp>
      <p:sp>
        <p:nvSpPr>
          <p:cNvPr id="52" name="Shape 46"/>
          <p:cNvSpPr/>
          <p:nvPr/>
        </p:nvSpPr>
        <p:spPr>
          <a:xfrm>
            <a:off x="6156770" y="4399260"/>
            <a:ext cx="5447348" cy="848420"/>
          </a:xfrm>
          <a:prstGeom prst="roundRect">
            <a:avLst>
              <a:gd name="adj" fmla="val 1003"/>
            </a:avLst>
          </a:prstGeom>
          <a:solidFill>
            <a:srgbClr val="0F172A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6258116" y="4500860"/>
            <a:ext cx="5244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CloudFront</a:t>
            </a:r>
            <a:endParaRPr lang="en-US" sz="1496" dirty="0"/>
          </a:p>
        </p:txBody>
      </p:sp>
      <p:sp>
        <p:nvSpPr>
          <p:cNvPr id="54" name="Text 48"/>
          <p:cNvSpPr txBox="1"/>
          <p:nvPr/>
        </p:nvSpPr>
        <p:spPr>
          <a:xfrm>
            <a:off x="6258116" y="4754860"/>
            <a:ext cx="5244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Global CDN, integrates natively with S3</a:t>
            </a:r>
            <a:endParaRPr lang="en-US" sz="1496" dirty="0"/>
          </a:p>
        </p:txBody>
      </p:sp>
      <p:sp>
        <p:nvSpPr>
          <p:cNvPr id="55" name="Shape 49"/>
          <p:cNvSpPr/>
          <p:nvPr/>
        </p:nvSpPr>
        <p:spPr>
          <a:xfrm>
            <a:off x="6156770" y="5323880"/>
            <a:ext cx="5447348" cy="848320"/>
          </a:xfrm>
          <a:prstGeom prst="roundRect">
            <a:avLst>
              <a:gd name="adj" fmla="val 1003"/>
            </a:avLst>
          </a:prstGeom>
          <a:solidFill>
            <a:srgbClr val="334155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6258116" y="5425480"/>
            <a:ext cx="5244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DynamoDB</a:t>
            </a:r>
            <a:endParaRPr lang="en-US" sz="1496" dirty="0"/>
          </a:p>
        </p:txBody>
      </p:sp>
      <p:sp>
        <p:nvSpPr>
          <p:cNvPr id="57" name="Text 51"/>
          <p:cNvSpPr txBox="1"/>
          <p:nvPr/>
        </p:nvSpPr>
        <p:spPr>
          <a:xfrm>
            <a:off x="6258116" y="5679480"/>
            <a:ext cx="5244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Serverless, low-latency job state lookups</a:t>
            </a:r>
            <a:endParaRPr lang="en-US" sz="1496" dirty="0"/>
          </a:p>
        </p:txBody>
      </p:sp>
      <p:sp>
        <p:nvSpPr>
          <p:cNvPr id="58" name="Text 52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59" name="Text 53"/>
          <p:cNvSpPr txBox="1"/>
          <p:nvPr/>
        </p:nvSpPr>
        <p:spPr>
          <a:xfrm>
            <a:off x="8551069" y="6426200"/>
            <a:ext cx="32050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1: Decoration Preview Service</a:t>
            </a:r>
            <a:endParaRPr lang="en-US" sz="1496" dirty="0"/>
          </a:p>
        </p:txBody>
      </p:sp>
      <p:sp>
        <p:nvSpPr>
          <p:cNvPr id="60" name="Text 54"/>
          <p:cNvSpPr txBox="1"/>
          <p:nvPr/>
        </p:nvSpPr>
        <p:spPr>
          <a:xfrm>
            <a:off x="6156770" y="6172200"/>
            <a:ext cx="54473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97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demo endpoint: http://decoration-preview-alb-1021450355.eu-central-1.elb.amazonaws.com/</a:t>
            </a:r>
            <a:endParaRPr lang="en-US" sz="109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1868567" cy="279400"/>
          </a:xfrm>
          <a:prstGeom prst="roundRect">
            <a:avLst>
              <a:gd name="adj" fmla="val 11092881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1615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 · Summary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375297" y="203200"/>
            <a:ext cx="58527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Decisions &amp; Competencies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405384" y="736600"/>
            <a:ext cx="55486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Technical Decisions</a:t>
            </a:r>
            <a:endParaRPr lang="en-US" sz="1795" dirty="0"/>
          </a:p>
        </p:txBody>
      </p:sp>
      <p:sp>
        <p:nvSpPr>
          <p:cNvPr id="6" name="Shape 4"/>
          <p:cNvSpPr/>
          <p:nvPr/>
        </p:nvSpPr>
        <p:spPr>
          <a:xfrm>
            <a:off x="405384" y="1092200"/>
            <a:ext cx="5548694" cy="1642467"/>
          </a:xfrm>
          <a:prstGeom prst="roundRect">
            <a:avLst>
              <a:gd name="adj" fmla="val 763"/>
            </a:avLst>
          </a:prstGeom>
          <a:solidFill>
            <a:srgbClr val="33415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403" y="1786434"/>
            <a:ext cx="253365" cy="254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37451" y="1684834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Async over sync</a:t>
            </a:r>
            <a:endParaRPr lang="en-US" sz="1496" dirty="0"/>
          </a:p>
        </p:txBody>
      </p:sp>
      <p:sp>
        <p:nvSpPr>
          <p:cNvPr id="9" name="Text 6"/>
          <p:cNvSpPr txBox="1"/>
          <p:nvPr/>
        </p:nvSpPr>
        <p:spPr>
          <a:xfrm>
            <a:off x="937451" y="1913434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Frees designers from waiting — core UX win</a:t>
            </a:r>
            <a:endParaRPr lang="en-US" sz="1496" dirty="0"/>
          </a:p>
        </p:txBody>
      </p:sp>
      <p:sp>
        <p:nvSpPr>
          <p:cNvPr id="10" name="Shape 7"/>
          <p:cNvSpPr/>
          <p:nvPr/>
        </p:nvSpPr>
        <p:spPr>
          <a:xfrm>
            <a:off x="405384" y="2861667"/>
            <a:ext cx="5548694" cy="1642566"/>
          </a:xfrm>
          <a:prstGeom prst="roundRect">
            <a:avLst>
              <a:gd name="adj" fmla="val 763"/>
            </a:avLst>
          </a:prstGeom>
          <a:solidFill>
            <a:srgbClr val="33415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403" y="3555901"/>
            <a:ext cx="253365" cy="2540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37451" y="3454301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AWS-native stack</a:t>
            </a:r>
            <a:endParaRPr lang="en-US" sz="1496" dirty="0"/>
          </a:p>
        </p:txBody>
      </p:sp>
      <p:sp>
        <p:nvSpPr>
          <p:cNvPr id="13" name="Text 9"/>
          <p:cNvSpPr txBox="1"/>
          <p:nvPr/>
        </p:nvSpPr>
        <p:spPr>
          <a:xfrm>
            <a:off x="937451" y="3682901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Managed services reduce ops burden</a:t>
            </a:r>
            <a:endParaRPr lang="en-US" sz="1496" dirty="0"/>
          </a:p>
        </p:txBody>
      </p:sp>
      <p:sp>
        <p:nvSpPr>
          <p:cNvPr id="14" name="Shape 10"/>
          <p:cNvSpPr/>
          <p:nvPr/>
        </p:nvSpPr>
        <p:spPr>
          <a:xfrm>
            <a:off x="405384" y="4631234"/>
            <a:ext cx="5548694" cy="1642566"/>
          </a:xfrm>
          <a:prstGeom prst="roundRect">
            <a:avLst>
              <a:gd name="adj" fmla="val 763"/>
            </a:avLst>
          </a:prstGeom>
          <a:solidFill>
            <a:srgbClr val="33415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7403" y="5325467"/>
            <a:ext cx="253365" cy="2540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37451" y="5223867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Security first</a:t>
            </a:r>
            <a:endParaRPr lang="en-US" sz="1496" dirty="0"/>
          </a:p>
        </p:txBody>
      </p:sp>
      <p:sp>
        <p:nvSpPr>
          <p:cNvPr id="17" name="Text 12"/>
          <p:cNvSpPr txBox="1"/>
          <p:nvPr/>
        </p:nvSpPr>
        <p:spPr>
          <a:xfrm>
            <a:off x="937451" y="5452467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Pre-release designs require defense-in-depth</a:t>
            </a:r>
            <a:endParaRPr lang="en-US" sz="1496" dirty="0"/>
          </a:p>
        </p:txBody>
      </p:sp>
      <p:sp>
        <p:nvSpPr>
          <p:cNvPr id="18" name="Text 13"/>
          <p:cNvSpPr txBox="1"/>
          <p:nvPr/>
        </p:nvSpPr>
        <p:spPr>
          <a:xfrm>
            <a:off x="6207443" y="736600"/>
            <a:ext cx="55486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Competencies Demonstrated</a:t>
            </a:r>
            <a:endParaRPr lang="en-US" sz="1795" dirty="0"/>
          </a:p>
        </p:txBody>
      </p:sp>
      <p:sp>
        <p:nvSpPr>
          <p:cNvPr id="19" name="Shape 14"/>
          <p:cNvSpPr/>
          <p:nvPr/>
        </p:nvSpPr>
        <p:spPr>
          <a:xfrm>
            <a:off x="6207443" y="1092200"/>
            <a:ext cx="2235946" cy="381000"/>
          </a:xfrm>
          <a:prstGeom prst="roundRect">
            <a:avLst>
              <a:gd name="adj" fmla="val 6798187"/>
            </a:avLst>
          </a:prstGeom>
          <a:solidFill>
            <a:srgbClr val="6366F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359462" y="1168400"/>
            <a:ext cx="1931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System Architecture</a:t>
            </a:r>
            <a:endParaRPr lang="en-US" sz="1496" dirty="0"/>
          </a:p>
        </p:txBody>
      </p:sp>
      <p:sp>
        <p:nvSpPr>
          <p:cNvPr id="21" name="Shape 16"/>
          <p:cNvSpPr/>
          <p:nvPr/>
        </p:nvSpPr>
        <p:spPr>
          <a:xfrm>
            <a:off x="8544735" y="1092200"/>
            <a:ext cx="1792557" cy="381000"/>
          </a:xfrm>
          <a:prstGeom prst="roundRect">
            <a:avLst>
              <a:gd name="adj" fmla="val 8479717"/>
            </a:avLst>
          </a:prstGeom>
          <a:solidFill>
            <a:srgbClr val="22D3EE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696754" y="1168400"/>
            <a:ext cx="14885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Security Design</a:t>
            </a:r>
            <a:endParaRPr lang="en-US" sz="1496" dirty="0"/>
          </a:p>
        </p:txBody>
      </p:sp>
      <p:sp>
        <p:nvSpPr>
          <p:cNvPr id="23" name="Shape 18"/>
          <p:cNvSpPr/>
          <p:nvPr/>
        </p:nvSpPr>
        <p:spPr>
          <a:xfrm>
            <a:off x="6207443" y="1574800"/>
            <a:ext cx="2172605" cy="381000"/>
          </a:xfrm>
          <a:prstGeom prst="roundRect">
            <a:avLst>
              <a:gd name="adj" fmla="val 6996385"/>
            </a:avLst>
          </a:prstGeom>
          <a:solidFill>
            <a:srgbClr val="6366F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359462" y="1651000"/>
            <a:ext cx="1868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Scalability Planning</a:t>
            </a:r>
            <a:endParaRPr lang="en-US" sz="1496" dirty="0"/>
          </a:p>
        </p:txBody>
      </p:sp>
      <p:sp>
        <p:nvSpPr>
          <p:cNvPr id="25" name="Shape 20"/>
          <p:cNvSpPr/>
          <p:nvPr/>
        </p:nvSpPr>
        <p:spPr>
          <a:xfrm>
            <a:off x="8481393" y="1574800"/>
            <a:ext cx="1368171" cy="381000"/>
          </a:xfrm>
          <a:prstGeom prst="roundRect">
            <a:avLst>
              <a:gd name="adj" fmla="val 11110000"/>
            </a:avLst>
          </a:prstGeom>
          <a:solidFill>
            <a:srgbClr val="22D3EE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633412" y="1651000"/>
            <a:ext cx="10641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 Design</a:t>
            </a:r>
            <a:endParaRPr lang="en-US" sz="1496" dirty="0"/>
          </a:p>
        </p:txBody>
      </p:sp>
      <p:sp>
        <p:nvSpPr>
          <p:cNvPr id="27" name="Shape 22"/>
          <p:cNvSpPr/>
          <p:nvPr/>
        </p:nvSpPr>
        <p:spPr>
          <a:xfrm>
            <a:off x="9950910" y="1574800"/>
            <a:ext cx="1735550" cy="381000"/>
          </a:xfrm>
          <a:prstGeom prst="roundRect">
            <a:avLst>
              <a:gd name="adj" fmla="val 8758248"/>
            </a:avLst>
          </a:prstGeom>
          <a:solidFill>
            <a:srgbClr val="6366F1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10102929" y="1651000"/>
            <a:ext cx="1431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Async Patterns</a:t>
            </a:r>
            <a:endParaRPr lang="en-US" sz="1496" dirty="0"/>
          </a:p>
        </p:txBody>
      </p:sp>
      <p:sp>
        <p:nvSpPr>
          <p:cNvPr id="29" name="Shape 24"/>
          <p:cNvSpPr/>
          <p:nvPr/>
        </p:nvSpPr>
        <p:spPr>
          <a:xfrm>
            <a:off x="6207443" y="2057400"/>
            <a:ext cx="2153603" cy="381000"/>
          </a:xfrm>
          <a:prstGeom prst="roundRect">
            <a:avLst>
              <a:gd name="adj" fmla="val 7058118"/>
            </a:avLst>
          </a:prstGeom>
          <a:solidFill>
            <a:srgbClr val="22D3EE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359462" y="2133600"/>
            <a:ext cx="18495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Cloud Native (AWS)</a:t>
            </a:r>
            <a:endParaRPr lang="en-US" sz="1496" dirty="0"/>
          </a:p>
        </p:txBody>
      </p:sp>
      <p:sp>
        <p:nvSpPr>
          <p:cNvPr id="31" name="Shape 26"/>
          <p:cNvSpPr/>
          <p:nvPr/>
        </p:nvSpPr>
        <p:spPr>
          <a:xfrm>
            <a:off x="8462391" y="2057400"/>
            <a:ext cx="2134600" cy="381000"/>
          </a:xfrm>
          <a:prstGeom prst="roundRect">
            <a:avLst>
              <a:gd name="adj" fmla="val 7120950"/>
            </a:avLst>
          </a:prstGeom>
          <a:solidFill>
            <a:srgbClr val="6366F1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8614410" y="2133600"/>
            <a:ext cx="18305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Pragmatic Scoping</a:t>
            </a:r>
            <a:endParaRPr lang="en-US" sz="1496" dirty="0"/>
          </a:p>
        </p:txBody>
      </p:sp>
      <p:sp>
        <p:nvSpPr>
          <p:cNvPr id="33" name="Shape 28"/>
          <p:cNvSpPr/>
          <p:nvPr/>
        </p:nvSpPr>
        <p:spPr>
          <a:xfrm>
            <a:off x="6207443" y="2540000"/>
            <a:ext cx="2799683" cy="381000"/>
          </a:xfrm>
          <a:prstGeom prst="roundRect">
            <a:avLst>
              <a:gd name="adj" fmla="val 5429321"/>
            </a:avLst>
          </a:prstGeom>
          <a:solidFill>
            <a:srgbClr val="22D3EE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6359462" y="2616200"/>
            <a:ext cx="24956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Technical Communication</a:t>
            </a:r>
            <a:endParaRPr lang="en-US" sz="1496" dirty="0"/>
          </a:p>
        </p:txBody>
      </p:sp>
      <p:sp>
        <p:nvSpPr>
          <p:cNvPr id="35" name="Text 30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36" name="Text 31"/>
          <p:cNvSpPr txBox="1"/>
          <p:nvPr/>
        </p:nvSpPr>
        <p:spPr>
          <a:xfrm>
            <a:off x="8551069" y="6426200"/>
            <a:ext cx="32050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1: Decoration Preview Service</a:t>
            </a:r>
            <a:endParaRPr lang="en-US" sz="1496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3553444" cy="279400"/>
          </a:xfrm>
          <a:prstGeom prst="roundRect">
            <a:avLst>
              <a:gd name="adj" fmla="val 5833155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3300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 · Tool Consolidation Strategy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4060174" y="203200"/>
            <a:ext cx="49279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Fragmented Landscape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405384" y="685800"/>
            <a:ext cx="94397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Current State</a:t>
            </a:r>
            <a:endParaRPr lang="en-US" sz="1795" dirty="0"/>
          </a:p>
        </p:txBody>
      </p:sp>
      <p:sp>
        <p:nvSpPr>
          <p:cNvPr id="6" name="Shape 4"/>
          <p:cNvSpPr/>
          <p:nvPr/>
        </p:nvSpPr>
        <p:spPr>
          <a:xfrm>
            <a:off x="405384" y="1041400"/>
            <a:ext cx="1912906" cy="660400"/>
          </a:xfrm>
          <a:prstGeom prst="roundRect">
            <a:avLst>
              <a:gd name="adj" fmla="val 5502"/>
            </a:avLst>
          </a:prstGeom>
          <a:solidFill>
            <a:srgbClr val="33415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6730" y="1270000"/>
            <a:ext cx="202692" cy="203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85432" y="1143000"/>
            <a:ext cx="1431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Desktop App A</a:t>
            </a:r>
            <a:endParaRPr lang="en-US" sz="1496" dirty="0"/>
          </a:p>
        </p:txBody>
      </p:sp>
      <p:sp>
        <p:nvSpPr>
          <p:cNvPr id="9" name="Text 6"/>
          <p:cNvSpPr txBox="1"/>
          <p:nvPr/>
        </p:nvSpPr>
        <p:spPr>
          <a:xfrm>
            <a:off x="785432" y="1371600"/>
            <a:ext cx="1431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 Stack X</a:t>
            </a:r>
            <a:endParaRPr lang="en-US" sz="1496" dirty="0"/>
          </a:p>
        </p:txBody>
      </p:sp>
      <p:sp>
        <p:nvSpPr>
          <p:cNvPr id="10" name="Shape 7"/>
          <p:cNvSpPr/>
          <p:nvPr/>
        </p:nvSpPr>
        <p:spPr>
          <a:xfrm>
            <a:off x="2419636" y="1041400"/>
            <a:ext cx="1919240" cy="660400"/>
          </a:xfrm>
          <a:prstGeom prst="roundRect">
            <a:avLst>
              <a:gd name="adj" fmla="val 5484"/>
            </a:avLst>
          </a:prstGeom>
          <a:solidFill>
            <a:srgbClr val="33415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20982" y="1270000"/>
            <a:ext cx="202692" cy="203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99683" y="1143000"/>
            <a:ext cx="14378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Desktop App B</a:t>
            </a:r>
            <a:endParaRPr lang="en-US" sz="1496" dirty="0"/>
          </a:p>
        </p:txBody>
      </p:sp>
      <p:sp>
        <p:nvSpPr>
          <p:cNvPr id="13" name="Text 9"/>
          <p:cNvSpPr txBox="1"/>
          <p:nvPr/>
        </p:nvSpPr>
        <p:spPr>
          <a:xfrm>
            <a:off x="2799683" y="1371600"/>
            <a:ext cx="14378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 Stack Y</a:t>
            </a:r>
            <a:endParaRPr lang="en-US" sz="1496" dirty="0"/>
          </a:p>
        </p:txBody>
      </p:sp>
      <p:sp>
        <p:nvSpPr>
          <p:cNvPr id="14" name="Shape 10"/>
          <p:cNvSpPr/>
          <p:nvPr/>
        </p:nvSpPr>
        <p:spPr>
          <a:xfrm>
            <a:off x="4440222" y="1041400"/>
            <a:ext cx="1672209" cy="660400"/>
          </a:xfrm>
          <a:prstGeom prst="roundRect">
            <a:avLst>
              <a:gd name="adj" fmla="val 5244231"/>
            </a:avLst>
          </a:prstGeom>
          <a:solidFill>
            <a:srgbClr val="FBBF24">
              <a:alpha val="20000"/>
            </a:srgbClr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541568" y="1092200"/>
            <a:ext cx="14695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BBF2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shared auth</a:t>
            </a:r>
            <a:endParaRPr lang="en-US" sz="1496" dirty="0"/>
          </a:p>
        </p:txBody>
      </p:sp>
      <p:sp>
        <p:nvSpPr>
          <p:cNvPr id="16" name="Shape 12"/>
          <p:cNvSpPr/>
          <p:nvPr/>
        </p:nvSpPr>
        <p:spPr>
          <a:xfrm>
            <a:off x="6213777" y="1041400"/>
            <a:ext cx="1893903" cy="660400"/>
          </a:xfrm>
          <a:prstGeom prst="roundRect">
            <a:avLst>
              <a:gd name="adj" fmla="val 5557"/>
            </a:avLst>
          </a:prstGeom>
          <a:solidFill>
            <a:srgbClr val="33415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15123" y="1270000"/>
            <a:ext cx="202692" cy="203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93824" y="1143000"/>
            <a:ext cx="1412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Ad-hoc Script 1</a:t>
            </a:r>
            <a:endParaRPr lang="en-US" sz="1496" dirty="0"/>
          </a:p>
        </p:txBody>
      </p:sp>
      <p:sp>
        <p:nvSpPr>
          <p:cNvPr id="19" name="Text 14"/>
          <p:cNvSpPr txBox="1"/>
          <p:nvPr/>
        </p:nvSpPr>
        <p:spPr>
          <a:xfrm>
            <a:off x="6593824" y="1371600"/>
            <a:ext cx="1412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Python</a:t>
            </a:r>
            <a:endParaRPr lang="en-US" sz="1496" dirty="0"/>
          </a:p>
        </p:txBody>
      </p:sp>
      <p:sp>
        <p:nvSpPr>
          <p:cNvPr id="20" name="Shape 15"/>
          <p:cNvSpPr/>
          <p:nvPr/>
        </p:nvSpPr>
        <p:spPr>
          <a:xfrm>
            <a:off x="405384" y="1803400"/>
            <a:ext cx="1931908" cy="660400"/>
          </a:xfrm>
          <a:prstGeom prst="roundRect">
            <a:avLst>
              <a:gd name="adj" fmla="val 5448"/>
            </a:avLst>
          </a:prstGeom>
          <a:solidFill>
            <a:srgbClr val="33415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6730" y="2032000"/>
            <a:ext cx="202692" cy="203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85432" y="1905000"/>
            <a:ext cx="14505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Ad-hoc Script 2</a:t>
            </a:r>
            <a:endParaRPr lang="en-US" sz="1496" dirty="0"/>
          </a:p>
        </p:txBody>
      </p:sp>
      <p:sp>
        <p:nvSpPr>
          <p:cNvPr id="23" name="Text 17"/>
          <p:cNvSpPr txBox="1"/>
          <p:nvPr/>
        </p:nvSpPr>
        <p:spPr>
          <a:xfrm>
            <a:off x="785432" y="2133600"/>
            <a:ext cx="14505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Bash</a:t>
            </a:r>
            <a:endParaRPr lang="en-US" sz="1496" dirty="0"/>
          </a:p>
        </p:txBody>
      </p:sp>
      <p:sp>
        <p:nvSpPr>
          <p:cNvPr id="24" name="Shape 18"/>
          <p:cNvSpPr/>
          <p:nvPr/>
        </p:nvSpPr>
        <p:spPr>
          <a:xfrm>
            <a:off x="2438638" y="1803400"/>
            <a:ext cx="1748219" cy="660400"/>
          </a:xfrm>
          <a:prstGeom prst="roundRect">
            <a:avLst>
              <a:gd name="adj" fmla="val 5016221"/>
            </a:avLst>
          </a:prstGeom>
          <a:solidFill>
            <a:srgbClr val="FBBF24">
              <a:alpha val="20000"/>
            </a:srgbClr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2539984" y="1854200"/>
            <a:ext cx="15455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BBF2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Knowledge silos</a:t>
            </a:r>
            <a:endParaRPr lang="en-US" sz="1496" dirty="0"/>
          </a:p>
        </p:txBody>
      </p:sp>
      <p:sp>
        <p:nvSpPr>
          <p:cNvPr id="26" name="Shape 20"/>
          <p:cNvSpPr/>
          <p:nvPr/>
        </p:nvSpPr>
        <p:spPr>
          <a:xfrm>
            <a:off x="4288203" y="1803400"/>
            <a:ext cx="1957245" cy="660400"/>
          </a:xfrm>
          <a:prstGeom prst="roundRect">
            <a:avLst>
              <a:gd name="adj" fmla="val 5377"/>
            </a:avLst>
          </a:prstGeom>
          <a:solidFill>
            <a:srgbClr val="33415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549" y="2032000"/>
            <a:ext cx="202692" cy="2032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668250" y="1905000"/>
            <a:ext cx="1475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Cloud Service A</a:t>
            </a:r>
            <a:endParaRPr lang="en-US" sz="1496" dirty="0"/>
          </a:p>
        </p:txBody>
      </p:sp>
      <p:sp>
        <p:nvSpPr>
          <p:cNvPr id="29" name="Text 22"/>
          <p:cNvSpPr txBox="1"/>
          <p:nvPr/>
        </p:nvSpPr>
        <p:spPr>
          <a:xfrm>
            <a:off x="4668250" y="2133600"/>
            <a:ext cx="1475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Mature</a:t>
            </a:r>
            <a:endParaRPr lang="en-US" sz="1496" dirty="0"/>
          </a:p>
        </p:txBody>
      </p:sp>
      <p:sp>
        <p:nvSpPr>
          <p:cNvPr id="30" name="Shape 23"/>
          <p:cNvSpPr/>
          <p:nvPr/>
        </p:nvSpPr>
        <p:spPr>
          <a:xfrm>
            <a:off x="6346793" y="1803400"/>
            <a:ext cx="1963579" cy="660400"/>
          </a:xfrm>
          <a:prstGeom prst="roundRect">
            <a:avLst>
              <a:gd name="adj" fmla="val 5360"/>
            </a:avLst>
          </a:prstGeom>
          <a:solidFill>
            <a:srgbClr val="33415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48139" y="2032000"/>
            <a:ext cx="202692" cy="2032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726841" y="1905000"/>
            <a:ext cx="1482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Cloud Service B</a:t>
            </a:r>
            <a:endParaRPr lang="en-US" sz="1496" dirty="0"/>
          </a:p>
        </p:txBody>
      </p:sp>
      <p:sp>
        <p:nvSpPr>
          <p:cNvPr id="33" name="Text 25"/>
          <p:cNvSpPr txBox="1"/>
          <p:nvPr/>
        </p:nvSpPr>
        <p:spPr>
          <a:xfrm>
            <a:off x="6726841" y="2133600"/>
            <a:ext cx="1482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Early Stage</a:t>
            </a:r>
            <a:endParaRPr lang="en-US" sz="1496" dirty="0"/>
          </a:p>
        </p:txBody>
      </p:sp>
      <p:sp>
        <p:nvSpPr>
          <p:cNvPr id="34" name="Shape 26"/>
          <p:cNvSpPr/>
          <p:nvPr/>
        </p:nvSpPr>
        <p:spPr>
          <a:xfrm>
            <a:off x="405384" y="2565400"/>
            <a:ext cx="1444181" cy="685800"/>
          </a:xfrm>
          <a:prstGeom prst="roundRect">
            <a:avLst>
              <a:gd name="adj" fmla="val 5847368"/>
            </a:avLst>
          </a:prstGeom>
          <a:solidFill>
            <a:srgbClr val="FBBF24">
              <a:alpha val="20000"/>
            </a:srgbClr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506730" y="2616200"/>
            <a:ext cx="12414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BBF2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unified UI</a:t>
            </a:r>
            <a:endParaRPr lang="en-US" sz="1496" dirty="0"/>
          </a:p>
        </p:txBody>
      </p:sp>
      <p:sp>
        <p:nvSpPr>
          <p:cNvPr id="36" name="Shape 28"/>
          <p:cNvSpPr/>
          <p:nvPr/>
        </p:nvSpPr>
        <p:spPr>
          <a:xfrm>
            <a:off x="1950911" y="2565400"/>
            <a:ext cx="2020586" cy="685800"/>
          </a:xfrm>
          <a:prstGeom prst="roundRect">
            <a:avLst>
              <a:gd name="adj" fmla="val 5016"/>
            </a:avLst>
          </a:prstGeom>
          <a:solidFill>
            <a:srgbClr val="334155"/>
          </a:solidFill>
          <a:ln w="12668">
            <a:solidFill>
              <a:srgbClr val="FBBF24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064925" y="2806700"/>
            <a:ext cx="202692" cy="2032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2343626" y="2679700"/>
            <a:ext cx="151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Legacy Tool</a:t>
            </a:r>
            <a:endParaRPr lang="en-US" sz="1496" dirty="0"/>
          </a:p>
        </p:txBody>
      </p:sp>
      <p:sp>
        <p:nvSpPr>
          <p:cNvPr id="39" name="Text 30"/>
          <p:cNvSpPr txBox="1"/>
          <p:nvPr/>
        </p:nvSpPr>
        <p:spPr>
          <a:xfrm>
            <a:off x="2343626" y="2908300"/>
            <a:ext cx="151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BBF2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Undocumented</a:t>
            </a:r>
            <a:endParaRPr lang="en-US" sz="1496" dirty="0"/>
          </a:p>
        </p:txBody>
      </p:sp>
      <p:sp>
        <p:nvSpPr>
          <p:cNvPr id="40" name="Shape 31"/>
          <p:cNvSpPr/>
          <p:nvPr/>
        </p:nvSpPr>
        <p:spPr>
          <a:xfrm>
            <a:off x="4072842" y="2565400"/>
            <a:ext cx="1558195" cy="685800"/>
          </a:xfrm>
          <a:prstGeom prst="roundRect">
            <a:avLst>
              <a:gd name="adj" fmla="val 5419512"/>
            </a:avLst>
          </a:prstGeom>
          <a:solidFill>
            <a:srgbClr val="FBBF24">
              <a:alpha val="20000"/>
            </a:srgbClr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4174188" y="2616200"/>
            <a:ext cx="1355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BBF2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Bus factor risk</a:t>
            </a:r>
            <a:endParaRPr lang="en-US" sz="1496" dirty="0"/>
          </a:p>
        </p:txBody>
      </p:sp>
      <p:sp>
        <p:nvSpPr>
          <p:cNvPr id="42" name="Shape 33"/>
          <p:cNvSpPr/>
          <p:nvPr/>
        </p:nvSpPr>
        <p:spPr>
          <a:xfrm>
            <a:off x="10047803" y="977900"/>
            <a:ext cx="1708333" cy="1447800"/>
          </a:xfrm>
          <a:prstGeom prst="roundRect">
            <a:avLst>
              <a:gd name="adj" fmla="val 2810"/>
            </a:avLst>
          </a:prstGeom>
          <a:solidFill>
            <a:srgbClr val="1E293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225158" y="1574800"/>
            <a:ext cx="253365" cy="2540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579869" y="1130300"/>
            <a:ext cx="1083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Knowledge Silos</a:t>
            </a:r>
            <a:endParaRPr lang="en-US" sz="1496" dirty="0"/>
          </a:p>
        </p:txBody>
      </p:sp>
      <p:sp>
        <p:nvSpPr>
          <p:cNvPr id="45" name="Text 35"/>
          <p:cNvSpPr txBox="1"/>
          <p:nvPr/>
        </p:nvSpPr>
        <p:spPr>
          <a:xfrm>
            <a:off x="10579869" y="1587500"/>
            <a:ext cx="1083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Expertise locked in individuals</a:t>
            </a:r>
            <a:endParaRPr lang="en-US" sz="1496" dirty="0"/>
          </a:p>
        </p:txBody>
      </p:sp>
      <p:sp>
        <p:nvSpPr>
          <p:cNvPr id="46" name="Shape 36"/>
          <p:cNvSpPr/>
          <p:nvPr/>
        </p:nvSpPr>
        <p:spPr>
          <a:xfrm>
            <a:off x="10047803" y="2552700"/>
            <a:ext cx="1708333" cy="1676400"/>
          </a:xfrm>
          <a:prstGeom prst="roundRect">
            <a:avLst>
              <a:gd name="adj" fmla="val 2427"/>
            </a:avLst>
          </a:prstGeom>
          <a:solidFill>
            <a:srgbClr val="1E293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225158" y="3263900"/>
            <a:ext cx="253365" cy="25400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10579869" y="2705100"/>
            <a:ext cx="10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Shared Services</a:t>
            </a:r>
            <a:endParaRPr lang="en-US" sz="1496" dirty="0"/>
          </a:p>
        </p:txBody>
      </p:sp>
      <p:sp>
        <p:nvSpPr>
          <p:cNvPr id="49" name="Text 38"/>
          <p:cNvSpPr txBox="1"/>
          <p:nvPr/>
        </p:nvSpPr>
        <p:spPr>
          <a:xfrm>
            <a:off x="10579869" y="3162300"/>
            <a:ext cx="1024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Auth, data, UI duplicated per tool</a:t>
            </a:r>
            <a:endParaRPr lang="en-US" sz="1496" dirty="0"/>
          </a:p>
        </p:txBody>
      </p:sp>
      <p:sp>
        <p:nvSpPr>
          <p:cNvPr id="50" name="Shape 39"/>
          <p:cNvSpPr/>
          <p:nvPr/>
        </p:nvSpPr>
        <p:spPr>
          <a:xfrm>
            <a:off x="10047803" y="4356100"/>
            <a:ext cx="1708333" cy="1676400"/>
          </a:xfrm>
          <a:prstGeom prst="roundRect">
            <a:avLst>
              <a:gd name="adj" fmla="val 2427"/>
            </a:avLst>
          </a:prstGeom>
          <a:solidFill>
            <a:srgbClr val="1E293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0225158" y="5067300"/>
            <a:ext cx="253365" cy="254000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10579869" y="4508500"/>
            <a:ext cx="107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Bus Factor Risk</a:t>
            </a:r>
            <a:endParaRPr lang="en-US" sz="1496" dirty="0"/>
          </a:p>
        </p:txBody>
      </p:sp>
      <p:sp>
        <p:nvSpPr>
          <p:cNvPr id="53" name="Text 41"/>
          <p:cNvSpPr txBox="1"/>
          <p:nvPr/>
        </p:nvSpPr>
        <p:spPr>
          <a:xfrm>
            <a:off x="10579869" y="4965700"/>
            <a:ext cx="10768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departure = lost capabilities</a:t>
            </a:r>
            <a:endParaRPr lang="en-US" sz="1496" dirty="0"/>
          </a:p>
        </p:txBody>
      </p:sp>
      <p:sp>
        <p:nvSpPr>
          <p:cNvPr id="54" name="Text 42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55" name="Text 43"/>
          <p:cNvSpPr txBox="1"/>
          <p:nvPr/>
        </p:nvSpPr>
        <p:spPr>
          <a:xfrm>
            <a:off x="8519398" y="6426200"/>
            <a:ext cx="3236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2: Tool Consolidation Strategy</a:t>
            </a:r>
            <a:endParaRPr lang="en-US" sz="1496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1539192" cy="279400"/>
          </a:xfrm>
          <a:prstGeom prst="roundRect">
            <a:avLst>
              <a:gd name="adj" fmla="val 13466667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12858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 · Vision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045922" y="203200"/>
            <a:ext cx="55740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Unified Platform-as-a-Service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405384" y="685800"/>
            <a:ext cx="113507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94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platform. Shared infrastructure, auth, data, and UI patterns.</a:t>
            </a:r>
            <a:endParaRPr lang="en-US" sz="2394" dirty="0"/>
          </a:p>
        </p:txBody>
      </p:sp>
      <p:sp>
        <p:nvSpPr>
          <p:cNvPr id="6" name="Shape 4"/>
          <p:cNvSpPr/>
          <p:nvPr/>
        </p:nvSpPr>
        <p:spPr>
          <a:xfrm>
            <a:off x="5130641" y="1066800"/>
            <a:ext cx="1900238" cy="1905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405384" y="1238250"/>
            <a:ext cx="5295329" cy="4146550"/>
          </a:xfrm>
          <a:prstGeom prst="roundRect">
            <a:avLst>
              <a:gd name="adj" fmla="val 317"/>
            </a:avLst>
          </a:prstGeom>
          <a:solidFill>
            <a:srgbClr val="1E293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3413" y="1441450"/>
            <a:ext cx="48646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BBF2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Before</a:t>
            </a:r>
            <a:endParaRPr lang="en-US" sz="1795" dirty="0"/>
          </a:p>
        </p:txBody>
      </p:sp>
      <p:sp>
        <p:nvSpPr>
          <p:cNvPr id="9" name="Text 7"/>
          <p:cNvSpPr txBox="1"/>
          <p:nvPr/>
        </p:nvSpPr>
        <p:spPr>
          <a:xfrm>
            <a:off x="633413" y="1797050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Fragmented tools</a:t>
            </a:r>
            <a:endParaRPr lang="en-US" sz="1496" dirty="0"/>
          </a:p>
        </p:txBody>
      </p:sp>
      <p:sp>
        <p:nvSpPr>
          <p:cNvPr id="10" name="Text 8"/>
          <p:cNvSpPr txBox="1"/>
          <p:nvPr/>
        </p:nvSpPr>
        <p:spPr>
          <a:xfrm>
            <a:off x="633413" y="2101850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Duplicate infrastructure</a:t>
            </a:r>
            <a:endParaRPr lang="en-US" sz="1496" dirty="0"/>
          </a:p>
        </p:txBody>
      </p:sp>
      <p:sp>
        <p:nvSpPr>
          <p:cNvPr id="11" name="Text 9"/>
          <p:cNvSpPr txBox="1"/>
          <p:nvPr/>
        </p:nvSpPr>
        <p:spPr>
          <a:xfrm>
            <a:off x="633413" y="2406650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Knowledge silos</a:t>
            </a:r>
            <a:endParaRPr lang="en-US" sz="1496" dirty="0"/>
          </a:p>
        </p:txBody>
      </p:sp>
      <p:sp>
        <p:nvSpPr>
          <p:cNvPr id="12" name="Text 10"/>
          <p:cNvSpPr txBox="1"/>
          <p:nvPr/>
        </p:nvSpPr>
        <p:spPr>
          <a:xfrm>
            <a:off x="633413" y="2711450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No shared auth</a:t>
            </a:r>
            <a:endParaRPr lang="en-US" sz="1496" dirty="0"/>
          </a:p>
        </p:txBody>
      </p:sp>
      <p:sp>
        <p:nvSpPr>
          <p:cNvPr id="13" name="Text 11"/>
          <p:cNvSpPr txBox="1"/>
          <p:nvPr/>
        </p:nvSpPr>
        <p:spPr>
          <a:xfrm>
            <a:off x="5852732" y="3082925"/>
            <a:ext cx="4560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91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</a:t>
            </a:r>
            <a:endParaRPr lang="en-US" sz="3591" dirty="0"/>
          </a:p>
        </p:txBody>
      </p:sp>
      <p:sp>
        <p:nvSpPr>
          <p:cNvPr id="14" name="Shape 12"/>
          <p:cNvSpPr/>
          <p:nvPr/>
        </p:nvSpPr>
        <p:spPr>
          <a:xfrm>
            <a:off x="6460808" y="1238250"/>
            <a:ext cx="5295329" cy="4146550"/>
          </a:xfrm>
          <a:prstGeom prst="roundRect">
            <a:avLst>
              <a:gd name="adj" fmla="val 317"/>
            </a:avLst>
          </a:prstGeom>
          <a:solidFill>
            <a:srgbClr val="1E293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88836" y="1441450"/>
            <a:ext cx="48646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34D3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After</a:t>
            </a:r>
            <a:endParaRPr lang="en-US" sz="1795" dirty="0"/>
          </a:p>
        </p:txBody>
      </p:sp>
      <p:sp>
        <p:nvSpPr>
          <p:cNvPr id="16" name="Text 14"/>
          <p:cNvSpPr txBox="1"/>
          <p:nvPr/>
        </p:nvSpPr>
        <p:spPr>
          <a:xfrm>
            <a:off x="6688836" y="1797050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Modular platform</a:t>
            </a:r>
            <a:endParaRPr lang="en-US" sz="1496" dirty="0"/>
          </a:p>
        </p:txBody>
      </p:sp>
      <p:sp>
        <p:nvSpPr>
          <p:cNvPr id="17" name="Text 15"/>
          <p:cNvSpPr txBox="1"/>
          <p:nvPr/>
        </p:nvSpPr>
        <p:spPr>
          <a:xfrm>
            <a:off x="6688836" y="2101850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Shared services layer</a:t>
            </a:r>
            <a:endParaRPr lang="en-US" sz="1496" dirty="0"/>
          </a:p>
        </p:txBody>
      </p:sp>
      <p:sp>
        <p:nvSpPr>
          <p:cNvPr id="18" name="Text 16"/>
          <p:cNvSpPr txBox="1"/>
          <p:nvPr/>
        </p:nvSpPr>
        <p:spPr>
          <a:xfrm>
            <a:off x="6688836" y="2406650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Collective ownership</a:t>
            </a:r>
            <a:endParaRPr lang="en-US" sz="1496" dirty="0"/>
          </a:p>
        </p:txBody>
      </p:sp>
      <p:sp>
        <p:nvSpPr>
          <p:cNvPr id="19" name="Text 17"/>
          <p:cNvSpPr txBox="1"/>
          <p:nvPr/>
        </p:nvSpPr>
        <p:spPr>
          <a:xfrm>
            <a:off x="6688836" y="2711450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 Unified authentication</a:t>
            </a:r>
            <a:endParaRPr lang="en-US" sz="1496" dirty="0"/>
          </a:p>
        </p:txBody>
      </p:sp>
      <p:sp>
        <p:nvSpPr>
          <p:cNvPr id="20" name="Shape 18"/>
          <p:cNvSpPr/>
          <p:nvPr/>
        </p:nvSpPr>
        <p:spPr>
          <a:xfrm>
            <a:off x="405384" y="5537200"/>
            <a:ext cx="2742676" cy="787400"/>
          </a:xfrm>
          <a:prstGeom prst="roundRect">
            <a:avLst>
              <a:gd name="adj" fmla="val 3218"/>
            </a:avLst>
          </a:prstGeom>
          <a:solidFill>
            <a:srgbClr val="334155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50040" y="5664200"/>
            <a:ext cx="253365" cy="2540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029295" y="5969000"/>
            <a:ext cx="149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Shared Services</a:t>
            </a:r>
            <a:endParaRPr lang="en-US" sz="1496" dirty="0"/>
          </a:p>
        </p:txBody>
      </p:sp>
      <p:sp>
        <p:nvSpPr>
          <p:cNvPr id="23" name="Shape 20"/>
          <p:cNvSpPr/>
          <p:nvPr/>
        </p:nvSpPr>
        <p:spPr>
          <a:xfrm>
            <a:off x="3274743" y="5537200"/>
            <a:ext cx="2742676" cy="787400"/>
          </a:xfrm>
          <a:prstGeom prst="roundRect">
            <a:avLst>
              <a:gd name="adj" fmla="val 3218"/>
            </a:avLst>
          </a:prstGeom>
          <a:solidFill>
            <a:srgbClr val="334155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19398" y="5664200"/>
            <a:ext cx="253365" cy="2540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936659" y="5969000"/>
            <a:ext cx="14188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Common Auth</a:t>
            </a:r>
            <a:endParaRPr lang="en-US" sz="1496" dirty="0"/>
          </a:p>
        </p:txBody>
      </p:sp>
      <p:sp>
        <p:nvSpPr>
          <p:cNvPr id="26" name="Shape 22"/>
          <p:cNvSpPr/>
          <p:nvPr/>
        </p:nvSpPr>
        <p:spPr>
          <a:xfrm>
            <a:off x="6144101" y="5537200"/>
            <a:ext cx="2742676" cy="787400"/>
          </a:xfrm>
          <a:prstGeom prst="roundRect">
            <a:avLst>
              <a:gd name="adj" fmla="val 3218"/>
            </a:avLst>
          </a:prstGeom>
          <a:solidFill>
            <a:srgbClr val="334155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88757" y="5664200"/>
            <a:ext cx="253365" cy="2540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885194" y="5969000"/>
            <a:ext cx="1260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Consistent UI</a:t>
            </a:r>
            <a:endParaRPr lang="en-US" sz="1496" dirty="0"/>
          </a:p>
        </p:txBody>
      </p:sp>
      <p:sp>
        <p:nvSpPr>
          <p:cNvPr id="29" name="Shape 24"/>
          <p:cNvSpPr/>
          <p:nvPr/>
        </p:nvSpPr>
        <p:spPr>
          <a:xfrm>
            <a:off x="9013460" y="5537200"/>
            <a:ext cx="2742676" cy="787400"/>
          </a:xfrm>
          <a:prstGeom prst="roundRect">
            <a:avLst>
              <a:gd name="adj" fmla="val 3218"/>
            </a:avLst>
          </a:prstGeom>
          <a:solidFill>
            <a:srgbClr val="334155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58115" y="5664200"/>
            <a:ext cx="253365" cy="2540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555028" y="5969000"/>
            <a:ext cx="16595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Team Knowledge</a:t>
            </a:r>
            <a:endParaRPr lang="en-US" sz="1496" dirty="0"/>
          </a:p>
        </p:txBody>
      </p:sp>
      <p:sp>
        <p:nvSpPr>
          <p:cNvPr id="32" name="Text 26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33" name="Text 27"/>
          <p:cNvSpPr txBox="1"/>
          <p:nvPr/>
        </p:nvSpPr>
        <p:spPr>
          <a:xfrm>
            <a:off x="8519398" y="6426200"/>
            <a:ext cx="3236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2: Tool Consolidation Strategy</a:t>
            </a:r>
            <a:endParaRPr lang="en-US" sz="1496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2153603" cy="279400"/>
          </a:xfrm>
          <a:prstGeom prst="roundRect">
            <a:avLst>
              <a:gd name="adj" fmla="val 9624706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1900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 · Architecture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660333" y="203200"/>
            <a:ext cx="54346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 Platform Architecture</a:t>
            </a:r>
            <a:endParaRPr lang="en-US" sz="2993" dirty="0"/>
          </a:p>
        </p:txBody>
      </p:sp>
      <p:sp>
        <p:nvSpPr>
          <p:cNvPr id="5" name="Shape 3"/>
          <p:cNvSpPr/>
          <p:nvPr/>
        </p:nvSpPr>
        <p:spPr>
          <a:xfrm>
            <a:off x="405384" y="889000"/>
            <a:ext cx="7044141" cy="1473200"/>
          </a:xfrm>
          <a:prstGeom prst="roundRect">
            <a:avLst>
              <a:gd name="adj" fmla="val 670"/>
            </a:avLst>
          </a:prstGeom>
          <a:solidFill>
            <a:srgbClr val="6366F1">
              <a:alpha val="1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2067" y="1016000"/>
            <a:ext cx="6790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Tools Layer</a:t>
            </a:r>
            <a:endParaRPr lang="en-US" sz="1496" dirty="0"/>
          </a:p>
        </p:txBody>
      </p:sp>
      <p:sp>
        <p:nvSpPr>
          <p:cNvPr id="7" name="Shape 5"/>
          <p:cNvSpPr/>
          <p:nvPr/>
        </p:nvSpPr>
        <p:spPr>
          <a:xfrm>
            <a:off x="532067" y="1320800"/>
            <a:ext cx="1621635" cy="91440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41489" y="1422400"/>
            <a:ext cx="202692" cy="203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33413" y="1676400"/>
            <a:ext cx="14189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Preview Service</a:t>
            </a:r>
            <a:endParaRPr lang="en-US" sz="1496" dirty="0"/>
          </a:p>
        </p:txBody>
      </p:sp>
      <p:sp>
        <p:nvSpPr>
          <p:cNvPr id="10" name="Shape 7"/>
          <p:cNvSpPr/>
          <p:nvPr/>
        </p:nvSpPr>
        <p:spPr>
          <a:xfrm>
            <a:off x="2255047" y="1320800"/>
            <a:ext cx="1621734" cy="91440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64568" y="1422400"/>
            <a:ext cx="202692" cy="203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445170" y="1676400"/>
            <a:ext cx="12414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Desktop App</a:t>
            </a:r>
            <a:endParaRPr lang="en-US" sz="1496" dirty="0"/>
          </a:p>
        </p:txBody>
      </p:sp>
      <p:sp>
        <p:nvSpPr>
          <p:cNvPr id="13" name="Shape 9"/>
          <p:cNvSpPr/>
          <p:nvPr/>
        </p:nvSpPr>
        <p:spPr>
          <a:xfrm>
            <a:off x="3978127" y="1320800"/>
            <a:ext cx="1621635" cy="91440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87549" y="1422400"/>
            <a:ext cx="202692" cy="203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130146" y="1676400"/>
            <a:ext cx="1317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Script Utilities</a:t>
            </a:r>
            <a:endParaRPr lang="en-US" sz="1496" dirty="0"/>
          </a:p>
        </p:txBody>
      </p:sp>
      <p:sp>
        <p:nvSpPr>
          <p:cNvPr id="16" name="Shape 11"/>
          <p:cNvSpPr/>
          <p:nvPr/>
        </p:nvSpPr>
        <p:spPr>
          <a:xfrm>
            <a:off x="5701108" y="1320800"/>
            <a:ext cx="1621734" cy="91440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10629" y="1422400"/>
            <a:ext cx="202692" cy="203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973575" y="1676400"/>
            <a:ext cx="107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 Features</a:t>
            </a:r>
            <a:endParaRPr lang="en-US" sz="1496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826108" y="2463800"/>
            <a:ext cx="202692" cy="2032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05384" y="2768600"/>
            <a:ext cx="7044141" cy="1473200"/>
          </a:xfrm>
          <a:prstGeom prst="roundRect">
            <a:avLst>
              <a:gd name="adj" fmla="val 670"/>
            </a:avLst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532067" y="2895600"/>
            <a:ext cx="6790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Shared Services Layer</a:t>
            </a:r>
            <a:endParaRPr lang="en-US" sz="1496" dirty="0"/>
          </a:p>
        </p:txBody>
      </p:sp>
      <p:sp>
        <p:nvSpPr>
          <p:cNvPr id="22" name="Shape 15"/>
          <p:cNvSpPr/>
          <p:nvPr/>
        </p:nvSpPr>
        <p:spPr>
          <a:xfrm>
            <a:off x="532067" y="3200400"/>
            <a:ext cx="1621635" cy="91440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241489" y="3302000"/>
            <a:ext cx="202692" cy="2032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27177" y="3556000"/>
            <a:ext cx="1431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Authentication</a:t>
            </a:r>
            <a:endParaRPr lang="en-US" sz="1496" dirty="0"/>
          </a:p>
        </p:txBody>
      </p:sp>
      <p:sp>
        <p:nvSpPr>
          <p:cNvPr id="25" name="Shape 17"/>
          <p:cNvSpPr/>
          <p:nvPr/>
        </p:nvSpPr>
        <p:spPr>
          <a:xfrm>
            <a:off x="2255047" y="3200400"/>
            <a:ext cx="1621734" cy="91440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964568" y="3302000"/>
            <a:ext cx="202692" cy="2032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356393" y="3556000"/>
            <a:ext cx="1419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Asset Mgmt API</a:t>
            </a:r>
            <a:endParaRPr lang="en-US" sz="1496" dirty="0"/>
          </a:p>
        </p:txBody>
      </p:sp>
      <p:sp>
        <p:nvSpPr>
          <p:cNvPr id="28" name="Shape 19"/>
          <p:cNvSpPr/>
          <p:nvPr/>
        </p:nvSpPr>
        <p:spPr>
          <a:xfrm>
            <a:off x="3978127" y="3200400"/>
            <a:ext cx="1621635" cy="91440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687549" y="3302000"/>
            <a:ext cx="202692" cy="2032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079473" y="3556000"/>
            <a:ext cx="14189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Common UI Library</a:t>
            </a:r>
            <a:endParaRPr lang="en-US" sz="1496" dirty="0"/>
          </a:p>
        </p:txBody>
      </p:sp>
      <p:sp>
        <p:nvSpPr>
          <p:cNvPr id="31" name="Shape 21"/>
          <p:cNvSpPr/>
          <p:nvPr/>
        </p:nvSpPr>
        <p:spPr>
          <a:xfrm>
            <a:off x="5701108" y="3200400"/>
            <a:ext cx="1621734" cy="91440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410629" y="3302000"/>
            <a:ext cx="202692" cy="20320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897565" y="3556000"/>
            <a:ext cx="1228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Observability</a:t>
            </a:r>
            <a:endParaRPr lang="en-US" sz="1496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826108" y="4343400"/>
            <a:ext cx="202692" cy="203200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405384" y="4648200"/>
            <a:ext cx="7044141" cy="1473200"/>
          </a:xfrm>
          <a:prstGeom prst="roundRect">
            <a:avLst>
              <a:gd name="adj" fmla="val 670"/>
            </a:avLst>
          </a:prstGeom>
          <a:solidFill>
            <a:srgbClr val="334155"/>
          </a:solidFill>
          <a:ln/>
        </p:spPr>
      </p:sp>
      <p:sp>
        <p:nvSpPr>
          <p:cNvPr id="36" name="Text 24"/>
          <p:cNvSpPr txBox="1"/>
          <p:nvPr/>
        </p:nvSpPr>
        <p:spPr>
          <a:xfrm>
            <a:off x="532067" y="4775200"/>
            <a:ext cx="6790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Infrastructure Layer</a:t>
            </a:r>
            <a:endParaRPr lang="en-US" sz="1496" dirty="0"/>
          </a:p>
        </p:txBody>
      </p:sp>
      <p:sp>
        <p:nvSpPr>
          <p:cNvPr id="37" name="Shape 25"/>
          <p:cNvSpPr/>
          <p:nvPr/>
        </p:nvSpPr>
        <p:spPr>
          <a:xfrm>
            <a:off x="532067" y="5080000"/>
            <a:ext cx="1621635" cy="91440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241489" y="5181600"/>
            <a:ext cx="202692" cy="203200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902613" y="5435600"/>
            <a:ext cx="8804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AWS ECS</a:t>
            </a:r>
            <a:endParaRPr lang="en-US" sz="1496" dirty="0"/>
          </a:p>
        </p:txBody>
      </p:sp>
      <p:sp>
        <p:nvSpPr>
          <p:cNvPr id="40" name="Shape 27"/>
          <p:cNvSpPr/>
          <p:nvPr/>
        </p:nvSpPr>
        <p:spPr>
          <a:xfrm>
            <a:off x="2255047" y="5080000"/>
            <a:ext cx="1621734" cy="91440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964568" y="5181600"/>
            <a:ext cx="202692" cy="20320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2356393" y="5435600"/>
            <a:ext cx="1419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S3 + CloudFront</a:t>
            </a:r>
            <a:endParaRPr lang="en-US" sz="1496" dirty="0"/>
          </a:p>
        </p:txBody>
      </p:sp>
      <p:sp>
        <p:nvSpPr>
          <p:cNvPr id="43" name="Shape 29"/>
          <p:cNvSpPr/>
          <p:nvPr/>
        </p:nvSpPr>
        <p:spPr>
          <a:xfrm>
            <a:off x="3978127" y="5080000"/>
            <a:ext cx="1621635" cy="91440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687549" y="5181600"/>
            <a:ext cx="202692" cy="203200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4079473" y="5435600"/>
            <a:ext cx="14189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DynamoDB + Redis</a:t>
            </a:r>
            <a:endParaRPr lang="en-US" sz="1496" dirty="0"/>
          </a:p>
        </p:txBody>
      </p:sp>
      <p:sp>
        <p:nvSpPr>
          <p:cNvPr id="46" name="Shape 31"/>
          <p:cNvSpPr/>
          <p:nvPr/>
        </p:nvSpPr>
        <p:spPr>
          <a:xfrm>
            <a:off x="5701108" y="5080000"/>
            <a:ext cx="1621734" cy="91440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/>
        </p:spPr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6410629" y="5181600"/>
            <a:ext cx="202692" cy="203200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5926069" y="5435600"/>
            <a:ext cx="11718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CloudWatch</a:t>
            </a:r>
            <a:endParaRPr lang="en-US" sz="1496" dirty="0"/>
          </a:p>
        </p:txBody>
      </p:sp>
      <p:sp>
        <p:nvSpPr>
          <p:cNvPr id="49" name="Shape 33"/>
          <p:cNvSpPr/>
          <p:nvPr/>
        </p:nvSpPr>
        <p:spPr>
          <a:xfrm>
            <a:off x="7601544" y="2171700"/>
            <a:ext cx="4154592" cy="711200"/>
          </a:xfrm>
          <a:prstGeom prst="roundRect">
            <a:avLst>
              <a:gd name="adj" fmla="val 1568"/>
            </a:avLst>
          </a:prstGeom>
          <a:solidFill>
            <a:srgbClr val="1E293B"/>
          </a:solidFill>
          <a:ln/>
        </p:spPr>
      </p:sp>
      <p:sp>
        <p:nvSpPr>
          <p:cNvPr id="50" name="Shape 34"/>
          <p:cNvSpPr/>
          <p:nvPr/>
        </p:nvSpPr>
        <p:spPr>
          <a:xfrm>
            <a:off x="7702890" y="2349500"/>
            <a:ext cx="76010" cy="76200"/>
          </a:xfrm>
          <a:prstGeom prst="roundRect">
            <a:avLst>
              <a:gd name="adj" fmla="val 1002399421"/>
            </a:avLst>
          </a:prstGeom>
          <a:solidFill>
            <a:srgbClr val="6366F1"/>
          </a:solidFill>
          <a:ln/>
        </p:spPr>
      </p:sp>
      <p:sp>
        <p:nvSpPr>
          <p:cNvPr id="51" name="Text 35"/>
          <p:cNvSpPr txBox="1"/>
          <p:nvPr/>
        </p:nvSpPr>
        <p:spPr>
          <a:xfrm>
            <a:off x="7829572" y="2273300"/>
            <a:ext cx="4813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Tools</a:t>
            </a:r>
            <a:endParaRPr lang="en-US" sz="1496" dirty="0"/>
          </a:p>
        </p:txBody>
      </p:sp>
      <p:sp>
        <p:nvSpPr>
          <p:cNvPr id="52" name="Text 36"/>
          <p:cNvSpPr txBox="1"/>
          <p:nvPr/>
        </p:nvSpPr>
        <p:spPr>
          <a:xfrm>
            <a:off x="7702890" y="2552700"/>
            <a:ext cx="3951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Each tool is a module — plug in or out</a:t>
            </a:r>
            <a:endParaRPr lang="en-US" sz="1496" dirty="0"/>
          </a:p>
        </p:txBody>
      </p:sp>
      <p:sp>
        <p:nvSpPr>
          <p:cNvPr id="53" name="Shape 37"/>
          <p:cNvSpPr/>
          <p:nvPr/>
        </p:nvSpPr>
        <p:spPr>
          <a:xfrm>
            <a:off x="7601544" y="3035300"/>
            <a:ext cx="4154592" cy="711200"/>
          </a:xfrm>
          <a:prstGeom prst="roundRect">
            <a:avLst>
              <a:gd name="adj" fmla="val 1568"/>
            </a:avLst>
          </a:prstGeom>
          <a:solidFill>
            <a:srgbClr val="1E293B"/>
          </a:solidFill>
          <a:ln/>
        </p:spPr>
      </p:sp>
      <p:sp>
        <p:nvSpPr>
          <p:cNvPr id="54" name="Shape 38"/>
          <p:cNvSpPr/>
          <p:nvPr/>
        </p:nvSpPr>
        <p:spPr>
          <a:xfrm>
            <a:off x="7702890" y="3213100"/>
            <a:ext cx="76010" cy="76200"/>
          </a:xfrm>
          <a:prstGeom prst="roundRect">
            <a:avLst>
              <a:gd name="adj" fmla="val 1002399421"/>
            </a:avLst>
          </a:prstGeom>
          <a:solidFill>
            <a:srgbClr val="22D3EE"/>
          </a:solidFill>
          <a:ln/>
        </p:spPr>
      </p:sp>
      <p:sp>
        <p:nvSpPr>
          <p:cNvPr id="55" name="Text 39"/>
          <p:cNvSpPr txBox="1"/>
          <p:nvPr/>
        </p:nvSpPr>
        <p:spPr>
          <a:xfrm>
            <a:off x="7829572" y="3136900"/>
            <a:ext cx="149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Shared Services</a:t>
            </a:r>
            <a:endParaRPr lang="en-US" sz="1496" dirty="0"/>
          </a:p>
        </p:txBody>
      </p:sp>
      <p:sp>
        <p:nvSpPr>
          <p:cNvPr id="56" name="Text 40"/>
          <p:cNvSpPr txBox="1"/>
          <p:nvPr/>
        </p:nvSpPr>
        <p:spPr>
          <a:xfrm>
            <a:off x="7702890" y="3416300"/>
            <a:ext cx="3951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Reused across all tools — no duplication</a:t>
            </a:r>
            <a:endParaRPr lang="en-US" sz="1496" dirty="0"/>
          </a:p>
        </p:txBody>
      </p:sp>
      <p:sp>
        <p:nvSpPr>
          <p:cNvPr id="57" name="Shape 41"/>
          <p:cNvSpPr/>
          <p:nvPr/>
        </p:nvSpPr>
        <p:spPr>
          <a:xfrm>
            <a:off x="7601544" y="3898900"/>
            <a:ext cx="4154592" cy="939800"/>
          </a:xfrm>
          <a:prstGeom prst="roundRect">
            <a:avLst>
              <a:gd name="adj" fmla="val 1187"/>
            </a:avLst>
          </a:prstGeom>
          <a:solidFill>
            <a:srgbClr val="1E293B"/>
          </a:solidFill>
          <a:ln/>
        </p:spPr>
      </p:sp>
      <p:sp>
        <p:nvSpPr>
          <p:cNvPr id="58" name="Shape 42"/>
          <p:cNvSpPr/>
          <p:nvPr/>
        </p:nvSpPr>
        <p:spPr>
          <a:xfrm>
            <a:off x="7702890" y="4076700"/>
            <a:ext cx="76010" cy="76200"/>
          </a:xfrm>
          <a:prstGeom prst="roundRect">
            <a:avLst>
              <a:gd name="adj" fmla="val 1002399421"/>
            </a:avLst>
          </a:prstGeom>
          <a:solidFill>
            <a:srgbClr val="94A3B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7829572" y="4000500"/>
            <a:ext cx="1304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Infrastructure</a:t>
            </a:r>
            <a:endParaRPr lang="en-US" sz="1496" dirty="0"/>
          </a:p>
        </p:txBody>
      </p:sp>
      <p:sp>
        <p:nvSpPr>
          <p:cNvPr id="60" name="Text 44"/>
          <p:cNvSpPr txBox="1"/>
          <p:nvPr/>
        </p:nvSpPr>
        <p:spPr>
          <a:xfrm>
            <a:off x="7702890" y="4279900"/>
            <a:ext cx="395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Managed AWS services — low ops overhead</a:t>
            </a:r>
            <a:endParaRPr lang="en-US" sz="1496" dirty="0"/>
          </a:p>
        </p:txBody>
      </p:sp>
      <p:sp>
        <p:nvSpPr>
          <p:cNvPr id="61" name="Text 45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62" name="Text 46"/>
          <p:cNvSpPr txBox="1"/>
          <p:nvPr/>
        </p:nvSpPr>
        <p:spPr>
          <a:xfrm>
            <a:off x="8519398" y="6426200"/>
            <a:ext cx="3236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2: Tool Consolidation Strategy</a:t>
            </a:r>
            <a:endParaRPr lang="en-US" sz="1496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1760887" cy="279400"/>
          </a:xfrm>
          <a:prstGeom prst="roundRect">
            <a:avLst>
              <a:gd name="adj" fmla="val 11771223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15075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 · Strategy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267617" y="203200"/>
            <a:ext cx="40601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Migration Philosophy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810768" y="736600"/>
            <a:ext cx="105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394" dirty="0"/>
          </a:p>
          <a:p>
            <a:pPr algn="ctr" indent="0" marL="0">
              <a:buNone/>
            </a:pPr>
            <a:r>
              <a:rPr lang="en-US" sz="2394" b="1" i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      </a:t>
            </a:r>
            <a:endParaRPr lang="en-US" sz="2394" dirty="0"/>
          </a:p>
          <a:p>
            <a:pPr algn="ctr" indent="0" marL="0">
              <a:buNone/>
            </a:pPr>
            <a:r>
              <a:rPr lang="en-US" sz="2394" b="1" i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</a:t>
            </a:r>
            <a:pPr algn="ctr" indent="0" marL="0">
              <a:buNone/>
            </a:pPr>
            <a:r>
              <a:rPr lang="en-US" sz="2394" b="1" i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No big bang. Designer-first. Always an escape hatch. </a:t>
            </a:r>
            <a:pPr algn="ctr" indent="0" marL="0">
              <a:buNone/>
            </a:pPr>
            <a:r>
              <a:rPr lang="en-US" sz="2394" b="1" i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”</a:t>
            </a:r>
            <a:pPr algn="ctr" indent="0" marL="0">
              <a:buNone/>
            </a:pPr>
            <a:endParaRPr lang="en-US" sz="2394" dirty="0"/>
          </a:p>
          <a:p>
            <a:pPr algn="ctr" indent="0" marL="0">
              <a:buNone/>
            </a:pPr>
            <a:r>
              <a:rPr lang="en-US" sz="2394" b="1" i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    </a:t>
            </a:r>
            <a:endParaRPr lang="en-US" sz="2394" dirty="0"/>
          </a:p>
        </p:txBody>
      </p:sp>
      <p:sp>
        <p:nvSpPr>
          <p:cNvPr id="6" name="Shape 4"/>
          <p:cNvSpPr/>
          <p:nvPr/>
        </p:nvSpPr>
        <p:spPr>
          <a:xfrm>
            <a:off x="405384" y="1244600"/>
            <a:ext cx="2723674" cy="5029200"/>
          </a:xfrm>
          <a:prstGeom prst="roundRect">
            <a:avLst>
              <a:gd name="adj" fmla="val 509"/>
            </a:avLst>
          </a:prstGeom>
          <a:solidFill>
            <a:srgbClr val="1E293B"/>
          </a:solidFill>
          <a:ln w="25337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5202" y="3060700"/>
            <a:ext cx="304038" cy="304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2787" y="3467100"/>
            <a:ext cx="160886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Designer First</a:t>
            </a:r>
            <a:endParaRPr lang="en-US" sz="1795" dirty="0"/>
          </a:p>
        </p:txBody>
      </p:sp>
      <p:sp>
        <p:nvSpPr>
          <p:cNvPr id="9" name="Text 6"/>
          <p:cNvSpPr txBox="1"/>
          <p:nvPr/>
        </p:nvSpPr>
        <p:spPr>
          <a:xfrm>
            <a:off x="557403" y="3797300"/>
            <a:ext cx="24196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decision prioritises designer workflow continuity</a:t>
            </a:r>
            <a:endParaRPr lang="en-US" sz="1496" dirty="0"/>
          </a:p>
        </p:txBody>
      </p:sp>
      <p:sp>
        <p:nvSpPr>
          <p:cNvPr id="10" name="Shape 7"/>
          <p:cNvSpPr/>
          <p:nvPr/>
        </p:nvSpPr>
        <p:spPr>
          <a:xfrm>
            <a:off x="3281077" y="1244600"/>
            <a:ext cx="2723674" cy="5029200"/>
          </a:xfrm>
          <a:prstGeom prst="roundRect">
            <a:avLst>
              <a:gd name="adj" fmla="val 509"/>
            </a:avLst>
          </a:prstGeom>
          <a:solidFill>
            <a:srgbClr val="1E293B"/>
          </a:solidFill>
          <a:ln w="25337">
            <a:solidFill>
              <a:srgbClr val="22D3E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90895" y="3175000"/>
            <a:ext cx="304038" cy="3048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29454" y="3581400"/>
            <a:ext cx="2026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Phased Approach</a:t>
            </a:r>
            <a:endParaRPr lang="en-US" sz="1795" dirty="0"/>
          </a:p>
        </p:txBody>
      </p:sp>
      <p:sp>
        <p:nvSpPr>
          <p:cNvPr id="13" name="Text 9"/>
          <p:cNvSpPr txBox="1"/>
          <p:nvPr/>
        </p:nvSpPr>
        <p:spPr>
          <a:xfrm>
            <a:off x="3433096" y="3911600"/>
            <a:ext cx="2419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18-month roadmap — no single disruptive cutover</a:t>
            </a:r>
            <a:endParaRPr lang="en-US" sz="1496" dirty="0"/>
          </a:p>
        </p:txBody>
      </p:sp>
      <p:sp>
        <p:nvSpPr>
          <p:cNvPr id="14" name="Shape 10"/>
          <p:cNvSpPr/>
          <p:nvPr/>
        </p:nvSpPr>
        <p:spPr>
          <a:xfrm>
            <a:off x="6156770" y="1244600"/>
            <a:ext cx="2723674" cy="5029200"/>
          </a:xfrm>
          <a:prstGeom prst="roundRect">
            <a:avLst>
              <a:gd name="adj" fmla="val 509"/>
            </a:avLst>
          </a:prstGeom>
          <a:solidFill>
            <a:srgbClr val="1E293B"/>
          </a:solidFill>
          <a:ln w="25337">
            <a:solidFill>
              <a:srgbClr val="22D3E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66587" y="3060700"/>
            <a:ext cx="304038" cy="3048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00158" y="3467100"/>
            <a:ext cx="18368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Always Rollback</a:t>
            </a:r>
            <a:endParaRPr lang="en-US" sz="1795" dirty="0"/>
          </a:p>
        </p:txBody>
      </p:sp>
      <p:sp>
        <p:nvSpPr>
          <p:cNvPr id="17" name="Text 12"/>
          <p:cNvSpPr txBox="1"/>
          <p:nvPr/>
        </p:nvSpPr>
        <p:spPr>
          <a:xfrm>
            <a:off x="6308789" y="3797300"/>
            <a:ext cx="24196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 phase has an instant rollback mechanism</a:t>
            </a:r>
            <a:endParaRPr lang="en-US" sz="1496" dirty="0"/>
          </a:p>
        </p:txBody>
      </p:sp>
      <p:sp>
        <p:nvSpPr>
          <p:cNvPr id="18" name="Shape 13"/>
          <p:cNvSpPr/>
          <p:nvPr/>
        </p:nvSpPr>
        <p:spPr>
          <a:xfrm>
            <a:off x="9032462" y="1244600"/>
            <a:ext cx="2723674" cy="5029200"/>
          </a:xfrm>
          <a:prstGeom prst="roundRect">
            <a:avLst>
              <a:gd name="adj" fmla="val 509"/>
            </a:avLst>
          </a:prstGeom>
          <a:solidFill>
            <a:srgbClr val="1E293B"/>
          </a:solidFill>
          <a:ln w="25337">
            <a:solidFill>
              <a:srgbClr val="22D3EE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42280" y="3060700"/>
            <a:ext cx="304038" cy="3048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501188" y="3467100"/>
            <a:ext cx="178622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Zero Disruption</a:t>
            </a:r>
            <a:endParaRPr lang="en-US" sz="1795" dirty="0"/>
          </a:p>
        </p:txBody>
      </p:sp>
      <p:sp>
        <p:nvSpPr>
          <p:cNvPr id="21" name="Text 15"/>
          <p:cNvSpPr txBox="1"/>
          <p:nvPr/>
        </p:nvSpPr>
        <p:spPr>
          <a:xfrm>
            <a:off x="9184481" y="3797300"/>
            <a:ext cx="24196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Blackout periods respected during product launches</a:t>
            </a:r>
            <a:endParaRPr lang="en-US" sz="1496" dirty="0"/>
          </a:p>
        </p:txBody>
      </p:sp>
      <p:sp>
        <p:nvSpPr>
          <p:cNvPr id="22" name="Text 16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23" name="Text 17"/>
          <p:cNvSpPr txBox="1"/>
          <p:nvPr/>
        </p:nvSpPr>
        <p:spPr>
          <a:xfrm>
            <a:off x="8519398" y="6426200"/>
            <a:ext cx="3236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2: Tool Consolidation Strategy</a:t>
            </a:r>
            <a:endParaRPr lang="en-US" sz="149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1912906" cy="279400"/>
          </a:xfrm>
          <a:prstGeom prst="roundRect">
            <a:avLst>
              <a:gd name="adj" fmla="val 10835762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16595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 · Roadmap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419636" y="203200"/>
            <a:ext cx="57197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18-Month Migration Roadmap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1165479" y="685800"/>
            <a:ext cx="5882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96" dirty="0"/>
          </a:p>
        </p:txBody>
      </p:sp>
      <p:sp>
        <p:nvSpPr>
          <p:cNvPr id="6" name="Text 4"/>
          <p:cNvSpPr txBox="1"/>
          <p:nvPr/>
        </p:nvSpPr>
        <p:spPr>
          <a:xfrm>
            <a:off x="1753761" y="685800"/>
            <a:ext cx="588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96" dirty="0"/>
          </a:p>
        </p:txBody>
      </p:sp>
      <p:sp>
        <p:nvSpPr>
          <p:cNvPr id="7" name="Text 5"/>
          <p:cNvSpPr txBox="1"/>
          <p:nvPr/>
        </p:nvSpPr>
        <p:spPr>
          <a:xfrm>
            <a:off x="2342142" y="685800"/>
            <a:ext cx="5882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96" dirty="0"/>
          </a:p>
        </p:txBody>
      </p:sp>
      <p:sp>
        <p:nvSpPr>
          <p:cNvPr id="8" name="Text 6"/>
          <p:cNvSpPr txBox="1"/>
          <p:nvPr/>
        </p:nvSpPr>
        <p:spPr>
          <a:xfrm>
            <a:off x="2930424" y="685800"/>
            <a:ext cx="588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96" dirty="0"/>
          </a:p>
        </p:txBody>
      </p:sp>
      <p:sp>
        <p:nvSpPr>
          <p:cNvPr id="9" name="Text 7"/>
          <p:cNvSpPr txBox="1"/>
          <p:nvPr/>
        </p:nvSpPr>
        <p:spPr>
          <a:xfrm>
            <a:off x="3518804" y="685800"/>
            <a:ext cx="588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96" dirty="0"/>
          </a:p>
        </p:txBody>
      </p:sp>
      <p:sp>
        <p:nvSpPr>
          <p:cNvPr id="10" name="Text 8"/>
          <p:cNvSpPr txBox="1"/>
          <p:nvPr/>
        </p:nvSpPr>
        <p:spPr>
          <a:xfrm>
            <a:off x="4107185" y="685800"/>
            <a:ext cx="588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96" dirty="0"/>
          </a:p>
        </p:txBody>
      </p:sp>
      <p:sp>
        <p:nvSpPr>
          <p:cNvPr id="11" name="Text 9"/>
          <p:cNvSpPr txBox="1"/>
          <p:nvPr/>
        </p:nvSpPr>
        <p:spPr>
          <a:xfrm>
            <a:off x="4695566" y="685800"/>
            <a:ext cx="588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96" dirty="0"/>
          </a:p>
        </p:txBody>
      </p:sp>
      <p:sp>
        <p:nvSpPr>
          <p:cNvPr id="12" name="Text 10"/>
          <p:cNvSpPr txBox="1"/>
          <p:nvPr/>
        </p:nvSpPr>
        <p:spPr>
          <a:xfrm>
            <a:off x="5283947" y="685800"/>
            <a:ext cx="588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96" dirty="0"/>
          </a:p>
        </p:txBody>
      </p:sp>
      <p:sp>
        <p:nvSpPr>
          <p:cNvPr id="13" name="Text 11"/>
          <p:cNvSpPr txBox="1"/>
          <p:nvPr/>
        </p:nvSpPr>
        <p:spPr>
          <a:xfrm>
            <a:off x="5872328" y="685800"/>
            <a:ext cx="588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96" dirty="0"/>
          </a:p>
        </p:txBody>
      </p:sp>
      <p:sp>
        <p:nvSpPr>
          <p:cNvPr id="14" name="Text 12"/>
          <p:cNvSpPr txBox="1"/>
          <p:nvPr/>
        </p:nvSpPr>
        <p:spPr>
          <a:xfrm>
            <a:off x="6460709" y="685800"/>
            <a:ext cx="588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96" dirty="0"/>
          </a:p>
        </p:txBody>
      </p:sp>
      <p:sp>
        <p:nvSpPr>
          <p:cNvPr id="15" name="Text 13"/>
          <p:cNvSpPr txBox="1"/>
          <p:nvPr/>
        </p:nvSpPr>
        <p:spPr>
          <a:xfrm>
            <a:off x="7049089" y="685800"/>
            <a:ext cx="588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96" dirty="0"/>
          </a:p>
        </p:txBody>
      </p:sp>
      <p:sp>
        <p:nvSpPr>
          <p:cNvPr id="16" name="Text 14"/>
          <p:cNvSpPr txBox="1"/>
          <p:nvPr/>
        </p:nvSpPr>
        <p:spPr>
          <a:xfrm>
            <a:off x="7637470" y="685800"/>
            <a:ext cx="588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496" dirty="0"/>
          </a:p>
        </p:txBody>
      </p:sp>
      <p:sp>
        <p:nvSpPr>
          <p:cNvPr id="17" name="Text 15"/>
          <p:cNvSpPr txBox="1"/>
          <p:nvPr/>
        </p:nvSpPr>
        <p:spPr>
          <a:xfrm>
            <a:off x="8225851" y="685800"/>
            <a:ext cx="588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496" dirty="0"/>
          </a:p>
        </p:txBody>
      </p:sp>
      <p:sp>
        <p:nvSpPr>
          <p:cNvPr id="18" name="Text 16"/>
          <p:cNvSpPr txBox="1"/>
          <p:nvPr/>
        </p:nvSpPr>
        <p:spPr>
          <a:xfrm>
            <a:off x="8814232" y="685800"/>
            <a:ext cx="588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</a:t>
            </a:r>
            <a:endParaRPr lang="en-US" sz="1496" dirty="0"/>
          </a:p>
        </p:txBody>
      </p:sp>
      <p:sp>
        <p:nvSpPr>
          <p:cNvPr id="19" name="Text 17"/>
          <p:cNvSpPr txBox="1"/>
          <p:nvPr/>
        </p:nvSpPr>
        <p:spPr>
          <a:xfrm>
            <a:off x="9402613" y="685800"/>
            <a:ext cx="588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</a:t>
            </a:r>
            <a:endParaRPr lang="en-US" sz="1496" dirty="0"/>
          </a:p>
        </p:txBody>
      </p:sp>
      <p:sp>
        <p:nvSpPr>
          <p:cNvPr id="20" name="Text 18"/>
          <p:cNvSpPr txBox="1"/>
          <p:nvPr/>
        </p:nvSpPr>
        <p:spPr>
          <a:xfrm>
            <a:off x="9990994" y="685800"/>
            <a:ext cx="588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1496" dirty="0"/>
          </a:p>
        </p:txBody>
      </p:sp>
      <p:sp>
        <p:nvSpPr>
          <p:cNvPr id="21" name="Text 19"/>
          <p:cNvSpPr txBox="1"/>
          <p:nvPr/>
        </p:nvSpPr>
        <p:spPr>
          <a:xfrm>
            <a:off x="10579374" y="685800"/>
            <a:ext cx="588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</a:t>
            </a:r>
            <a:endParaRPr lang="en-US" sz="1496" dirty="0"/>
          </a:p>
        </p:txBody>
      </p:sp>
      <p:sp>
        <p:nvSpPr>
          <p:cNvPr id="22" name="Text 20"/>
          <p:cNvSpPr txBox="1"/>
          <p:nvPr/>
        </p:nvSpPr>
        <p:spPr>
          <a:xfrm>
            <a:off x="11167755" y="685800"/>
            <a:ext cx="588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</a:t>
            </a:r>
            <a:endParaRPr lang="en-US" sz="1496" dirty="0"/>
          </a:p>
        </p:txBody>
      </p:sp>
      <p:sp>
        <p:nvSpPr>
          <p:cNvPr id="23" name="Text 21"/>
          <p:cNvSpPr txBox="1"/>
          <p:nvPr/>
        </p:nvSpPr>
        <p:spPr>
          <a:xfrm>
            <a:off x="405384" y="1066800"/>
            <a:ext cx="76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P0</a:t>
            </a:r>
            <a:endParaRPr lang="en-US" sz="1496" dirty="0"/>
          </a:p>
        </p:txBody>
      </p:sp>
      <p:sp>
        <p:nvSpPr>
          <p:cNvPr id="24" name="Shape 22"/>
          <p:cNvSpPr/>
          <p:nvPr/>
        </p:nvSpPr>
        <p:spPr>
          <a:xfrm>
            <a:off x="1165479" y="1016000"/>
            <a:ext cx="1175475" cy="330200"/>
          </a:xfrm>
          <a:prstGeom prst="roundRect">
            <a:avLst>
              <a:gd name="adj" fmla="val 11938"/>
            </a:avLst>
          </a:prstGeom>
          <a:solidFill>
            <a:srgbClr val="6366F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216152" y="1066800"/>
            <a:ext cx="1102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Foundation</a:t>
            </a:r>
            <a:endParaRPr lang="en-US" sz="1496" dirty="0"/>
          </a:p>
        </p:txBody>
      </p:sp>
      <p:sp>
        <p:nvSpPr>
          <p:cNvPr id="26" name="Text 24"/>
          <p:cNvSpPr txBox="1"/>
          <p:nvPr/>
        </p:nvSpPr>
        <p:spPr>
          <a:xfrm>
            <a:off x="405384" y="1473200"/>
            <a:ext cx="76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P1</a:t>
            </a:r>
            <a:endParaRPr lang="en-US" sz="1496" dirty="0"/>
          </a:p>
        </p:txBody>
      </p:sp>
      <p:sp>
        <p:nvSpPr>
          <p:cNvPr id="27" name="Shape 25"/>
          <p:cNvSpPr/>
          <p:nvPr/>
        </p:nvSpPr>
        <p:spPr>
          <a:xfrm>
            <a:off x="2340954" y="1422400"/>
            <a:ext cx="1175475" cy="330200"/>
          </a:xfrm>
          <a:prstGeom prst="roundRect">
            <a:avLst>
              <a:gd name="adj" fmla="val 11938"/>
            </a:avLst>
          </a:prstGeom>
          <a:solidFill>
            <a:srgbClr val="22D3E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391627" y="1473200"/>
            <a:ext cx="9881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Quick Win</a:t>
            </a:r>
            <a:endParaRPr lang="en-US" sz="1496" dirty="0"/>
          </a:p>
        </p:txBody>
      </p:sp>
      <p:sp>
        <p:nvSpPr>
          <p:cNvPr id="29" name="Text 27"/>
          <p:cNvSpPr txBox="1"/>
          <p:nvPr/>
        </p:nvSpPr>
        <p:spPr>
          <a:xfrm>
            <a:off x="405384" y="1879600"/>
            <a:ext cx="76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34D3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P2</a:t>
            </a:r>
            <a:endParaRPr lang="en-US" sz="1496" dirty="0"/>
          </a:p>
        </p:txBody>
      </p:sp>
      <p:sp>
        <p:nvSpPr>
          <p:cNvPr id="30" name="Shape 28"/>
          <p:cNvSpPr/>
          <p:nvPr/>
        </p:nvSpPr>
        <p:spPr>
          <a:xfrm>
            <a:off x="3516528" y="1828800"/>
            <a:ext cx="1175475" cy="330200"/>
          </a:xfrm>
          <a:prstGeom prst="roundRect">
            <a:avLst>
              <a:gd name="adj" fmla="val 11938"/>
            </a:avLst>
          </a:prstGeom>
          <a:solidFill>
            <a:srgbClr val="34D39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67201" y="1879600"/>
            <a:ext cx="86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Low-Risk</a:t>
            </a:r>
            <a:endParaRPr lang="en-US" sz="1496" dirty="0"/>
          </a:p>
        </p:txBody>
      </p:sp>
      <p:sp>
        <p:nvSpPr>
          <p:cNvPr id="32" name="Text 30"/>
          <p:cNvSpPr txBox="1"/>
          <p:nvPr/>
        </p:nvSpPr>
        <p:spPr>
          <a:xfrm>
            <a:off x="405384" y="2286000"/>
            <a:ext cx="76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BBF2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P3</a:t>
            </a:r>
            <a:endParaRPr lang="en-US" sz="1496" dirty="0"/>
          </a:p>
        </p:txBody>
      </p:sp>
      <p:sp>
        <p:nvSpPr>
          <p:cNvPr id="33" name="Shape 31"/>
          <p:cNvSpPr/>
          <p:nvPr/>
        </p:nvSpPr>
        <p:spPr>
          <a:xfrm>
            <a:off x="4692102" y="2235200"/>
            <a:ext cx="2351049" cy="330200"/>
          </a:xfrm>
          <a:prstGeom prst="roundRect">
            <a:avLst>
              <a:gd name="adj" fmla="val 5969"/>
            </a:avLst>
          </a:prstGeom>
          <a:solidFill>
            <a:srgbClr val="FBBF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742775" y="2286000"/>
            <a:ext cx="18305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Critical Legacy Tool</a:t>
            </a:r>
            <a:endParaRPr lang="en-US" sz="1496" dirty="0"/>
          </a:p>
        </p:txBody>
      </p:sp>
      <p:sp>
        <p:nvSpPr>
          <p:cNvPr id="35" name="Text 33"/>
          <p:cNvSpPr txBox="1"/>
          <p:nvPr/>
        </p:nvSpPr>
        <p:spPr>
          <a:xfrm>
            <a:off x="405384" y="2692400"/>
            <a:ext cx="76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472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P4</a:t>
            </a:r>
            <a:endParaRPr lang="en-US" sz="1496" dirty="0"/>
          </a:p>
        </p:txBody>
      </p:sp>
      <p:sp>
        <p:nvSpPr>
          <p:cNvPr id="36" name="Shape 34"/>
          <p:cNvSpPr/>
          <p:nvPr/>
        </p:nvSpPr>
        <p:spPr>
          <a:xfrm>
            <a:off x="7043250" y="2641600"/>
            <a:ext cx="3526623" cy="330200"/>
          </a:xfrm>
          <a:prstGeom prst="roundRect">
            <a:avLst>
              <a:gd name="adj" fmla="val 3979"/>
            </a:avLst>
          </a:prstGeom>
          <a:solidFill>
            <a:srgbClr val="F472B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093923" y="2692400"/>
            <a:ext cx="1773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Desktop Migration</a:t>
            </a:r>
            <a:endParaRPr lang="en-US" sz="1496" dirty="0"/>
          </a:p>
        </p:txBody>
      </p:sp>
      <p:sp>
        <p:nvSpPr>
          <p:cNvPr id="38" name="Text 36"/>
          <p:cNvSpPr txBox="1"/>
          <p:nvPr/>
        </p:nvSpPr>
        <p:spPr>
          <a:xfrm>
            <a:off x="405384" y="3098800"/>
            <a:ext cx="76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P5</a:t>
            </a:r>
            <a:endParaRPr lang="en-US" sz="1496" dirty="0"/>
          </a:p>
        </p:txBody>
      </p:sp>
      <p:sp>
        <p:nvSpPr>
          <p:cNvPr id="39" name="Shape 37"/>
          <p:cNvSpPr/>
          <p:nvPr/>
        </p:nvSpPr>
        <p:spPr>
          <a:xfrm>
            <a:off x="7636283" y="3048000"/>
            <a:ext cx="4109165" cy="330200"/>
          </a:xfrm>
          <a:prstGeom prst="roundRect">
            <a:avLst>
              <a:gd name="adj" fmla="val 3415"/>
            </a:avLst>
          </a:prstGeom>
          <a:solidFill>
            <a:srgbClr val="A78BF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686956" y="3098800"/>
            <a:ext cx="1304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 Integration</a:t>
            </a:r>
            <a:endParaRPr lang="en-US" sz="1496" dirty="0"/>
          </a:p>
        </p:txBody>
      </p:sp>
      <p:sp>
        <p:nvSpPr>
          <p:cNvPr id="41" name="Shape 39"/>
          <p:cNvSpPr/>
          <p:nvPr/>
        </p:nvSpPr>
        <p:spPr>
          <a:xfrm>
            <a:off x="405384" y="3530600"/>
            <a:ext cx="1828385" cy="2794000"/>
          </a:xfrm>
          <a:prstGeom prst="roundRect">
            <a:avLst>
              <a:gd name="adj" fmla="val 909"/>
            </a:avLst>
          </a:prstGeom>
          <a:solidFill>
            <a:srgbClr val="1E293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06730" y="3606800"/>
            <a:ext cx="1651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0</a:t>
            </a:r>
            <a:endParaRPr lang="en-US" sz="1496" dirty="0"/>
          </a:p>
        </p:txBody>
      </p:sp>
      <p:sp>
        <p:nvSpPr>
          <p:cNvPr id="43" name="Text 41"/>
          <p:cNvSpPr txBox="1"/>
          <p:nvPr/>
        </p:nvSpPr>
        <p:spPr>
          <a:xfrm>
            <a:off x="506730" y="3835400"/>
            <a:ext cx="1651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Foundation</a:t>
            </a:r>
            <a:endParaRPr lang="en-US" sz="1496" dirty="0"/>
          </a:p>
        </p:txBody>
      </p:sp>
      <p:sp>
        <p:nvSpPr>
          <p:cNvPr id="44" name="Text 42"/>
          <p:cNvSpPr txBox="1"/>
          <p:nvPr/>
        </p:nvSpPr>
        <p:spPr>
          <a:xfrm>
            <a:off x="506730" y="4064000"/>
            <a:ext cx="1651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Months 1–2</a:t>
            </a:r>
            <a:endParaRPr lang="en-US" sz="1496" dirty="0"/>
          </a:p>
        </p:txBody>
      </p:sp>
      <p:sp>
        <p:nvSpPr>
          <p:cNvPr id="45" name="Shape 43"/>
          <p:cNvSpPr/>
          <p:nvPr/>
        </p:nvSpPr>
        <p:spPr>
          <a:xfrm>
            <a:off x="2309778" y="3530600"/>
            <a:ext cx="1828484" cy="2794000"/>
          </a:xfrm>
          <a:prstGeom prst="roundRect">
            <a:avLst>
              <a:gd name="adj" fmla="val 909"/>
            </a:avLst>
          </a:prstGeom>
          <a:solidFill>
            <a:srgbClr val="1E293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11124" y="3606800"/>
            <a:ext cx="1651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1</a:t>
            </a:r>
            <a:endParaRPr lang="en-US" sz="1496" dirty="0"/>
          </a:p>
        </p:txBody>
      </p:sp>
      <p:sp>
        <p:nvSpPr>
          <p:cNvPr id="47" name="Text 45"/>
          <p:cNvSpPr txBox="1"/>
          <p:nvPr/>
        </p:nvSpPr>
        <p:spPr>
          <a:xfrm>
            <a:off x="2411124" y="3835400"/>
            <a:ext cx="1651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Quick Win</a:t>
            </a:r>
            <a:endParaRPr lang="en-US" sz="1496" dirty="0"/>
          </a:p>
        </p:txBody>
      </p:sp>
      <p:sp>
        <p:nvSpPr>
          <p:cNvPr id="48" name="Text 46"/>
          <p:cNvSpPr txBox="1"/>
          <p:nvPr/>
        </p:nvSpPr>
        <p:spPr>
          <a:xfrm>
            <a:off x="2411124" y="4064000"/>
            <a:ext cx="1651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Months 3–4</a:t>
            </a:r>
            <a:endParaRPr lang="en-US" sz="1496" dirty="0"/>
          </a:p>
        </p:txBody>
      </p:sp>
      <p:sp>
        <p:nvSpPr>
          <p:cNvPr id="49" name="Shape 47"/>
          <p:cNvSpPr/>
          <p:nvPr/>
        </p:nvSpPr>
        <p:spPr>
          <a:xfrm>
            <a:off x="4214272" y="3530600"/>
            <a:ext cx="1828385" cy="2794000"/>
          </a:xfrm>
          <a:prstGeom prst="roundRect">
            <a:avLst>
              <a:gd name="adj" fmla="val 909"/>
            </a:avLst>
          </a:prstGeom>
          <a:solidFill>
            <a:srgbClr val="1E293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315618" y="3606800"/>
            <a:ext cx="1651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34D3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2</a:t>
            </a:r>
            <a:endParaRPr lang="en-US" sz="1496" dirty="0"/>
          </a:p>
        </p:txBody>
      </p:sp>
      <p:sp>
        <p:nvSpPr>
          <p:cNvPr id="51" name="Text 49"/>
          <p:cNvSpPr txBox="1"/>
          <p:nvPr/>
        </p:nvSpPr>
        <p:spPr>
          <a:xfrm>
            <a:off x="4315618" y="3835400"/>
            <a:ext cx="1651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Low-Risk</a:t>
            </a:r>
            <a:endParaRPr lang="en-US" sz="1496" dirty="0"/>
          </a:p>
        </p:txBody>
      </p:sp>
      <p:sp>
        <p:nvSpPr>
          <p:cNvPr id="52" name="Text 50"/>
          <p:cNvSpPr txBox="1"/>
          <p:nvPr/>
        </p:nvSpPr>
        <p:spPr>
          <a:xfrm>
            <a:off x="4315618" y="4064000"/>
            <a:ext cx="1651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Months 5–6</a:t>
            </a:r>
            <a:endParaRPr lang="en-US" sz="1496" dirty="0"/>
          </a:p>
        </p:txBody>
      </p:sp>
      <p:sp>
        <p:nvSpPr>
          <p:cNvPr id="53" name="Shape 51"/>
          <p:cNvSpPr/>
          <p:nvPr/>
        </p:nvSpPr>
        <p:spPr>
          <a:xfrm>
            <a:off x="6118666" y="3530600"/>
            <a:ext cx="1828484" cy="2794000"/>
          </a:xfrm>
          <a:prstGeom prst="roundRect">
            <a:avLst>
              <a:gd name="adj" fmla="val 909"/>
            </a:avLst>
          </a:prstGeom>
          <a:solidFill>
            <a:srgbClr val="1E293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220012" y="3606800"/>
            <a:ext cx="1651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BBF2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3</a:t>
            </a:r>
            <a:endParaRPr lang="en-US" sz="1496" dirty="0"/>
          </a:p>
        </p:txBody>
      </p:sp>
      <p:sp>
        <p:nvSpPr>
          <p:cNvPr id="55" name="Text 53"/>
          <p:cNvSpPr txBox="1"/>
          <p:nvPr/>
        </p:nvSpPr>
        <p:spPr>
          <a:xfrm>
            <a:off x="6220012" y="3835400"/>
            <a:ext cx="1651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Legacy Tool</a:t>
            </a:r>
            <a:endParaRPr lang="en-US" sz="1496" dirty="0"/>
          </a:p>
        </p:txBody>
      </p:sp>
      <p:sp>
        <p:nvSpPr>
          <p:cNvPr id="56" name="Text 54"/>
          <p:cNvSpPr txBox="1"/>
          <p:nvPr/>
        </p:nvSpPr>
        <p:spPr>
          <a:xfrm>
            <a:off x="6220012" y="4064000"/>
            <a:ext cx="1651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Months 7–10</a:t>
            </a:r>
            <a:endParaRPr lang="en-US" sz="1496" dirty="0"/>
          </a:p>
        </p:txBody>
      </p:sp>
      <p:sp>
        <p:nvSpPr>
          <p:cNvPr id="57" name="Shape 55"/>
          <p:cNvSpPr/>
          <p:nvPr/>
        </p:nvSpPr>
        <p:spPr>
          <a:xfrm>
            <a:off x="8023159" y="3530600"/>
            <a:ext cx="1828484" cy="2794000"/>
          </a:xfrm>
          <a:prstGeom prst="roundRect">
            <a:avLst>
              <a:gd name="adj" fmla="val 909"/>
            </a:avLst>
          </a:prstGeom>
          <a:solidFill>
            <a:srgbClr val="1E293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124505" y="3606800"/>
            <a:ext cx="1651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472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4</a:t>
            </a:r>
            <a:endParaRPr lang="en-US" sz="1496" dirty="0"/>
          </a:p>
        </p:txBody>
      </p:sp>
      <p:sp>
        <p:nvSpPr>
          <p:cNvPr id="59" name="Text 57"/>
          <p:cNvSpPr txBox="1"/>
          <p:nvPr/>
        </p:nvSpPr>
        <p:spPr>
          <a:xfrm>
            <a:off x="8124505" y="3835400"/>
            <a:ext cx="1651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Desktop</a:t>
            </a:r>
            <a:endParaRPr lang="en-US" sz="1496" dirty="0"/>
          </a:p>
        </p:txBody>
      </p:sp>
      <p:sp>
        <p:nvSpPr>
          <p:cNvPr id="60" name="Text 58"/>
          <p:cNvSpPr txBox="1"/>
          <p:nvPr/>
        </p:nvSpPr>
        <p:spPr>
          <a:xfrm>
            <a:off x="8124505" y="4064000"/>
            <a:ext cx="1651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Months 11–16</a:t>
            </a:r>
            <a:endParaRPr lang="en-US" sz="1496" dirty="0"/>
          </a:p>
        </p:txBody>
      </p:sp>
      <p:sp>
        <p:nvSpPr>
          <p:cNvPr id="61" name="Shape 59"/>
          <p:cNvSpPr/>
          <p:nvPr/>
        </p:nvSpPr>
        <p:spPr>
          <a:xfrm>
            <a:off x="9927652" y="3530600"/>
            <a:ext cx="1828484" cy="2794000"/>
          </a:xfrm>
          <a:prstGeom prst="roundRect">
            <a:avLst>
              <a:gd name="adj" fmla="val 909"/>
            </a:avLst>
          </a:prstGeom>
          <a:solidFill>
            <a:srgbClr val="1E293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028998" y="3606800"/>
            <a:ext cx="1651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5</a:t>
            </a:r>
            <a:endParaRPr lang="en-US" sz="1496" dirty="0"/>
          </a:p>
        </p:txBody>
      </p:sp>
      <p:sp>
        <p:nvSpPr>
          <p:cNvPr id="63" name="Text 61"/>
          <p:cNvSpPr txBox="1"/>
          <p:nvPr/>
        </p:nvSpPr>
        <p:spPr>
          <a:xfrm>
            <a:off x="10028998" y="3835400"/>
            <a:ext cx="1651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</a:t>
            </a:r>
            <a:endParaRPr lang="en-US" sz="1496" dirty="0"/>
          </a:p>
        </p:txBody>
      </p:sp>
      <p:sp>
        <p:nvSpPr>
          <p:cNvPr id="64" name="Text 62"/>
          <p:cNvSpPr txBox="1"/>
          <p:nvPr/>
        </p:nvSpPr>
        <p:spPr>
          <a:xfrm>
            <a:off x="10028998" y="4064000"/>
            <a:ext cx="1651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Months 12–18</a:t>
            </a:r>
            <a:endParaRPr lang="en-US" sz="1496" dirty="0"/>
          </a:p>
        </p:txBody>
      </p:sp>
      <p:sp>
        <p:nvSpPr>
          <p:cNvPr id="65" name="Text 63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66" name="Text 64"/>
          <p:cNvSpPr txBox="1"/>
          <p:nvPr/>
        </p:nvSpPr>
        <p:spPr>
          <a:xfrm>
            <a:off x="8519398" y="6426200"/>
            <a:ext cx="3236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2: Tool Consolidation Strategy</a:t>
            </a:r>
            <a:endParaRPr lang="en-US" sz="1496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2128266" cy="279400"/>
          </a:xfrm>
          <a:prstGeom prst="roundRect">
            <a:avLst>
              <a:gd name="adj" fmla="val 9739286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18749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 · Phases 0 &amp; 1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634996" y="203200"/>
            <a:ext cx="70055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Trust Before You Build Systems</a:t>
            </a:r>
            <a:endParaRPr lang="en-US" sz="2993" dirty="0"/>
          </a:p>
        </p:txBody>
      </p:sp>
      <p:sp>
        <p:nvSpPr>
          <p:cNvPr id="5" name="Shape 3"/>
          <p:cNvSpPr/>
          <p:nvPr/>
        </p:nvSpPr>
        <p:spPr>
          <a:xfrm>
            <a:off x="405384" y="685800"/>
            <a:ext cx="5574030" cy="5638800"/>
          </a:xfrm>
          <a:prstGeom prst="roundRect">
            <a:avLst>
              <a:gd name="adj" fmla="val 222"/>
            </a:avLst>
          </a:prstGeom>
          <a:solidFill>
            <a:srgbClr val="1E293B"/>
          </a:solidFill>
          <a:ln w="25337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" y="914400"/>
            <a:ext cx="969121" cy="279400"/>
          </a:xfrm>
          <a:prstGeom prst="roundRect">
            <a:avLst>
              <a:gd name="adj" fmla="val 21388235"/>
            </a:avLst>
          </a:prstGeom>
          <a:solidFill>
            <a:srgbClr val="6366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9422" y="939800"/>
            <a:ext cx="7664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0</a:t>
            </a:r>
            <a:endParaRPr lang="en-US" sz="1496" dirty="0"/>
          </a:p>
        </p:txBody>
      </p:sp>
      <p:sp>
        <p:nvSpPr>
          <p:cNvPr id="8" name="Text 6"/>
          <p:cNvSpPr txBox="1"/>
          <p:nvPr/>
        </p:nvSpPr>
        <p:spPr>
          <a:xfrm>
            <a:off x="1653207" y="927100"/>
            <a:ext cx="133016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Foundation</a:t>
            </a:r>
            <a:endParaRPr lang="en-US" sz="179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" y="1295400"/>
            <a:ext cx="126683" cy="1270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85432" y="1244600"/>
            <a:ext cx="10514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Months 1–2</a:t>
            </a:r>
            <a:endParaRPr lang="en-US" sz="1496" dirty="0"/>
          </a:p>
        </p:txBody>
      </p:sp>
      <p:sp>
        <p:nvSpPr>
          <p:cNvPr id="11" name="Text 8"/>
          <p:cNvSpPr txBox="1"/>
          <p:nvPr/>
        </p:nvSpPr>
        <p:spPr>
          <a:xfrm>
            <a:off x="608076" y="1574800"/>
            <a:ext cx="5168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i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Zero disruption. Build infrastructure and relationships.</a:t>
            </a:r>
            <a:endParaRPr lang="en-US" sz="1496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8076" y="1943100"/>
            <a:ext cx="152019" cy="1524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36105" y="1905000"/>
            <a:ext cx="31923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Establish designer advisory board</a:t>
            </a:r>
            <a:endParaRPr lang="en-US" sz="1496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8076" y="2247900"/>
            <a:ext cx="152019" cy="1524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6105" y="2209800"/>
            <a:ext cx="246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 up AWS infrastructure</a:t>
            </a:r>
            <a:endParaRPr lang="en-US" sz="1496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8076" y="2552700"/>
            <a:ext cx="152019" cy="152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6105" y="2514600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Create shared service layer</a:t>
            </a:r>
            <a:endParaRPr lang="en-US" sz="1496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8076" y="2857500"/>
            <a:ext cx="152019" cy="1524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36105" y="2819400"/>
            <a:ext cx="27173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trust with design team</a:t>
            </a:r>
            <a:endParaRPr lang="en-US" sz="1496" dirty="0"/>
          </a:p>
        </p:txBody>
      </p:sp>
      <p:sp>
        <p:nvSpPr>
          <p:cNvPr id="20" name="Shape 13"/>
          <p:cNvSpPr/>
          <p:nvPr/>
        </p:nvSpPr>
        <p:spPr>
          <a:xfrm>
            <a:off x="608076" y="5740400"/>
            <a:ext cx="5168646" cy="381000"/>
          </a:xfrm>
          <a:prstGeom prst="roundRect">
            <a:avLst>
              <a:gd name="adj" fmla="val 2353"/>
            </a:avLst>
          </a:prstGeom>
          <a:solidFill>
            <a:srgbClr val="6366F1">
              <a:alpha val="15000"/>
            </a:srgbClr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684086" y="5816600"/>
            <a:ext cx="50166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34D3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Platform ready. Designers informed, not surprised.</a:t>
            </a:r>
            <a:endParaRPr lang="en-US" sz="1496" dirty="0"/>
          </a:p>
        </p:txBody>
      </p:sp>
      <p:sp>
        <p:nvSpPr>
          <p:cNvPr id="22" name="Shape 15"/>
          <p:cNvSpPr/>
          <p:nvPr/>
        </p:nvSpPr>
        <p:spPr>
          <a:xfrm>
            <a:off x="6182106" y="685800"/>
            <a:ext cx="5574030" cy="5638800"/>
          </a:xfrm>
          <a:prstGeom prst="roundRect">
            <a:avLst>
              <a:gd name="adj" fmla="val 222"/>
            </a:avLst>
          </a:prstGeom>
          <a:solidFill>
            <a:srgbClr val="1E293B"/>
          </a:solidFill>
          <a:ln w="25337">
            <a:solidFill>
              <a:srgbClr val="22D3EE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384798" y="914400"/>
            <a:ext cx="912114" cy="279400"/>
          </a:xfrm>
          <a:prstGeom prst="roundRect">
            <a:avLst>
              <a:gd name="adj" fmla="val 22725000"/>
            </a:avLst>
          </a:prstGeom>
          <a:solidFill>
            <a:srgbClr val="22D3EE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486144" y="939800"/>
            <a:ext cx="7094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1</a:t>
            </a:r>
            <a:endParaRPr lang="en-US" sz="1496" dirty="0"/>
          </a:p>
        </p:txBody>
      </p:sp>
      <p:sp>
        <p:nvSpPr>
          <p:cNvPr id="25" name="Text 18"/>
          <p:cNvSpPr txBox="1"/>
          <p:nvPr/>
        </p:nvSpPr>
        <p:spPr>
          <a:xfrm>
            <a:off x="7372921" y="927100"/>
            <a:ext cx="11908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Quick Win</a:t>
            </a:r>
            <a:endParaRPr lang="en-US" sz="1795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384798" y="1295400"/>
            <a:ext cx="126683" cy="1270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562154" y="1244600"/>
            <a:ext cx="1108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Months 3–4</a:t>
            </a:r>
            <a:endParaRPr lang="en-US" sz="1496" dirty="0"/>
          </a:p>
        </p:txBody>
      </p:sp>
      <p:sp>
        <p:nvSpPr>
          <p:cNvPr id="28" name="Text 20"/>
          <p:cNvSpPr txBox="1"/>
          <p:nvPr/>
        </p:nvSpPr>
        <p:spPr>
          <a:xfrm>
            <a:off x="6384798" y="1574800"/>
            <a:ext cx="5168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i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Launch the Preview Service. Prove platform value.</a:t>
            </a:r>
            <a:endParaRPr lang="en-US" sz="1496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384798" y="1943100"/>
            <a:ext cx="152019" cy="1524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612827" y="1905000"/>
            <a:ext cx="42121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Launch Preview Service as first platform tool</a:t>
            </a:r>
            <a:endParaRPr lang="en-US" sz="1496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384798" y="2247900"/>
            <a:ext cx="152019" cy="15240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612827" y="2209800"/>
            <a:ext cx="29833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Designers see immediate value</a:t>
            </a:r>
            <a:endParaRPr lang="en-US" sz="1496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384798" y="2552700"/>
            <a:ext cx="152019" cy="1524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6612827" y="2514600"/>
            <a:ext cx="316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Demonstrate ROI to stakeholders</a:t>
            </a:r>
            <a:endParaRPr lang="en-US" sz="1496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384798" y="2857500"/>
            <a:ext cx="152019" cy="152400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6612827" y="2819400"/>
            <a:ext cx="37941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confidence in migration approach</a:t>
            </a:r>
            <a:endParaRPr lang="en-US" sz="1496" dirty="0"/>
          </a:p>
        </p:txBody>
      </p:sp>
      <p:sp>
        <p:nvSpPr>
          <p:cNvPr id="37" name="Shape 25"/>
          <p:cNvSpPr/>
          <p:nvPr/>
        </p:nvSpPr>
        <p:spPr>
          <a:xfrm>
            <a:off x="6384798" y="5740400"/>
            <a:ext cx="5168646" cy="381000"/>
          </a:xfrm>
          <a:prstGeom prst="roundRect">
            <a:avLst>
              <a:gd name="adj" fmla="val 2353"/>
            </a:avLst>
          </a:prstGeom>
          <a:solidFill>
            <a:srgbClr val="22D3EE">
              <a:alpha val="15000"/>
            </a:srgbClr>
          </a:solidFill>
          <a:ln/>
        </p:spPr>
      </p:sp>
      <p:sp>
        <p:nvSpPr>
          <p:cNvPr id="38" name="Text 26"/>
          <p:cNvSpPr txBox="1"/>
          <p:nvPr/>
        </p:nvSpPr>
        <p:spPr>
          <a:xfrm>
            <a:off x="6460808" y="5816600"/>
            <a:ext cx="50166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34D3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First platform tool live. Credibility established.</a:t>
            </a:r>
            <a:endParaRPr lang="en-US" sz="1496" dirty="0"/>
          </a:p>
        </p:txBody>
      </p:sp>
      <p:sp>
        <p:nvSpPr>
          <p:cNvPr id="39" name="Text 27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40" name="Text 28"/>
          <p:cNvSpPr txBox="1"/>
          <p:nvPr/>
        </p:nvSpPr>
        <p:spPr>
          <a:xfrm>
            <a:off x="8519398" y="6426200"/>
            <a:ext cx="3236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2: Tool Consolidation Strategy</a:t>
            </a:r>
            <a:endParaRPr lang="en-US" sz="1496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2147268" cy="279400"/>
          </a:xfrm>
          <a:prstGeom prst="roundRect">
            <a:avLst>
              <a:gd name="adj" fmla="val 9653097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18939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 · Phases 2 &amp; 3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653998" y="203200"/>
            <a:ext cx="40475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Consolidation Begins</a:t>
            </a:r>
            <a:endParaRPr lang="en-US" sz="2993" dirty="0"/>
          </a:p>
        </p:txBody>
      </p:sp>
      <p:sp>
        <p:nvSpPr>
          <p:cNvPr id="5" name="Shape 3"/>
          <p:cNvSpPr/>
          <p:nvPr/>
        </p:nvSpPr>
        <p:spPr>
          <a:xfrm>
            <a:off x="405384" y="685800"/>
            <a:ext cx="5574030" cy="5638800"/>
          </a:xfrm>
          <a:prstGeom prst="roundRect">
            <a:avLst>
              <a:gd name="adj" fmla="val 222"/>
            </a:avLst>
          </a:prstGeom>
          <a:solidFill>
            <a:srgbClr val="1E293B"/>
          </a:solidFill>
          <a:ln w="25337">
            <a:solidFill>
              <a:srgbClr val="34D3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" y="914400"/>
            <a:ext cx="950119" cy="279400"/>
          </a:xfrm>
          <a:prstGeom prst="roundRect">
            <a:avLst>
              <a:gd name="adj" fmla="val 21816000"/>
            </a:avLst>
          </a:prstGeom>
          <a:solidFill>
            <a:srgbClr val="34D39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9422" y="939800"/>
            <a:ext cx="747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2</a:t>
            </a:r>
            <a:endParaRPr lang="en-US" sz="1496" dirty="0"/>
          </a:p>
        </p:txBody>
      </p:sp>
      <p:sp>
        <p:nvSpPr>
          <p:cNvPr id="8" name="Text 6"/>
          <p:cNvSpPr txBox="1"/>
          <p:nvPr/>
        </p:nvSpPr>
        <p:spPr>
          <a:xfrm>
            <a:off x="1634204" y="927100"/>
            <a:ext cx="22106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Low-Risk Migration</a:t>
            </a:r>
            <a:endParaRPr lang="en-US" sz="179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" y="1295400"/>
            <a:ext cx="126683" cy="1270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85432" y="1244600"/>
            <a:ext cx="1095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Months 5–6</a:t>
            </a:r>
            <a:endParaRPr lang="en-US" sz="1496" dirty="0"/>
          </a:p>
        </p:txBody>
      </p:sp>
      <p:sp>
        <p:nvSpPr>
          <p:cNvPr id="11" name="Text 8"/>
          <p:cNvSpPr txBox="1"/>
          <p:nvPr/>
        </p:nvSpPr>
        <p:spPr>
          <a:xfrm>
            <a:off x="608076" y="1574800"/>
            <a:ext cx="51686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i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Consolidate scripts and utilities. Low risk, visible progress.</a:t>
            </a:r>
            <a:endParaRPr lang="en-US" sz="1496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8076" y="2171700"/>
            <a:ext cx="152019" cy="1524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36105" y="2133600"/>
            <a:ext cx="39524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Migrate ad-hoc scripts to shared platform</a:t>
            </a:r>
            <a:endParaRPr lang="en-US" sz="1496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8076" y="2476500"/>
            <a:ext cx="152019" cy="1524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6105" y="2438400"/>
            <a:ext cx="3300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Standardize APIs and data formats</a:t>
            </a:r>
            <a:endParaRPr lang="en-US" sz="1496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8076" y="2781300"/>
            <a:ext cx="152019" cy="152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6105" y="2743200"/>
            <a:ext cx="281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Move to shared infrastructure</a:t>
            </a:r>
            <a:endParaRPr lang="en-US" sz="1496" dirty="0"/>
          </a:p>
        </p:txBody>
      </p:sp>
      <p:sp>
        <p:nvSpPr>
          <p:cNvPr id="18" name="Shape 12"/>
          <p:cNvSpPr/>
          <p:nvPr/>
        </p:nvSpPr>
        <p:spPr>
          <a:xfrm>
            <a:off x="608076" y="5740400"/>
            <a:ext cx="5168646" cy="381000"/>
          </a:xfrm>
          <a:prstGeom prst="roundRect">
            <a:avLst>
              <a:gd name="adj" fmla="val 2353"/>
            </a:avLst>
          </a:prstGeom>
          <a:solidFill>
            <a:srgbClr val="34D399">
              <a:alpha val="15000"/>
            </a:srgbClr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684086" y="5816600"/>
            <a:ext cx="50166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34D3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Multiple tools unified. Developer productivity up.</a:t>
            </a:r>
            <a:endParaRPr lang="en-US" sz="1496" dirty="0"/>
          </a:p>
        </p:txBody>
      </p:sp>
      <p:sp>
        <p:nvSpPr>
          <p:cNvPr id="20" name="Shape 14"/>
          <p:cNvSpPr/>
          <p:nvPr/>
        </p:nvSpPr>
        <p:spPr>
          <a:xfrm>
            <a:off x="6182106" y="685800"/>
            <a:ext cx="5574030" cy="5638800"/>
          </a:xfrm>
          <a:prstGeom prst="roundRect">
            <a:avLst>
              <a:gd name="adj" fmla="val 222"/>
            </a:avLst>
          </a:prstGeom>
          <a:solidFill>
            <a:srgbClr val="1E293B"/>
          </a:solidFill>
          <a:ln w="25337">
            <a:solidFill>
              <a:srgbClr val="FBBF24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84798" y="914400"/>
            <a:ext cx="950119" cy="279400"/>
          </a:xfrm>
          <a:prstGeom prst="roundRect">
            <a:avLst>
              <a:gd name="adj" fmla="val 21816000"/>
            </a:avLst>
          </a:prstGeom>
          <a:solidFill>
            <a:srgbClr val="FBBF24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486144" y="939800"/>
            <a:ext cx="747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3</a:t>
            </a:r>
            <a:endParaRPr lang="en-US" sz="1496" dirty="0"/>
          </a:p>
        </p:txBody>
      </p:sp>
      <p:sp>
        <p:nvSpPr>
          <p:cNvPr id="23" name="Text 17"/>
          <p:cNvSpPr txBox="1"/>
          <p:nvPr/>
        </p:nvSpPr>
        <p:spPr>
          <a:xfrm>
            <a:off x="7410926" y="927100"/>
            <a:ext cx="220427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Critical Legacy Tool</a:t>
            </a:r>
            <a:endParaRPr lang="en-US" sz="1795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84798" y="1295400"/>
            <a:ext cx="126683" cy="1270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562154" y="1244600"/>
            <a:ext cx="11718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Months 7–10</a:t>
            </a:r>
            <a:endParaRPr lang="en-US" sz="1496" dirty="0"/>
          </a:p>
        </p:txBody>
      </p:sp>
      <p:sp>
        <p:nvSpPr>
          <p:cNvPr id="26" name="Shape 19"/>
          <p:cNvSpPr/>
          <p:nvPr/>
        </p:nvSpPr>
        <p:spPr>
          <a:xfrm>
            <a:off x="6384798" y="1524000"/>
            <a:ext cx="5168646" cy="279400"/>
          </a:xfrm>
          <a:prstGeom prst="roundRect">
            <a:avLst>
              <a:gd name="adj" fmla="val 4010294"/>
            </a:avLst>
          </a:prstGeom>
          <a:solidFill>
            <a:srgbClr val="FBBF24">
              <a:alpha val="20000"/>
            </a:srgbClr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6460808" y="1549400"/>
            <a:ext cx="50166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BBF2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Highest Risk Phase</a:t>
            </a:r>
            <a:endParaRPr lang="en-US" sz="1496" dirty="0"/>
          </a:p>
        </p:txBody>
      </p:sp>
      <p:sp>
        <p:nvSpPr>
          <p:cNvPr id="28" name="Text 21"/>
          <p:cNvSpPr txBox="1"/>
          <p:nvPr/>
        </p:nvSpPr>
        <p:spPr>
          <a:xfrm>
            <a:off x="6384798" y="1879600"/>
            <a:ext cx="51686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i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Reverse-engineer the undocumented tool. Zero regression.</a:t>
            </a:r>
            <a:endParaRPr lang="en-US" sz="1496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384798" y="2476500"/>
            <a:ext cx="152019" cy="1524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612827" y="2438400"/>
            <a:ext cx="4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Capture input/output pairs from production</a:t>
            </a:r>
            <a:endParaRPr lang="en-US" sz="1496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384798" y="2781300"/>
            <a:ext cx="152019" cy="1524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612827" y="2743200"/>
            <a:ext cx="41931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Shadow mode — run old and new in parallel</a:t>
            </a:r>
            <a:endParaRPr lang="en-US" sz="1496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384798" y="3086100"/>
            <a:ext cx="152019" cy="1524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612827" y="3048000"/>
            <a:ext cx="32747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3-stage rollout: 10% → 50% → 100%</a:t>
            </a:r>
            <a:endParaRPr lang="en-US" sz="1496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384798" y="3390900"/>
            <a:ext cx="152019" cy="15240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612827" y="3352800"/>
            <a:ext cx="2850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Instant rollback at every stage</a:t>
            </a:r>
            <a:endParaRPr lang="en-US" sz="1496" dirty="0"/>
          </a:p>
        </p:txBody>
      </p:sp>
      <p:sp>
        <p:nvSpPr>
          <p:cNvPr id="37" name="Shape 26"/>
          <p:cNvSpPr/>
          <p:nvPr/>
        </p:nvSpPr>
        <p:spPr>
          <a:xfrm>
            <a:off x="6384798" y="5740400"/>
            <a:ext cx="5168646" cy="381000"/>
          </a:xfrm>
          <a:prstGeom prst="roundRect">
            <a:avLst>
              <a:gd name="adj" fmla="val 2353"/>
            </a:avLst>
          </a:prstGeom>
          <a:solidFill>
            <a:srgbClr val="34D399">
              <a:alpha val="15000"/>
            </a:srgbClr>
          </a:solidFill>
          <a:ln/>
        </p:spPr>
      </p:sp>
      <p:sp>
        <p:nvSpPr>
          <p:cNvPr id="38" name="Text 27"/>
          <p:cNvSpPr txBox="1"/>
          <p:nvPr/>
        </p:nvSpPr>
        <p:spPr>
          <a:xfrm>
            <a:off x="6460808" y="5816600"/>
            <a:ext cx="50166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34D3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Legacy tool replaced without a single regression.</a:t>
            </a:r>
            <a:endParaRPr lang="en-US" sz="1496" dirty="0"/>
          </a:p>
        </p:txBody>
      </p:sp>
      <p:sp>
        <p:nvSpPr>
          <p:cNvPr id="39" name="Text 28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40" name="Text 29"/>
          <p:cNvSpPr txBox="1"/>
          <p:nvPr/>
        </p:nvSpPr>
        <p:spPr>
          <a:xfrm>
            <a:off x="8519398" y="6426200"/>
            <a:ext cx="3236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2: Tool Consolidation Strategy</a:t>
            </a:r>
            <a:endParaRPr lang="en-US" sz="1496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1716548" cy="279400"/>
          </a:xfrm>
          <a:prstGeom prst="roundRect">
            <a:avLst>
              <a:gd name="adj" fmla="val 12075277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1463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 · Phase 3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223278" y="203200"/>
            <a:ext cx="580839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Safe Legacy Tool Replacement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405384" y="2120900"/>
            <a:ext cx="241448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i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Poorly documented. Business-critical. Can't break it.</a:t>
            </a:r>
            <a:endParaRPr lang="en-US" sz="1795" dirty="0"/>
          </a:p>
        </p:txBody>
      </p:sp>
      <p:sp>
        <p:nvSpPr>
          <p:cNvPr id="6" name="Shape 4"/>
          <p:cNvSpPr/>
          <p:nvPr/>
        </p:nvSpPr>
        <p:spPr>
          <a:xfrm>
            <a:off x="405384" y="3035300"/>
            <a:ext cx="2414489" cy="990600"/>
          </a:xfrm>
          <a:prstGeom prst="roundRect">
            <a:avLst>
              <a:gd name="adj" fmla="val 2906"/>
            </a:avLst>
          </a:prstGeom>
          <a:solidFill>
            <a:srgbClr val="FBBF24">
              <a:alpha val="1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2067" y="3175000"/>
            <a:ext cx="202692" cy="203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10768" y="3162300"/>
            <a:ext cx="9121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BBF2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High Risk</a:t>
            </a:r>
            <a:endParaRPr lang="en-US" sz="1496" dirty="0"/>
          </a:p>
        </p:txBody>
      </p:sp>
      <p:sp>
        <p:nvSpPr>
          <p:cNvPr id="9" name="Text 6"/>
          <p:cNvSpPr txBox="1"/>
          <p:nvPr/>
        </p:nvSpPr>
        <p:spPr>
          <a:xfrm>
            <a:off x="532067" y="3441700"/>
            <a:ext cx="2161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documentation, no tests, active usage</a:t>
            </a:r>
            <a:endParaRPr lang="en-US" sz="1496" dirty="0"/>
          </a:p>
        </p:txBody>
      </p:sp>
      <p:sp>
        <p:nvSpPr>
          <p:cNvPr id="10" name="Shape 7"/>
          <p:cNvSpPr/>
          <p:nvPr/>
        </p:nvSpPr>
        <p:spPr>
          <a:xfrm>
            <a:off x="405384" y="4178300"/>
            <a:ext cx="2414489" cy="711200"/>
          </a:xfrm>
          <a:prstGeom prst="roundRect">
            <a:avLst>
              <a:gd name="adj" fmla="val 4048"/>
            </a:avLst>
          </a:prstGeom>
          <a:solidFill>
            <a:srgbClr val="6366F1">
              <a:alpha val="15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32067" y="4305300"/>
            <a:ext cx="2161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Prove it works before replacing it.</a:t>
            </a:r>
            <a:endParaRPr lang="en-US" sz="1496" dirty="0"/>
          </a:p>
        </p:txBody>
      </p:sp>
      <p:sp>
        <p:nvSpPr>
          <p:cNvPr id="12" name="Shape 9"/>
          <p:cNvSpPr/>
          <p:nvPr/>
        </p:nvSpPr>
        <p:spPr>
          <a:xfrm>
            <a:off x="3022565" y="685800"/>
            <a:ext cx="1841350" cy="5638800"/>
          </a:xfrm>
          <a:prstGeom prst="roundRect">
            <a:avLst>
              <a:gd name="adj" fmla="val 671"/>
            </a:avLst>
          </a:prstGeom>
          <a:solidFill>
            <a:srgbClr val="33415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6508" y="2501900"/>
            <a:ext cx="253365" cy="2540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80800" y="2832100"/>
            <a:ext cx="92478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Capture</a:t>
            </a:r>
            <a:endParaRPr lang="en-US" sz="1795" dirty="0"/>
          </a:p>
        </p:txBody>
      </p:sp>
      <p:sp>
        <p:nvSpPr>
          <p:cNvPr id="15" name="Text 11"/>
          <p:cNvSpPr txBox="1"/>
          <p:nvPr/>
        </p:nvSpPr>
        <p:spPr>
          <a:xfrm>
            <a:off x="3149248" y="3136900"/>
            <a:ext cx="158798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Record production input/output pairs as behavioral test cases</a:t>
            </a:r>
            <a:endParaRPr lang="en-US" sz="1496" dirty="0"/>
          </a:p>
        </p:txBody>
      </p:sp>
      <p:sp>
        <p:nvSpPr>
          <p:cNvPr id="16" name="Text 12"/>
          <p:cNvSpPr txBox="1"/>
          <p:nvPr/>
        </p:nvSpPr>
        <p:spPr>
          <a:xfrm>
            <a:off x="4939925" y="3352800"/>
            <a:ext cx="3040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</a:t>
            </a:r>
            <a:endParaRPr lang="en-US" sz="2394" dirty="0"/>
          </a:p>
        </p:txBody>
      </p:sp>
      <p:sp>
        <p:nvSpPr>
          <p:cNvPr id="17" name="Shape 13"/>
          <p:cNvSpPr/>
          <p:nvPr/>
        </p:nvSpPr>
        <p:spPr>
          <a:xfrm>
            <a:off x="5319972" y="685800"/>
            <a:ext cx="1841350" cy="5638800"/>
          </a:xfrm>
          <a:prstGeom prst="roundRect">
            <a:avLst>
              <a:gd name="adj" fmla="val 671"/>
            </a:avLst>
          </a:prstGeom>
          <a:solidFill>
            <a:srgbClr val="33415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13915" y="2489200"/>
            <a:ext cx="253365" cy="2540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46655" y="2819400"/>
            <a:ext cx="158798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Shadow Mode</a:t>
            </a:r>
            <a:endParaRPr lang="en-US" sz="1795" dirty="0"/>
          </a:p>
        </p:txBody>
      </p:sp>
      <p:sp>
        <p:nvSpPr>
          <p:cNvPr id="20" name="Text 15"/>
          <p:cNvSpPr txBox="1"/>
          <p:nvPr/>
        </p:nvSpPr>
        <p:spPr>
          <a:xfrm>
            <a:off x="5446655" y="3378200"/>
            <a:ext cx="158798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Run new implementation in parallel — compare outputs</a:t>
            </a:r>
            <a:endParaRPr lang="en-US" sz="1496" dirty="0"/>
          </a:p>
        </p:txBody>
      </p:sp>
      <p:sp>
        <p:nvSpPr>
          <p:cNvPr id="21" name="Text 16"/>
          <p:cNvSpPr txBox="1"/>
          <p:nvPr/>
        </p:nvSpPr>
        <p:spPr>
          <a:xfrm>
            <a:off x="7237332" y="3352800"/>
            <a:ext cx="3040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</a:t>
            </a:r>
            <a:endParaRPr lang="en-US" sz="2394" dirty="0"/>
          </a:p>
        </p:txBody>
      </p:sp>
      <p:sp>
        <p:nvSpPr>
          <p:cNvPr id="22" name="Shape 17"/>
          <p:cNvSpPr/>
          <p:nvPr/>
        </p:nvSpPr>
        <p:spPr>
          <a:xfrm>
            <a:off x="7617379" y="685800"/>
            <a:ext cx="1841350" cy="5638800"/>
          </a:xfrm>
          <a:prstGeom prst="roundRect">
            <a:avLst>
              <a:gd name="adj" fmla="val 671"/>
            </a:avLst>
          </a:prstGeom>
          <a:solidFill>
            <a:srgbClr val="33415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11322" y="2686050"/>
            <a:ext cx="253365" cy="2540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744062" y="3016250"/>
            <a:ext cx="158798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Graduated Rollout</a:t>
            </a:r>
            <a:endParaRPr lang="en-US" sz="1795" dirty="0"/>
          </a:p>
        </p:txBody>
      </p:sp>
      <p:sp>
        <p:nvSpPr>
          <p:cNvPr id="25" name="Text 19"/>
          <p:cNvSpPr txBox="1"/>
          <p:nvPr/>
        </p:nvSpPr>
        <p:spPr>
          <a:xfrm>
            <a:off x="7744062" y="3638550"/>
            <a:ext cx="15879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10% → 50% → 100% — monitor at each step</a:t>
            </a:r>
            <a:endParaRPr lang="en-US" sz="1496" dirty="0"/>
          </a:p>
        </p:txBody>
      </p:sp>
      <p:sp>
        <p:nvSpPr>
          <p:cNvPr id="26" name="Text 20"/>
          <p:cNvSpPr txBox="1"/>
          <p:nvPr/>
        </p:nvSpPr>
        <p:spPr>
          <a:xfrm>
            <a:off x="9534739" y="3352800"/>
            <a:ext cx="3040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</a:t>
            </a:r>
            <a:endParaRPr lang="en-US" sz="2394" dirty="0"/>
          </a:p>
        </p:txBody>
      </p:sp>
      <p:sp>
        <p:nvSpPr>
          <p:cNvPr id="27" name="Shape 21"/>
          <p:cNvSpPr/>
          <p:nvPr/>
        </p:nvSpPr>
        <p:spPr>
          <a:xfrm>
            <a:off x="9914786" y="685800"/>
            <a:ext cx="1841350" cy="5638800"/>
          </a:xfrm>
          <a:prstGeom prst="roundRect">
            <a:avLst>
              <a:gd name="adj" fmla="val 671"/>
            </a:avLst>
          </a:prstGeom>
          <a:solidFill>
            <a:srgbClr val="334155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708729" y="2686050"/>
            <a:ext cx="253365" cy="2540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041469" y="3016250"/>
            <a:ext cx="158798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Validate &amp; Retire</a:t>
            </a:r>
            <a:endParaRPr lang="en-US" sz="1795" dirty="0"/>
          </a:p>
        </p:txBody>
      </p:sp>
      <p:sp>
        <p:nvSpPr>
          <p:cNvPr id="30" name="Text 23"/>
          <p:cNvSpPr txBox="1"/>
          <p:nvPr/>
        </p:nvSpPr>
        <p:spPr>
          <a:xfrm>
            <a:off x="10041469" y="3638550"/>
            <a:ext cx="15879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Only retire old tool after 100% validation</a:t>
            </a:r>
            <a:endParaRPr lang="en-US" sz="1496" dirty="0"/>
          </a:p>
        </p:txBody>
      </p:sp>
      <p:sp>
        <p:nvSpPr>
          <p:cNvPr id="31" name="Text 24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32" name="Text 25"/>
          <p:cNvSpPr txBox="1"/>
          <p:nvPr/>
        </p:nvSpPr>
        <p:spPr>
          <a:xfrm>
            <a:off x="8519398" y="6426200"/>
            <a:ext cx="3236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2: Tool Consolidation Strategy</a:t>
            </a:r>
            <a:endParaRPr lang="en-US" sz="1496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1735550" cy="279400"/>
          </a:xfrm>
          <a:prstGeom prst="roundRect">
            <a:avLst>
              <a:gd name="adj" fmla="val 11943066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1482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 · Phase 4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242280" y="203200"/>
            <a:ext cx="62897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Desktop Migration (Months 11–16)</a:t>
            </a:r>
            <a:endParaRPr lang="en-US" sz="2993" dirty="0"/>
          </a:p>
        </p:txBody>
      </p:sp>
      <p:sp>
        <p:nvSpPr>
          <p:cNvPr id="5" name="Shape 3"/>
          <p:cNvSpPr/>
          <p:nvPr/>
        </p:nvSpPr>
        <p:spPr>
          <a:xfrm>
            <a:off x="405384" y="685800"/>
            <a:ext cx="5776722" cy="5638800"/>
          </a:xfrm>
          <a:prstGeom prst="roundRect">
            <a:avLst>
              <a:gd name="adj" fmla="val 213"/>
            </a:avLst>
          </a:prstGeom>
          <a:solidFill>
            <a:srgbClr val="1E293B"/>
          </a:solidFill>
          <a:ln w="25337">
            <a:solidFill>
              <a:srgbClr val="F472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" y="914400"/>
            <a:ext cx="969121" cy="279400"/>
          </a:xfrm>
          <a:prstGeom prst="roundRect">
            <a:avLst>
              <a:gd name="adj" fmla="val 21388235"/>
            </a:avLst>
          </a:prstGeom>
          <a:solidFill>
            <a:srgbClr val="F472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9422" y="939800"/>
            <a:ext cx="7664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4</a:t>
            </a:r>
            <a:endParaRPr lang="en-US" sz="1496" dirty="0"/>
          </a:p>
        </p:txBody>
      </p:sp>
      <p:sp>
        <p:nvSpPr>
          <p:cNvPr id="8" name="Text 6"/>
          <p:cNvSpPr txBox="1"/>
          <p:nvPr/>
        </p:nvSpPr>
        <p:spPr>
          <a:xfrm>
            <a:off x="1653207" y="927100"/>
            <a:ext cx="213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Desktop Migration</a:t>
            </a:r>
            <a:endParaRPr lang="en-US" sz="1795" dirty="0"/>
          </a:p>
        </p:txBody>
      </p:sp>
      <p:sp>
        <p:nvSpPr>
          <p:cNvPr id="9" name="Text 7"/>
          <p:cNvSpPr txBox="1"/>
          <p:nvPr/>
        </p:nvSpPr>
        <p:spPr>
          <a:xfrm>
            <a:off x="608076" y="1244600"/>
            <a:ext cx="537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i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Migrate desktop apps without disrupting familiar workflows.</a:t>
            </a:r>
            <a:endParaRPr lang="en-US" sz="1496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" y="1866900"/>
            <a:ext cx="152019" cy="1524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36105" y="1828800"/>
            <a:ext cx="3046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Preserve familiar UI/UX patterns</a:t>
            </a:r>
            <a:endParaRPr lang="en-US" sz="1496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8076" y="2197100"/>
            <a:ext cx="152019" cy="1524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36105" y="2159000"/>
            <a:ext cx="35217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Gradual feature parity — no big bang</a:t>
            </a:r>
            <a:endParaRPr lang="en-US" sz="1496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8076" y="2527300"/>
            <a:ext cx="152019" cy="1524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6105" y="2489200"/>
            <a:ext cx="24196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Designer-led beta testing</a:t>
            </a:r>
            <a:endParaRPr lang="en-US" sz="1496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8076" y="2857500"/>
            <a:ext cx="152019" cy="152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6105" y="2819400"/>
            <a:ext cx="286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Rollback available throughout</a:t>
            </a:r>
            <a:endParaRPr lang="en-US" sz="1496" dirty="0"/>
          </a:p>
        </p:txBody>
      </p:sp>
      <p:sp>
        <p:nvSpPr>
          <p:cNvPr id="18" name="Shape 12"/>
          <p:cNvSpPr/>
          <p:nvPr/>
        </p:nvSpPr>
        <p:spPr>
          <a:xfrm>
            <a:off x="608076" y="5740400"/>
            <a:ext cx="5371338" cy="381000"/>
          </a:xfrm>
          <a:prstGeom prst="roundRect">
            <a:avLst>
              <a:gd name="adj" fmla="val 2264"/>
            </a:avLst>
          </a:prstGeom>
          <a:solidFill>
            <a:srgbClr val="F472B6">
              <a:alpha val="15000"/>
            </a:srgbClr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684086" y="5816600"/>
            <a:ext cx="52193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34D3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Designers adopt voluntarily, not by mandate.</a:t>
            </a:r>
            <a:endParaRPr lang="en-US" sz="1496" dirty="0"/>
          </a:p>
        </p:txBody>
      </p:sp>
      <p:sp>
        <p:nvSpPr>
          <p:cNvPr id="20" name="Text 14"/>
          <p:cNvSpPr txBox="1"/>
          <p:nvPr/>
        </p:nvSpPr>
        <p:spPr>
          <a:xfrm>
            <a:off x="6384798" y="685800"/>
            <a:ext cx="53713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Change Management</a:t>
            </a:r>
            <a:endParaRPr lang="en-US" sz="1795" dirty="0"/>
          </a:p>
        </p:txBody>
      </p:sp>
      <p:sp>
        <p:nvSpPr>
          <p:cNvPr id="21" name="Shape 15"/>
          <p:cNvSpPr/>
          <p:nvPr/>
        </p:nvSpPr>
        <p:spPr>
          <a:xfrm>
            <a:off x="6384798" y="1066800"/>
            <a:ext cx="5371338" cy="1667867"/>
          </a:xfrm>
          <a:prstGeom prst="roundRect">
            <a:avLst>
              <a:gd name="adj" fmla="val 776"/>
            </a:avLst>
          </a:prstGeom>
          <a:solidFill>
            <a:srgbClr val="334155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36817" y="1773734"/>
            <a:ext cx="253365" cy="2540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16865" y="1557834"/>
            <a:ext cx="46872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Change Champions</a:t>
            </a:r>
            <a:endParaRPr lang="en-US" sz="1496" dirty="0"/>
          </a:p>
        </p:txBody>
      </p:sp>
      <p:sp>
        <p:nvSpPr>
          <p:cNvPr id="24" name="Text 17"/>
          <p:cNvSpPr txBox="1"/>
          <p:nvPr/>
        </p:nvSpPr>
        <p:spPr>
          <a:xfrm>
            <a:off x="6916865" y="1786434"/>
            <a:ext cx="46872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Designers from the team lead adoption internally</a:t>
            </a:r>
            <a:endParaRPr lang="en-US" sz="1496" dirty="0"/>
          </a:p>
        </p:txBody>
      </p:sp>
      <p:sp>
        <p:nvSpPr>
          <p:cNvPr id="25" name="Shape 18"/>
          <p:cNvSpPr/>
          <p:nvPr/>
        </p:nvSpPr>
        <p:spPr>
          <a:xfrm>
            <a:off x="6384798" y="2861667"/>
            <a:ext cx="5371338" cy="1667966"/>
          </a:xfrm>
          <a:prstGeom prst="roundRect">
            <a:avLst>
              <a:gd name="adj" fmla="val 776"/>
            </a:avLst>
          </a:prstGeom>
          <a:solidFill>
            <a:srgbClr val="334155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36817" y="3568601"/>
            <a:ext cx="253365" cy="2540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916865" y="3467001"/>
            <a:ext cx="46872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Muscle Memory Preserved</a:t>
            </a:r>
            <a:endParaRPr lang="en-US" sz="1496" dirty="0"/>
          </a:p>
        </p:txBody>
      </p:sp>
      <p:sp>
        <p:nvSpPr>
          <p:cNvPr id="28" name="Text 20"/>
          <p:cNvSpPr txBox="1"/>
          <p:nvPr/>
        </p:nvSpPr>
        <p:spPr>
          <a:xfrm>
            <a:off x="6916865" y="3695601"/>
            <a:ext cx="46872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Shortcuts, layouts, and workflows carried forward</a:t>
            </a:r>
            <a:endParaRPr lang="en-US" sz="1496" dirty="0"/>
          </a:p>
        </p:txBody>
      </p:sp>
      <p:sp>
        <p:nvSpPr>
          <p:cNvPr id="29" name="Shape 21"/>
          <p:cNvSpPr/>
          <p:nvPr/>
        </p:nvSpPr>
        <p:spPr>
          <a:xfrm>
            <a:off x="6384798" y="4656634"/>
            <a:ext cx="5371338" cy="1667966"/>
          </a:xfrm>
          <a:prstGeom prst="roundRect">
            <a:avLst>
              <a:gd name="adj" fmla="val 776"/>
            </a:avLst>
          </a:prstGeom>
          <a:solidFill>
            <a:srgbClr val="334155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536817" y="5363567"/>
            <a:ext cx="253365" cy="2540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916865" y="5261967"/>
            <a:ext cx="46872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Blackout Periods</a:t>
            </a:r>
            <a:endParaRPr lang="en-US" sz="1496" dirty="0"/>
          </a:p>
        </p:txBody>
      </p:sp>
      <p:sp>
        <p:nvSpPr>
          <p:cNvPr id="32" name="Text 23"/>
          <p:cNvSpPr txBox="1"/>
          <p:nvPr/>
        </p:nvSpPr>
        <p:spPr>
          <a:xfrm>
            <a:off x="6916865" y="5490567"/>
            <a:ext cx="46872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migrations during product launch windows</a:t>
            </a:r>
            <a:endParaRPr lang="en-US" sz="1496" dirty="0"/>
          </a:p>
        </p:txBody>
      </p:sp>
      <p:sp>
        <p:nvSpPr>
          <p:cNvPr id="33" name="Text 24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34" name="Text 25"/>
          <p:cNvSpPr txBox="1"/>
          <p:nvPr/>
        </p:nvSpPr>
        <p:spPr>
          <a:xfrm>
            <a:off x="8519398" y="6426200"/>
            <a:ext cx="3236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2: Tool Consolidation Strategy</a:t>
            </a:r>
            <a:endParaRPr lang="en-US" sz="1496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1716548" cy="279400"/>
          </a:xfrm>
          <a:prstGeom prst="roundRect">
            <a:avLst>
              <a:gd name="adj" fmla="val 12075277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1463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 · Phase 5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223278" y="203200"/>
            <a:ext cx="49089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 Strategy (Months 12–18)</a:t>
            </a:r>
            <a:endParaRPr lang="en-US" sz="2993" dirty="0"/>
          </a:p>
        </p:txBody>
      </p:sp>
      <p:sp>
        <p:nvSpPr>
          <p:cNvPr id="5" name="Text 3"/>
          <p:cNvSpPr txBox="1"/>
          <p:nvPr/>
        </p:nvSpPr>
        <p:spPr>
          <a:xfrm>
            <a:off x="405384" y="2616200"/>
            <a:ext cx="45146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i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 as amplification, not replacement</a:t>
            </a:r>
            <a:endParaRPr lang="en-US" sz="1795" dirty="0"/>
          </a:p>
        </p:txBody>
      </p:sp>
      <p:sp>
        <p:nvSpPr>
          <p:cNvPr id="6" name="Text 4"/>
          <p:cNvSpPr txBox="1"/>
          <p:nvPr/>
        </p:nvSpPr>
        <p:spPr>
          <a:xfrm>
            <a:off x="405384" y="3022600"/>
            <a:ext cx="4514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Measured, tested, designer-vetoed</a:t>
            </a:r>
            <a:endParaRPr lang="en-US" sz="1496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5384" y="3543300"/>
            <a:ext cx="152019" cy="152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33413" y="3505200"/>
            <a:ext cx="20522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A/B test every feature</a:t>
            </a:r>
            <a:endParaRPr lang="en-US" sz="1496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5384" y="3873500"/>
            <a:ext cx="152019" cy="152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33413" y="3835400"/>
            <a:ext cx="2615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Measurable ROI per feature</a:t>
            </a:r>
            <a:endParaRPr lang="en-US" sz="1496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5384" y="4203700"/>
            <a:ext cx="152019" cy="1524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33413" y="4165600"/>
            <a:ext cx="30847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Designer veto on AI suggestions</a:t>
            </a:r>
            <a:endParaRPr lang="en-US" sz="1496" dirty="0"/>
          </a:p>
        </p:txBody>
      </p:sp>
      <p:sp>
        <p:nvSpPr>
          <p:cNvPr id="13" name="Shape 8"/>
          <p:cNvSpPr/>
          <p:nvPr/>
        </p:nvSpPr>
        <p:spPr>
          <a:xfrm>
            <a:off x="5122724" y="685800"/>
            <a:ext cx="6633412" cy="1794867"/>
          </a:xfrm>
          <a:prstGeom prst="roundRect">
            <a:avLst>
              <a:gd name="adj" fmla="val 584"/>
            </a:avLst>
          </a:prstGeom>
          <a:solidFill>
            <a:srgbClr val="1E293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00079" y="1456234"/>
            <a:ext cx="253365" cy="2540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05463" y="1151434"/>
            <a:ext cx="32747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Tier 1 — Low Risk, High Value</a:t>
            </a:r>
            <a:endParaRPr lang="en-US" sz="1795" dirty="0"/>
          </a:p>
        </p:txBody>
      </p:sp>
      <p:sp>
        <p:nvSpPr>
          <p:cNvPr id="16" name="Shape 10"/>
          <p:cNvSpPr/>
          <p:nvPr/>
        </p:nvSpPr>
        <p:spPr>
          <a:xfrm>
            <a:off x="9056215" y="1138734"/>
            <a:ext cx="1000792" cy="279400"/>
          </a:xfrm>
          <a:prstGeom prst="roundRect">
            <a:avLst>
              <a:gd name="adj" fmla="val 20711392"/>
            </a:avLst>
          </a:prstGeom>
          <a:solidFill>
            <a:srgbClr val="34D399">
              <a:alpha val="20000"/>
            </a:srgbClr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9132225" y="1164134"/>
            <a:ext cx="8487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34D3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 Risk</a:t>
            </a:r>
            <a:endParaRPr lang="en-US" sz="1496" dirty="0"/>
          </a:p>
        </p:txBody>
      </p:sp>
      <p:sp>
        <p:nvSpPr>
          <p:cNvPr id="18" name="Shape 12"/>
          <p:cNvSpPr/>
          <p:nvPr/>
        </p:nvSpPr>
        <p:spPr>
          <a:xfrm>
            <a:off x="5705463" y="1468934"/>
            <a:ext cx="1469517" cy="279400"/>
          </a:xfrm>
          <a:prstGeom prst="roundRect">
            <a:avLst>
              <a:gd name="adj" fmla="val 11285"/>
            </a:avLst>
          </a:prstGeom>
          <a:solidFill>
            <a:srgbClr val="334155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5806809" y="1494334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Smart search</a:t>
            </a:r>
            <a:endParaRPr lang="en-US" sz="1496" dirty="0"/>
          </a:p>
        </p:txBody>
      </p:sp>
      <p:sp>
        <p:nvSpPr>
          <p:cNvPr id="20" name="Shape 14"/>
          <p:cNvSpPr/>
          <p:nvPr/>
        </p:nvSpPr>
        <p:spPr>
          <a:xfrm>
            <a:off x="7250990" y="1468934"/>
            <a:ext cx="1488519" cy="279400"/>
          </a:xfrm>
          <a:prstGeom prst="roundRect">
            <a:avLst>
              <a:gd name="adj" fmla="val 11141"/>
            </a:avLst>
          </a:prstGeom>
          <a:solidFill>
            <a:srgbClr val="334155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352336" y="1494334"/>
            <a:ext cx="12858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Auto-tagging</a:t>
            </a:r>
            <a:endParaRPr lang="en-US" sz="1496" dirty="0"/>
          </a:p>
        </p:txBody>
      </p:sp>
      <p:sp>
        <p:nvSpPr>
          <p:cNvPr id="22" name="Text 16"/>
          <p:cNvSpPr txBox="1"/>
          <p:nvPr/>
        </p:nvSpPr>
        <p:spPr>
          <a:xfrm>
            <a:off x="5705463" y="1799134"/>
            <a:ext cx="5898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Start here</a:t>
            </a:r>
            <a:endParaRPr lang="en-US" sz="1496" dirty="0"/>
          </a:p>
        </p:txBody>
      </p:sp>
      <p:sp>
        <p:nvSpPr>
          <p:cNvPr id="23" name="Shape 17"/>
          <p:cNvSpPr/>
          <p:nvPr/>
        </p:nvSpPr>
        <p:spPr>
          <a:xfrm>
            <a:off x="5122724" y="2607667"/>
            <a:ext cx="6633412" cy="1794966"/>
          </a:xfrm>
          <a:prstGeom prst="roundRect">
            <a:avLst>
              <a:gd name="adj" fmla="val 584"/>
            </a:avLst>
          </a:prstGeom>
          <a:solidFill>
            <a:srgbClr val="1E293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300079" y="3378101"/>
            <a:ext cx="253365" cy="2540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705463" y="3073301"/>
            <a:ext cx="326207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Tier 2 — Medium Complexity</a:t>
            </a:r>
            <a:endParaRPr lang="en-US" sz="1795" dirty="0"/>
          </a:p>
        </p:txBody>
      </p:sp>
      <p:sp>
        <p:nvSpPr>
          <p:cNvPr id="26" name="Shape 19"/>
          <p:cNvSpPr/>
          <p:nvPr/>
        </p:nvSpPr>
        <p:spPr>
          <a:xfrm>
            <a:off x="9043547" y="3060601"/>
            <a:ext cx="1406176" cy="279400"/>
          </a:xfrm>
          <a:prstGeom prst="roundRect">
            <a:avLst>
              <a:gd name="adj" fmla="val 14740541"/>
            </a:avLst>
          </a:prstGeom>
          <a:solidFill>
            <a:srgbClr val="FBBF24">
              <a:alpha val="20000"/>
            </a:srgbClr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9119556" y="3086001"/>
            <a:ext cx="12541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BBF2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Medium Risk</a:t>
            </a:r>
            <a:endParaRPr lang="en-US" sz="1496" dirty="0"/>
          </a:p>
        </p:txBody>
      </p:sp>
      <p:sp>
        <p:nvSpPr>
          <p:cNvPr id="28" name="Shape 21"/>
          <p:cNvSpPr/>
          <p:nvPr/>
        </p:nvSpPr>
        <p:spPr>
          <a:xfrm>
            <a:off x="5705463" y="3390801"/>
            <a:ext cx="1849564" cy="279400"/>
          </a:xfrm>
          <a:prstGeom prst="roundRect">
            <a:avLst>
              <a:gd name="adj" fmla="val 8966"/>
            </a:avLst>
          </a:prstGeom>
          <a:solidFill>
            <a:srgbClr val="334155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5806809" y="3416201"/>
            <a:ext cx="1646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 variations</a:t>
            </a:r>
            <a:endParaRPr lang="en-US" sz="1496" dirty="0"/>
          </a:p>
        </p:txBody>
      </p:sp>
      <p:sp>
        <p:nvSpPr>
          <p:cNvPr id="30" name="Shape 23"/>
          <p:cNvSpPr/>
          <p:nvPr/>
        </p:nvSpPr>
        <p:spPr>
          <a:xfrm>
            <a:off x="7631037" y="3390801"/>
            <a:ext cx="2014252" cy="279400"/>
          </a:xfrm>
          <a:prstGeom prst="roundRect">
            <a:avLst>
              <a:gd name="adj" fmla="val 8233"/>
            </a:avLst>
          </a:prstGeom>
          <a:solidFill>
            <a:srgbClr val="334155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7732383" y="3416201"/>
            <a:ext cx="181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Anomaly detection</a:t>
            </a:r>
            <a:endParaRPr lang="en-US" sz="1496" dirty="0"/>
          </a:p>
        </p:txBody>
      </p:sp>
      <p:sp>
        <p:nvSpPr>
          <p:cNvPr id="32" name="Text 25"/>
          <p:cNvSpPr txBox="1"/>
          <p:nvPr/>
        </p:nvSpPr>
        <p:spPr>
          <a:xfrm>
            <a:off x="5705463" y="3721001"/>
            <a:ext cx="5898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Proven demand</a:t>
            </a:r>
            <a:endParaRPr lang="en-US" sz="1496" dirty="0"/>
          </a:p>
        </p:txBody>
      </p:sp>
      <p:sp>
        <p:nvSpPr>
          <p:cNvPr id="33" name="Shape 26"/>
          <p:cNvSpPr/>
          <p:nvPr/>
        </p:nvSpPr>
        <p:spPr>
          <a:xfrm>
            <a:off x="5122724" y="4529634"/>
            <a:ext cx="6633412" cy="1794966"/>
          </a:xfrm>
          <a:prstGeom prst="roundRect">
            <a:avLst>
              <a:gd name="adj" fmla="val 584"/>
            </a:avLst>
          </a:prstGeom>
          <a:solidFill>
            <a:srgbClr val="1E293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300079" y="5300067"/>
            <a:ext cx="253365" cy="2540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705463" y="4995267"/>
            <a:ext cx="24766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Tier 3 — Experimental</a:t>
            </a:r>
            <a:endParaRPr lang="en-US" sz="1795" dirty="0"/>
          </a:p>
        </p:txBody>
      </p:sp>
      <p:sp>
        <p:nvSpPr>
          <p:cNvPr id="36" name="Shape 28"/>
          <p:cNvSpPr/>
          <p:nvPr/>
        </p:nvSpPr>
        <p:spPr>
          <a:xfrm>
            <a:off x="8258115" y="4982567"/>
            <a:ext cx="1102138" cy="279400"/>
          </a:xfrm>
          <a:prstGeom prst="roundRect">
            <a:avLst>
              <a:gd name="adj" fmla="val 18806897"/>
            </a:avLst>
          </a:prstGeom>
          <a:solidFill>
            <a:srgbClr val="A78BFA">
              <a:alpha val="20000"/>
            </a:srgbClr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8334125" y="5007967"/>
            <a:ext cx="9501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Measured</a:t>
            </a:r>
            <a:endParaRPr lang="en-US" sz="1496" dirty="0"/>
          </a:p>
        </p:txBody>
      </p:sp>
      <p:sp>
        <p:nvSpPr>
          <p:cNvPr id="38" name="Shape 30"/>
          <p:cNvSpPr/>
          <p:nvPr/>
        </p:nvSpPr>
        <p:spPr>
          <a:xfrm>
            <a:off x="5705463" y="5312767"/>
            <a:ext cx="1564529" cy="279400"/>
          </a:xfrm>
          <a:prstGeom prst="roundRect">
            <a:avLst>
              <a:gd name="adj" fmla="val 10600"/>
            </a:avLst>
          </a:prstGeom>
          <a:solidFill>
            <a:srgbClr val="334155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5806809" y="5338167"/>
            <a:ext cx="13618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Text-to-design</a:t>
            </a:r>
            <a:endParaRPr lang="en-US" sz="1496" dirty="0"/>
          </a:p>
        </p:txBody>
      </p:sp>
      <p:sp>
        <p:nvSpPr>
          <p:cNvPr id="40" name="Shape 32"/>
          <p:cNvSpPr/>
          <p:nvPr/>
        </p:nvSpPr>
        <p:spPr>
          <a:xfrm>
            <a:off x="7346001" y="5312767"/>
            <a:ext cx="1437846" cy="279400"/>
          </a:xfrm>
          <a:prstGeom prst="roundRect">
            <a:avLst>
              <a:gd name="adj" fmla="val 11534"/>
            </a:avLst>
          </a:prstGeom>
          <a:solidFill>
            <a:srgbClr val="334155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7447347" y="5338167"/>
            <a:ext cx="123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Style transfer</a:t>
            </a:r>
            <a:endParaRPr lang="en-US" sz="1496" dirty="0"/>
          </a:p>
        </p:txBody>
      </p:sp>
      <p:sp>
        <p:nvSpPr>
          <p:cNvPr id="42" name="Text 34"/>
          <p:cNvSpPr txBox="1"/>
          <p:nvPr/>
        </p:nvSpPr>
        <p:spPr>
          <a:xfrm>
            <a:off x="5705463" y="5642967"/>
            <a:ext cx="5898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Only if ROI proven</a:t>
            </a:r>
            <a:endParaRPr lang="en-US" sz="1496" dirty="0"/>
          </a:p>
        </p:txBody>
      </p:sp>
      <p:sp>
        <p:nvSpPr>
          <p:cNvPr id="43" name="Text 35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44" name="Text 36"/>
          <p:cNvSpPr txBox="1"/>
          <p:nvPr/>
        </p:nvSpPr>
        <p:spPr>
          <a:xfrm>
            <a:off x="8519398" y="6426200"/>
            <a:ext cx="3236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2: Tool Consolidation Strategy</a:t>
            </a:r>
            <a:endParaRPr lang="en-US" sz="1496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3072051" cy="279400"/>
          </a:xfrm>
          <a:prstGeom prst="roundRect">
            <a:avLst>
              <a:gd name="adj" fmla="val 6747216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28186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 · Change Management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3578781" y="203200"/>
            <a:ext cx="674584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Meeting Designers Where They Are</a:t>
            </a:r>
            <a:endParaRPr lang="en-US" sz="2993" dirty="0"/>
          </a:p>
        </p:txBody>
      </p:sp>
      <p:sp>
        <p:nvSpPr>
          <p:cNvPr id="5" name="Shape 3"/>
          <p:cNvSpPr/>
          <p:nvPr/>
        </p:nvSpPr>
        <p:spPr>
          <a:xfrm>
            <a:off x="405384" y="685800"/>
            <a:ext cx="11350752" cy="482600"/>
          </a:xfrm>
          <a:prstGeom prst="roundRect">
            <a:avLst>
              <a:gd name="adj" fmla="val 1269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2067" y="812800"/>
            <a:ext cx="54220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Designer Concern</a:t>
            </a:r>
            <a:endParaRPr lang="en-US" sz="1496" dirty="0"/>
          </a:p>
        </p:txBody>
      </p:sp>
      <p:sp>
        <p:nvSpPr>
          <p:cNvPr id="7" name="Text 5"/>
          <p:cNvSpPr txBox="1"/>
          <p:nvPr/>
        </p:nvSpPr>
        <p:spPr>
          <a:xfrm>
            <a:off x="6207443" y="812800"/>
            <a:ext cx="54220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Our Response</a:t>
            </a:r>
            <a:endParaRPr lang="en-US" sz="1496" dirty="0"/>
          </a:p>
        </p:txBody>
      </p:sp>
      <p:sp>
        <p:nvSpPr>
          <p:cNvPr id="8" name="Shape 6"/>
          <p:cNvSpPr/>
          <p:nvPr/>
        </p:nvSpPr>
        <p:spPr>
          <a:xfrm>
            <a:off x="405384" y="1168400"/>
            <a:ext cx="11350752" cy="1031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05384" y="1168400"/>
            <a:ext cx="5681710" cy="103118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2067" y="1569641"/>
            <a:ext cx="2045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FBBF2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“I'll lose my workflow”</a:t>
            </a:r>
            <a:endParaRPr lang="en-US" sz="1496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3777" y="1607741"/>
            <a:ext cx="152019" cy="1524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441805" y="1455341"/>
            <a:ext cx="5187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Preserve shortcuts, layouts, and muscle memory — we studied them first</a:t>
            </a:r>
            <a:endParaRPr lang="en-US" sz="1496" dirty="0"/>
          </a:p>
        </p:txBody>
      </p:sp>
      <p:sp>
        <p:nvSpPr>
          <p:cNvPr id="13" name="Shape 10"/>
          <p:cNvSpPr/>
          <p:nvPr/>
        </p:nvSpPr>
        <p:spPr>
          <a:xfrm>
            <a:off x="405384" y="2199580"/>
            <a:ext cx="11350752" cy="10312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1"/>
          <p:cNvSpPr/>
          <p:nvPr/>
        </p:nvSpPr>
        <p:spPr>
          <a:xfrm>
            <a:off x="405384" y="2199580"/>
            <a:ext cx="5681710" cy="103128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2067" y="2600920"/>
            <a:ext cx="286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FBBF2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“What if the new tool breaks?”</a:t>
            </a:r>
            <a:endParaRPr lang="en-US" sz="1496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3777" y="2639020"/>
            <a:ext cx="152019" cy="1524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441805" y="2486620"/>
            <a:ext cx="5187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Instant rollback — old tool stays live throughout migration</a:t>
            </a:r>
            <a:endParaRPr lang="en-US" sz="1496" dirty="0"/>
          </a:p>
        </p:txBody>
      </p:sp>
      <p:sp>
        <p:nvSpPr>
          <p:cNvPr id="18" name="Shape 14"/>
          <p:cNvSpPr/>
          <p:nvPr/>
        </p:nvSpPr>
        <p:spPr>
          <a:xfrm>
            <a:off x="405384" y="3230860"/>
            <a:ext cx="11350752" cy="1031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5"/>
          <p:cNvSpPr/>
          <p:nvPr/>
        </p:nvSpPr>
        <p:spPr>
          <a:xfrm>
            <a:off x="405384" y="3230860"/>
            <a:ext cx="5681710" cy="103118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32067" y="3632101"/>
            <a:ext cx="18432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FBBF2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“I wasn't consulted”</a:t>
            </a:r>
            <a:endParaRPr lang="en-US" sz="1496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3777" y="3670201"/>
            <a:ext cx="152019" cy="1524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441805" y="3517801"/>
            <a:ext cx="5187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Designer advisory board from Day 1 — co-designed, not imposed</a:t>
            </a:r>
            <a:endParaRPr lang="en-US" sz="1496" dirty="0"/>
          </a:p>
        </p:txBody>
      </p:sp>
      <p:sp>
        <p:nvSpPr>
          <p:cNvPr id="23" name="Shape 18"/>
          <p:cNvSpPr/>
          <p:nvPr/>
        </p:nvSpPr>
        <p:spPr>
          <a:xfrm>
            <a:off x="405384" y="4262041"/>
            <a:ext cx="11350752" cy="10312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Shape 19"/>
          <p:cNvSpPr/>
          <p:nvPr/>
        </p:nvSpPr>
        <p:spPr>
          <a:xfrm>
            <a:off x="405384" y="4262041"/>
            <a:ext cx="5681710" cy="103128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32067" y="4663380"/>
            <a:ext cx="23056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FBBF2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“Not during our launch!”</a:t>
            </a:r>
            <a:endParaRPr lang="en-US" sz="1496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3777" y="4701480"/>
            <a:ext cx="152019" cy="1524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441805" y="4549080"/>
            <a:ext cx="5187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Blackout periods enforced — no migrations during key launch windows</a:t>
            </a:r>
            <a:endParaRPr lang="en-US" sz="1496" dirty="0"/>
          </a:p>
        </p:txBody>
      </p:sp>
      <p:sp>
        <p:nvSpPr>
          <p:cNvPr id="28" name="Shape 22"/>
          <p:cNvSpPr/>
          <p:nvPr/>
        </p:nvSpPr>
        <p:spPr>
          <a:xfrm>
            <a:off x="405384" y="5293320"/>
            <a:ext cx="11350752" cy="103128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9" name="Shape 23"/>
          <p:cNvSpPr/>
          <p:nvPr/>
        </p:nvSpPr>
        <p:spPr>
          <a:xfrm>
            <a:off x="405384" y="5293320"/>
            <a:ext cx="5681710" cy="103128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32067" y="5694660"/>
            <a:ext cx="1817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FBBF2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“AI will replace me”</a:t>
            </a:r>
            <a:endParaRPr lang="en-US" sz="1496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13777" y="5732760"/>
            <a:ext cx="152019" cy="1524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441805" y="5580360"/>
            <a:ext cx="5187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 amplifies, never replaces. Designer veto on all AI suggestions</a:t>
            </a:r>
            <a:endParaRPr lang="en-US" sz="1496" dirty="0"/>
          </a:p>
        </p:txBody>
      </p:sp>
      <p:sp>
        <p:nvSpPr>
          <p:cNvPr id="33" name="Text 26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34" name="Text 27"/>
          <p:cNvSpPr txBox="1"/>
          <p:nvPr/>
        </p:nvSpPr>
        <p:spPr>
          <a:xfrm>
            <a:off x="8519398" y="6426200"/>
            <a:ext cx="3236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2: Tool Consolidation Strategy</a:t>
            </a:r>
            <a:endParaRPr lang="en-US" sz="1496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384" y="254000"/>
            <a:ext cx="2482977" cy="279400"/>
          </a:xfrm>
          <a:prstGeom prst="roundRect">
            <a:avLst>
              <a:gd name="adj" fmla="val 8347959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2067" y="279400"/>
            <a:ext cx="2229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 · Success Metrics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2989707" y="203200"/>
            <a:ext cx="51876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We Know It's Working</a:t>
            </a:r>
            <a:endParaRPr lang="en-US" sz="2993" dirty="0"/>
          </a:p>
        </p:txBody>
      </p:sp>
      <p:sp>
        <p:nvSpPr>
          <p:cNvPr id="5" name="Shape 3"/>
          <p:cNvSpPr/>
          <p:nvPr/>
        </p:nvSpPr>
        <p:spPr>
          <a:xfrm>
            <a:off x="405384" y="685800"/>
            <a:ext cx="2742676" cy="1574800"/>
          </a:xfrm>
          <a:prstGeom prst="roundRect">
            <a:avLst>
              <a:gd name="adj" fmla="val 1609"/>
            </a:avLst>
          </a:prstGeom>
          <a:solidFill>
            <a:srgbClr val="33415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75376" y="812800"/>
            <a:ext cx="202692" cy="203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24307" y="1066800"/>
            <a:ext cx="1304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91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99.9%</a:t>
            </a:r>
            <a:endParaRPr lang="en-US" sz="3591" dirty="0"/>
          </a:p>
        </p:txBody>
      </p:sp>
      <p:sp>
        <p:nvSpPr>
          <p:cNvPr id="8" name="Text 5"/>
          <p:cNvSpPr txBox="1"/>
          <p:nvPr/>
        </p:nvSpPr>
        <p:spPr>
          <a:xfrm>
            <a:off x="1206651" y="1574800"/>
            <a:ext cx="11401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Uptime SLA</a:t>
            </a:r>
            <a:endParaRPr lang="en-US" sz="1496" dirty="0"/>
          </a:p>
        </p:txBody>
      </p:sp>
      <p:sp>
        <p:nvSpPr>
          <p:cNvPr id="9" name="Shape 6"/>
          <p:cNvSpPr/>
          <p:nvPr/>
        </p:nvSpPr>
        <p:spPr>
          <a:xfrm>
            <a:off x="1254157" y="1854200"/>
            <a:ext cx="1045131" cy="279400"/>
          </a:xfrm>
          <a:prstGeom prst="roundRect">
            <a:avLst>
              <a:gd name="adj" fmla="val 19832727"/>
            </a:avLst>
          </a:prstGeom>
          <a:solidFill>
            <a:srgbClr val="6366F1">
              <a:alpha val="20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330166" y="1879600"/>
            <a:ext cx="893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Technical</a:t>
            </a:r>
            <a:endParaRPr lang="en-US" sz="1496" dirty="0"/>
          </a:p>
        </p:txBody>
      </p:sp>
      <p:sp>
        <p:nvSpPr>
          <p:cNvPr id="11" name="Shape 8"/>
          <p:cNvSpPr/>
          <p:nvPr/>
        </p:nvSpPr>
        <p:spPr>
          <a:xfrm>
            <a:off x="3274743" y="685800"/>
            <a:ext cx="2742676" cy="1574800"/>
          </a:xfrm>
          <a:prstGeom prst="roundRect">
            <a:avLst>
              <a:gd name="adj" fmla="val 1609"/>
            </a:avLst>
          </a:prstGeom>
          <a:solidFill>
            <a:srgbClr val="33415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44735" y="812800"/>
            <a:ext cx="202692" cy="203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83294" y="1066800"/>
            <a:ext cx="1925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91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NPS &gt;50</a:t>
            </a:r>
            <a:endParaRPr lang="en-US" sz="3591" dirty="0"/>
          </a:p>
        </p:txBody>
      </p:sp>
      <p:sp>
        <p:nvSpPr>
          <p:cNvPr id="14" name="Text 10"/>
          <p:cNvSpPr txBox="1"/>
          <p:nvPr/>
        </p:nvSpPr>
        <p:spPr>
          <a:xfrm>
            <a:off x="3632621" y="1574800"/>
            <a:ext cx="202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Designer Satisfaction</a:t>
            </a:r>
            <a:endParaRPr lang="en-US" sz="1496" dirty="0"/>
          </a:p>
        </p:txBody>
      </p:sp>
      <p:sp>
        <p:nvSpPr>
          <p:cNvPr id="15" name="Shape 11"/>
          <p:cNvSpPr/>
          <p:nvPr/>
        </p:nvSpPr>
        <p:spPr>
          <a:xfrm>
            <a:off x="4041172" y="1854200"/>
            <a:ext cx="1209818" cy="279400"/>
          </a:xfrm>
          <a:prstGeom prst="roundRect">
            <a:avLst>
              <a:gd name="adj" fmla="val 17132984"/>
            </a:avLst>
          </a:prstGeom>
          <a:solidFill>
            <a:srgbClr val="22D3EE">
              <a:alpha val="20000"/>
            </a:srgbClr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117181" y="1879600"/>
            <a:ext cx="10577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Experience</a:t>
            </a:r>
            <a:endParaRPr lang="en-US" sz="1496" dirty="0"/>
          </a:p>
        </p:txBody>
      </p:sp>
      <p:sp>
        <p:nvSpPr>
          <p:cNvPr id="17" name="Shape 13"/>
          <p:cNvSpPr/>
          <p:nvPr/>
        </p:nvSpPr>
        <p:spPr>
          <a:xfrm>
            <a:off x="6144101" y="685800"/>
            <a:ext cx="2742676" cy="1574800"/>
          </a:xfrm>
          <a:prstGeom prst="roundRect">
            <a:avLst>
              <a:gd name="adj" fmla="val 1609"/>
            </a:avLst>
          </a:prstGeom>
          <a:solidFill>
            <a:srgbClr val="33415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14093" y="812800"/>
            <a:ext cx="202692" cy="203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043547" y="1066800"/>
            <a:ext cx="9437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91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30%</a:t>
            </a:r>
            <a:endParaRPr lang="en-US" sz="3591" dirty="0"/>
          </a:p>
        </p:txBody>
      </p:sp>
      <p:sp>
        <p:nvSpPr>
          <p:cNvPr id="20" name="Text 15"/>
          <p:cNvSpPr txBox="1"/>
          <p:nvPr/>
        </p:nvSpPr>
        <p:spPr>
          <a:xfrm>
            <a:off x="6473476" y="1574800"/>
            <a:ext cx="20839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Faster Iteration Cycles</a:t>
            </a:r>
            <a:endParaRPr lang="en-US" sz="1496" dirty="0"/>
          </a:p>
        </p:txBody>
      </p:sp>
      <p:sp>
        <p:nvSpPr>
          <p:cNvPr id="21" name="Shape 16"/>
          <p:cNvSpPr/>
          <p:nvPr/>
        </p:nvSpPr>
        <p:spPr>
          <a:xfrm>
            <a:off x="7015043" y="1854200"/>
            <a:ext cx="1000792" cy="279400"/>
          </a:xfrm>
          <a:prstGeom prst="roundRect">
            <a:avLst>
              <a:gd name="adj" fmla="val 20711392"/>
            </a:avLst>
          </a:prstGeom>
          <a:solidFill>
            <a:srgbClr val="34D399">
              <a:alpha val="20000"/>
            </a:srgbClr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7091053" y="1879600"/>
            <a:ext cx="8487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34D3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Business</a:t>
            </a:r>
            <a:endParaRPr lang="en-US" sz="1496" dirty="0"/>
          </a:p>
        </p:txBody>
      </p:sp>
      <p:sp>
        <p:nvSpPr>
          <p:cNvPr id="23" name="Shape 18"/>
          <p:cNvSpPr/>
          <p:nvPr/>
        </p:nvSpPr>
        <p:spPr>
          <a:xfrm>
            <a:off x="9013460" y="685800"/>
            <a:ext cx="2742676" cy="1574800"/>
          </a:xfrm>
          <a:prstGeom prst="roundRect">
            <a:avLst>
              <a:gd name="adj" fmla="val 1609"/>
            </a:avLst>
          </a:prstGeom>
          <a:solidFill>
            <a:srgbClr val="33415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83452" y="812800"/>
            <a:ext cx="202692" cy="2032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890736" y="1066800"/>
            <a:ext cx="988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91" b="1" dirty="0">
                <a:solidFill>
                  <a:srgbClr val="6366F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40%</a:t>
            </a:r>
            <a:endParaRPr lang="en-US" sz="3591" dirty="0"/>
          </a:p>
        </p:txBody>
      </p:sp>
      <p:sp>
        <p:nvSpPr>
          <p:cNvPr id="26" name="Text 20"/>
          <p:cNvSpPr txBox="1"/>
          <p:nvPr/>
        </p:nvSpPr>
        <p:spPr>
          <a:xfrm>
            <a:off x="9656374" y="1574800"/>
            <a:ext cx="14568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Cost Reduction</a:t>
            </a:r>
            <a:endParaRPr lang="en-US" sz="1496" dirty="0"/>
          </a:p>
        </p:txBody>
      </p:sp>
      <p:sp>
        <p:nvSpPr>
          <p:cNvPr id="27" name="Shape 21"/>
          <p:cNvSpPr/>
          <p:nvPr/>
        </p:nvSpPr>
        <p:spPr>
          <a:xfrm>
            <a:off x="9884402" y="1854200"/>
            <a:ext cx="1000792" cy="279400"/>
          </a:xfrm>
          <a:prstGeom prst="roundRect">
            <a:avLst>
              <a:gd name="adj" fmla="val 20711392"/>
            </a:avLst>
          </a:prstGeom>
          <a:solidFill>
            <a:srgbClr val="34D399">
              <a:alpha val="20000"/>
            </a:srgbClr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9960412" y="1879600"/>
            <a:ext cx="8487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34D39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Business</a:t>
            </a:r>
            <a:endParaRPr lang="en-US" sz="1496" dirty="0"/>
          </a:p>
        </p:txBody>
      </p:sp>
      <p:sp>
        <p:nvSpPr>
          <p:cNvPr id="29" name="Shape 23"/>
          <p:cNvSpPr/>
          <p:nvPr/>
        </p:nvSpPr>
        <p:spPr>
          <a:xfrm>
            <a:off x="405384" y="2413000"/>
            <a:ext cx="1838777" cy="431800"/>
          </a:xfrm>
          <a:prstGeom prst="roundRect">
            <a:avLst>
              <a:gd name="adj" fmla="val 8754"/>
            </a:avLst>
          </a:prstGeom>
          <a:solidFill>
            <a:srgbClr val="6366F1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506730" y="2514600"/>
            <a:ext cx="1636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Category</a:t>
            </a:r>
            <a:endParaRPr lang="en-US" sz="1496" dirty="0"/>
          </a:p>
        </p:txBody>
      </p:sp>
      <p:sp>
        <p:nvSpPr>
          <p:cNvPr id="31" name="Shape 25"/>
          <p:cNvSpPr/>
          <p:nvPr/>
        </p:nvSpPr>
        <p:spPr>
          <a:xfrm>
            <a:off x="2244161" y="2413000"/>
            <a:ext cx="3205859" cy="4318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2345507" y="2514600"/>
            <a:ext cx="30031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Metric</a:t>
            </a:r>
            <a:endParaRPr lang="en-US" sz="1496" dirty="0"/>
          </a:p>
        </p:txBody>
      </p:sp>
      <p:sp>
        <p:nvSpPr>
          <p:cNvPr id="33" name="Shape 27"/>
          <p:cNvSpPr/>
          <p:nvPr/>
        </p:nvSpPr>
        <p:spPr>
          <a:xfrm>
            <a:off x="5450020" y="2413000"/>
            <a:ext cx="2349070" cy="4318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5551366" y="2514600"/>
            <a:ext cx="2146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</a:t>
            </a:r>
            <a:endParaRPr lang="en-US" sz="1496" dirty="0"/>
          </a:p>
        </p:txBody>
      </p:sp>
      <p:sp>
        <p:nvSpPr>
          <p:cNvPr id="35" name="Shape 29"/>
          <p:cNvSpPr/>
          <p:nvPr/>
        </p:nvSpPr>
        <p:spPr>
          <a:xfrm>
            <a:off x="7799089" y="2413000"/>
            <a:ext cx="3957047" cy="431800"/>
          </a:xfrm>
          <a:prstGeom prst="roundRect">
            <a:avLst/>
          </a:prstGeom>
          <a:solidFill>
            <a:srgbClr val="6366F1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7900435" y="2514600"/>
            <a:ext cx="3754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Measurement</a:t>
            </a:r>
            <a:endParaRPr lang="en-US" sz="1496" dirty="0"/>
          </a:p>
        </p:txBody>
      </p:sp>
      <p:sp>
        <p:nvSpPr>
          <p:cNvPr id="37" name="Text 31"/>
          <p:cNvSpPr txBox="1"/>
          <p:nvPr/>
        </p:nvSpPr>
        <p:spPr>
          <a:xfrm>
            <a:off x="481394" y="2921000"/>
            <a:ext cx="1686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Technical</a:t>
            </a:r>
            <a:endParaRPr lang="en-US" sz="1496" dirty="0"/>
          </a:p>
        </p:txBody>
      </p:sp>
      <p:sp>
        <p:nvSpPr>
          <p:cNvPr id="38" name="Text 32"/>
          <p:cNvSpPr txBox="1"/>
          <p:nvPr/>
        </p:nvSpPr>
        <p:spPr>
          <a:xfrm>
            <a:off x="2320170" y="2921000"/>
            <a:ext cx="305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 response time</a:t>
            </a:r>
            <a:endParaRPr lang="en-US" sz="1496" dirty="0"/>
          </a:p>
        </p:txBody>
      </p:sp>
      <p:sp>
        <p:nvSpPr>
          <p:cNvPr id="39" name="Text 33"/>
          <p:cNvSpPr txBox="1"/>
          <p:nvPr/>
        </p:nvSpPr>
        <p:spPr>
          <a:xfrm>
            <a:off x="5526029" y="2921000"/>
            <a:ext cx="219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&lt; 2 seconds</a:t>
            </a:r>
            <a:endParaRPr lang="en-US" sz="1496" dirty="0"/>
          </a:p>
        </p:txBody>
      </p:sp>
      <p:sp>
        <p:nvSpPr>
          <p:cNvPr id="40" name="Text 34"/>
          <p:cNvSpPr txBox="1"/>
          <p:nvPr/>
        </p:nvSpPr>
        <p:spPr>
          <a:xfrm>
            <a:off x="7875099" y="2921000"/>
            <a:ext cx="3805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P99 latency (CloudWatch)</a:t>
            </a:r>
            <a:endParaRPr lang="en-US" sz="1496" dirty="0"/>
          </a:p>
        </p:txBody>
      </p:sp>
      <p:sp>
        <p:nvSpPr>
          <p:cNvPr id="41" name="Text 35"/>
          <p:cNvSpPr txBox="1"/>
          <p:nvPr/>
        </p:nvSpPr>
        <p:spPr>
          <a:xfrm>
            <a:off x="481394" y="3302000"/>
            <a:ext cx="1686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Technical</a:t>
            </a:r>
            <a:endParaRPr lang="en-US" sz="1496" dirty="0"/>
          </a:p>
        </p:txBody>
      </p:sp>
      <p:sp>
        <p:nvSpPr>
          <p:cNvPr id="42" name="Text 36"/>
          <p:cNvSpPr txBox="1"/>
          <p:nvPr/>
        </p:nvSpPr>
        <p:spPr>
          <a:xfrm>
            <a:off x="2320170" y="3302000"/>
            <a:ext cx="305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Render time</a:t>
            </a:r>
            <a:endParaRPr lang="en-US" sz="1496" dirty="0"/>
          </a:p>
        </p:txBody>
      </p:sp>
      <p:sp>
        <p:nvSpPr>
          <p:cNvPr id="43" name="Text 37"/>
          <p:cNvSpPr txBox="1"/>
          <p:nvPr/>
        </p:nvSpPr>
        <p:spPr>
          <a:xfrm>
            <a:off x="5526029" y="3302000"/>
            <a:ext cx="219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&lt; 30 minutes</a:t>
            </a:r>
            <a:endParaRPr lang="en-US" sz="1496" dirty="0"/>
          </a:p>
        </p:txBody>
      </p:sp>
      <p:sp>
        <p:nvSpPr>
          <p:cNvPr id="44" name="Text 38"/>
          <p:cNvSpPr txBox="1"/>
          <p:nvPr/>
        </p:nvSpPr>
        <p:spPr>
          <a:xfrm>
            <a:off x="7875099" y="3302000"/>
            <a:ext cx="3805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Job completion time</a:t>
            </a:r>
            <a:endParaRPr lang="en-US" sz="1496" dirty="0"/>
          </a:p>
        </p:txBody>
      </p:sp>
      <p:sp>
        <p:nvSpPr>
          <p:cNvPr id="45" name="Text 39"/>
          <p:cNvSpPr txBox="1"/>
          <p:nvPr/>
        </p:nvSpPr>
        <p:spPr>
          <a:xfrm>
            <a:off x="481394" y="3683000"/>
            <a:ext cx="1686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Experience</a:t>
            </a:r>
            <a:endParaRPr lang="en-US" sz="1496" dirty="0"/>
          </a:p>
        </p:txBody>
      </p:sp>
      <p:sp>
        <p:nvSpPr>
          <p:cNvPr id="46" name="Text 40"/>
          <p:cNvSpPr txBox="1"/>
          <p:nvPr/>
        </p:nvSpPr>
        <p:spPr>
          <a:xfrm>
            <a:off x="2320170" y="3683000"/>
            <a:ext cx="305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Weekly active users</a:t>
            </a:r>
            <a:endParaRPr lang="en-US" sz="1496" dirty="0"/>
          </a:p>
        </p:txBody>
      </p:sp>
      <p:sp>
        <p:nvSpPr>
          <p:cNvPr id="47" name="Text 41"/>
          <p:cNvSpPr txBox="1"/>
          <p:nvPr/>
        </p:nvSpPr>
        <p:spPr>
          <a:xfrm>
            <a:off x="5526029" y="3683000"/>
            <a:ext cx="219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80% WAU</a:t>
            </a:r>
            <a:endParaRPr lang="en-US" sz="1496" dirty="0"/>
          </a:p>
        </p:txBody>
      </p:sp>
      <p:sp>
        <p:nvSpPr>
          <p:cNvPr id="48" name="Text 42"/>
          <p:cNvSpPr txBox="1"/>
          <p:nvPr/>
        </p:nvSpPr>
        <p:spPr>
          <a:xfrm>
            <a:off x="7875099" y="3683000"/>
            <a:ext cx="3805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Platform analytics</a:t>
            </a:r>
            <a:endParaRPr lang="en-US" sz="1496" dirty="0"/>
          </a:p>
        </p:txBody>
      </p:sp>
      <p:sp>
        <p:nvSpPr>
          <p:cNvPr id="49" name="Text 43"/>
          <p:cNvSpPr txBox="1"/>
          <p:nvPr/>
        </p:nvSpPr>
        <p:spPr>
          <a:xfrm>
            <a:off x="481394" y="4064000"/>
            <a:ext cx="1686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Experience</a:t>
            </a:r>
            <a:endParaRPr lang="en-US" sz="1496" dirty="0"/>
          </a:p>
        </p:txBody>
      </p:sp>
      <p:sp>
        <p:nvSpPr>
          <p:cNvPr id="50" name="Text 44"/>
          <p:cNvSpPr txBox="1"/>
          <p:nvPr/>
        </p:nvSpPr>
        <p:spPr>
          <a:xfrm>
            <a:off x="2320170" y="4064000"/>
            <a:ext cx="305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Voluntary adoption</a:t>
            </a:r>
            <a:endParaRPr lang="en-US" sz="1496" dirty="0"/>
          </a:p>
        </p:txBody>
      </p:sp>
      <p:sp>
        <p:nvSpPr>
          <p:cNvPr id="51" name="Text 45"/>
          <p:cNvSpPr txBox="1"/>
          <p:nvPr/>
        </p:nvSpPr>
        <p:spPr>
          <a:xfrm>
            <a:off x="5526029" y="4064000"/>
            <a:ext cx="219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90% per phase</a:t>
            </a:r>
            <a:endParaRPr lang="en-US" sz="1496" dirty="0"/>
          </a:p>
        </p:txBody>
      </p:sp>
      <p:sp>
        <p:nvSpPr>
          <p:cNvPr id="52" name="Text 46"/>
          <p:cNvSpPr txBox="1"/>
          <p:nvPr/>
        </p:nvSpPr>
        <p:spPr>
          <a:xfrm>
            <a:off x="7875099" y="4064000"/>
            <a:ext cx="3805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Adoption tracking</a:t>
            </a:r>
            <a:endParaRPr lang="en-US" sz="1496" dirty="0"/>
          </a:p>
        </p:txBody>
      </p:sp>
      <p:sp>
        <p:nvSpPr>
          <p:cNvPr id="53" name="Text 47"/>
          <p:cNvSpPr txBox="1"/>
          <p:nvPr/>
        </p:nvSpPr>
        <p:spPr>
          <a:xfrm>
            <a:off x="481394" y="4445000"/>
            <a:ext cx="1686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Business</a:t>
            </a:r>
            <a:endParaRPr lang="en-US" sz="1496" dirty="0"/>
          </a:p>
        </p:txBody>
      </p:sp>
      <p:sp>
        <p:nvSpPr>
          <p:cNvPr id="54" name="Text 48"/>
          <p:cNvSpPr txBox="1"/>
          <p:nvPr/>
        </p:nvSpPr>
        <p:spPr>
          <a:xfrm>
            <a:off x="2320170" y="4445000"/>
            <a:ext cx="305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Iteration cycle speed</a:t>
            </a:r>
            <a:endParaRPr lang="en-US" sz="1496" dirty="0"/>
          </a:p>
        </p:txBody>
      </p:sp>
      <p:sp>
        <p:nvSpPr>
          <p:cNvPr id="55" name="Text 49"/>
          <p:cNvSpPr txBox="1"/>
          <p:nvPr/>
        </p:nvSpPr>
        <p:spPr>
          <a:xfrm>
            <a:off x="5526029" y="4445000"/>
            <a:ext cx="219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+30% faster</a:t>
            </a:r>
            <a:endParaRPr lang="en-US" sz="1496" dirty="0"/>
          </a:p>
        </p:txBody>
      </p:sp>
      <p:sp>
        <p:nvSpPr>
          <p:cNvPr id="56" name="Text 50"/>
          <p:cNvSpPr txBox="1"/>
          <p:nvPr/>
        </p:nvSpPr>
        <p:spPr>
          <a:xfrm>
            <a:off x="7875099" y="4445000"/>
            <a:ext cx="3805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 team survey</a:t>
            </a:r>
            <a:endParaRPr lang="en-US" sz="1496" dirty="0"/>
          </a:p>
        </p:txBody>
      </p:sp>
      <p:sp>
        <p:nvSpPr>
          <p:cNvPr id="57" name="Text 51"/>
          <p:cNvSpPr txBox="1"/>
          <p:nvPr/>
        </p:nvSpPr>
        <p:spPr>
          <a:xfrm>
            <a:off x="481394" y="4826000"/>
            <a:ext cx="1686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Business</a:t>
            </a:r>
            <a:endParaRPr lang="en-US" sz="1496" dirty="0"/>
          </a:p>
        </p:txBody>
      </p:sp>
      <p:sp>
        <p:nvSpPr>
          <p:cNvPr id="58" name="Text 52"/>
          <p:cNvSpPr txBox="1"/>
          <p:nvPr/>
        </p:nvSpPr>
        <p:spPr>
          <a:xfrm>
            <a:off x="2320170" y="4826000"/>
            <a:ext cx="305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Infrastructure cost</a:t>
            </a:r>
            <a:endParaRPr lang="en-US" sz="1496" dirty="0"/>
          </a:p>
        </p:txBody>
      </p:sp>
      <p:sp>
        <p:nvSpPr>
          <p:cNvPr id="59" name="Text 53"/>
          <p:cNvSpPr txBox="1"/>
          <p:nvPr/>
        </p:nvSpPr>
        <p:spPr>
          <a:xfrm>
            <a:off x="5526029" y="4826000"/>
            <a:ext cx="219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–40%</a:t>
            </a:r>
            <a:endParaRPr lang="en-US" sz="1496" dirty="0"/>
          </a:p>
        </p:txBody>
      </p:sp>
      <p:sp>
        <p:nvSpPr>
          <p:cNvPr id="60" name="Text 54"/>
          <p:cNvSpPr txBox="1"/>
          <p:nvPr/>
        </p:nvSpPr>
        <p:spPr>
          <a:xfrm>
            <a:off x="7875099" y="4826000"/>
            <a:ext cx="3805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AWS Cost Explorer</a:t>
            </a:r>
            <a:endParaRPr lang="en-US" sz="1496" dirty="0"/>
          </a:p>
        </p:txBody>
      </p:sp>
      <p:sp>
        <p:nvSpPr>
          <p:cNvPr id="61" name="Text 55"/>
          <p:cNvSpPr txBox="1"/>
          <p:nvPr/>
        </p:nvSpPr>
        <p:spPr>
          <a:xfrm>
            <a:off x="405384" y="6426200"/>
            <a:ext cx="492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Creative Tooling Lead Engineer — Case Assignment</a:t>
            </a:r>
            <a:endParaRPr lang="en-US" sz="1496" dirty="0"/>
          </a:p>
        </p:txBody>
      </p:sp>
      <p:sp>
        <p:nvSpPr>
          <p:cNvPr id="62" name="Text 56"/>
          <p:cNvSpPr txBox="1"/>
          <p:nvPr/>
        </p:nvSpPr>
        <p:spPr>
          <a:xfrm>
            <a:off x="8519398" y="6426200"/>
            <a:ext cx="3236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 2: Tool Consolidation Strategy</a:t>
            </a:r>
            <a:endParaRPr lang="en-US" sz="1496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73317" y="847725"/>
            <a:ext cx="441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Lead Engineer — Creative Tooling</a:t>
            </a:r>
            <a:endParaRPr lang="en-US" sz="1496" dirty="0"/>
          </a:p>
        </p:txBody>
      </p:sp>
      <p:sp>
        <p:nvSpPr>
          <p:cNvPr id="3" name="Text 1"/>
          <p:cNvSpPr txBox="1"/>
          <p:nvPr/>
        </p:nvSpPr>
        <p:spPr>
          <a:xfrm>
            <a:off x="3673793" y="1279525"/>
            <a:ext cx="481393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91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with engineers.</a:t>
            </a:r>
            <a:endParaRPr lang="en-US" sz="3591" dirty="0"/>
          </a:p>
        </p:txBody>
      </p:sp>
      <p:sp>
        <p:nvSpPr>
          <p:cNvPr id="4" name="Text 2"/>
          <p:cNvSpPr txBox="1"/>
          <p:nvPr/>
        </p:nvSpPr>
        <p:spPr>
          <a:xfrm>
            <a:off x="3493270" y="2054225"/>
            <a:ext cx="51749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91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 with designers.</a:t>
            </a:r>
            <a:endParaRPr lang="en-US" sz="3591" dirty="0"/>
          </a:p>
        </p:txBody>
      </p:sp>
      <p:sp>
        <p:nvSpPr>
          <p:cNvPr id="5" name="Text 3"/>
          <p:cNvSpPr txBox="1"/>
          <p:nvPr/>
        </p:nvSpPr>
        <p:spPr>
          <a:xfrm>
            <a:off x="3379256" y="2828925"/>
            <a:ext cx="540300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91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Deliver for the business.</a:t>
            </a:r>
            <a:endParaRPr lang="en-US" sz="3591" dirty="0"/>
          </a:p>
        </p:txBody>
      </p:sp>
      <p:sp>
        <p:nvSpPr>
          <p:cNvPr id="6" name="Shape 4"/>
          <p:cNvSpPr/>
          <p:nvPr/>
        </p:nvSpPr>
        <p:spPr>
          <a:xfrm>
            <a:off x="5130641" y="3654425"/>
            <a:ext cx="1900238" cy="1905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2720507" y="3978275"/>
            <a:ext cx="2254949" cy="863600"/>
          </a:xfrm>
          <a:prstGeom prst="roundRect">
            <a:avLst>
              <a:gd name="adj" fmla="val 3569"/>
            </a:avLst>
          </a:prstGeom>
          <a:solidFill>
            <a:srgbClr val="33415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21298" y="4130675"/>
            <a:ext cx="253365" cy="2540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872526" y="4460875"/>
            <a:ext cx="19509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Technical Excellence</a:t>
            </a:r>
            <a:endParaRPr lang="en-US" sz="1496" dirty="0"/>
          </a:p>
        </p:txBody>
      </p:sp>
      <p:sp>
        <p:nvSpPr>
          <p:cNvPr id="10" name="Shape 7"/>
          <p:cNvSpPr/>
          <p:nvPr/>
        </p:nvSpPr>
        <p:spPr>
          <a:xfrm>
            <a:off x="5178147" y="3978275"/>
            <a:ext cx="2090261" cy="863600"/>
          </a:xfrm>
          <a:prstGeom prst="roundRect">
            <a:avLst>
              <a:gd name="adj" fmla="val 3850"/>
            </a:avLst>
          </a:prstGeom>
          <a:solidFill>
            <a:srgbClr val="33415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96595" y="4130675"/>
            <a:ext cx="253365" cy="2540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30166" y="4460875"/>
            <a:ext cx="17862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Designer Empathy</a:t>
            </a:r>
            <a:endParaRPr lang="en-US" sz="1496" dirty="0"/>
          </a:p>
        </p:txBody>
      </p:sp>
      <p:sp>
        <p:nvSpPr>
          <p:cNvPr id="13" name="Shape 9"/>
          <p:cNvSpPr/>
          <p:nvPr/>
        </p:nvSpPr>
        <p:spPr>
          <a:xfrm>
            <a:off x="7471100" y="3978275"/>
            <a:ext cx="1969913" cy="863600"/>
          </a:xfrm>
          <a:prstGeom prst="roundRect">
            <a:avLst>
              <a:gd name="adj" fmla="val 4085"/>
            </a:avLst>
          </a:prstGeom>
          <a:solidFill>
            <a:srgbClr val="33415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29374" y="4130675"/>
            <a:ext cx="253365" cy="2540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623119" y="4460875"/>
            <a:ext cx="166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1F5F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Strategic Delivery</a:t>
            </a:r>
            <a:endParaRPr lang="en-US" sz="1496" dirty="0"/>
          </a:p>
        </p:txBody>
      </p:sp>
      <p:sp>
        <p:nvSpPr>
          <p:cNvPr id="16" name="Text 11"/>
          <p:cNvSpPr txBox="1"/>
          <p:nvPr/>
        </p:nvSpPr>
        <p:spPr>
          <a:xfrm>
            <a:off x="3873317" y="5197475"/>
            <a:ext cx="441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22D3E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Questions &amp; Discussion</a:t>
            </a:r>
            <a:endParaRPr lang="en-US" sz="2993" dirty="0"/>
          </a:p>
        </p:txBody>
      </p:sp>
      <p:sp>
        <p:nvSpPr>
          <p:cNvPr id="17" name="Text 12"/>
          <p:cNvSpPr txBox="1"/>
          <p:nvPr/>
        </p:nvSpPr>
        <p:spPr>
          <a:xfrm>
            <a:off x="4946952" y="5781675"/>
            <a:ext cx="22676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94A3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Thank you for your time</a:t>
            </a:r>
            <a:endParaRPr lang="en-US" sz="14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2026-04-03T12:06:07Z</dcterms:created>
  <dcterms:modified xsi:type="dcterms:W3CDTF">2026-04-03T12:06:07Z</dcterms:modified>
</cp:coreProperties>
</file>